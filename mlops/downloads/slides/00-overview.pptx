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 MLOps and Model Deployment. Quick promise before anything else: over these three days, you are not going to sit and watch slides about deployment — you are going to actually deploy. Each of you will take one machine-learning model and carry it the whole way — train it, track it, wrap it in an API, put it in a container, automate it, push it live to a public URL on the internet, and then watch it for drift. By day three you'll be able to send your friend a link and say 'that's my model, running in production.' That's the goal. Most people finish a degree knowing how to train a model in a notebook; almost nobody knows what happens after. That gap is exactly what this course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it in four numbers. Fifteen hours, three days, five hours a day. Roughly seventy percent of that time your hands are on the keyboard, not folded while I talk. There is one project — you build it once and keep extending it, so nothing feels disconnected. And the headline: by the end of day three you will have a live, public URL serving your model. Two asks from you: bring a laptop each day, and before day one create free GitHub and Hugging Face accounts and install Docker and Python — there's a setup checklist in your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things you walk away able to do — and they map straight onto our five course objectives. Understand the lifecycle and why models rot in production. Track and reproduce your work so 'it worked last week' never happens to you. Package and serve a model as a real API. Containerize, automate, and deploy it. And finally monitor it for drift and govern it responsibly. Notice the progression — each one is a stage of the same pipeline. We're not learning ten disconnected tools; we're following one model through its whole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toolbox, and I chose every tool for two reasons: it's what industry actually uses, and it's completely free. MLflow for tracking and a model registry, running locally so you don't need a server. FastAPI to serve the model — it's fast and it validates inputs for you and gives you interactive docs for free. Docker to package everything so it runs the same on any machine. GitHub Actions to automate testing and building — free for public repositories. A free host — Hugging Face Spaces or Render — for the actual deployment, so nobody needs a credit card. And a little scipy for drift detection at the end. Learn these six and you can walk into an MLOps interview with real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overview — the through-line. Everything you build connects. On days one and two you build: train and track a model, register a version, serialize it, serve it with FastAPI, and containerize it. On day three you ship and watch: automate with GitHub Actions, deploy to a free public host, call your live URL, then add drift monitoring and a retraining trigger. And we finish with a demo and a mock technical interview where you explain your own pipeline. Keep this picture in your head — whenever we start a new session, I'll point to where we are on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day-by-day map. Day one is foundations and experiment tracking — we set the mental model, cover data and features, then spend a big block in a live MLflow lab. Day two is packaging and serving — serialization, then two labs back to back: FastAPI and Docker. Day three is ship and monitor — a CI/CD lab, deploying to a free host, then drift monitoring, and we close with the capstone demo and your mock interview. Notice how lab-heavy days two and three are — that's deliberate. The lectures are short; the building is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mirrors how you'd actually be judged in a job. Thirty percent is a short quiz on the concepts. Forty percent — the biggest chunk — is a live demonstration of your deployed model: you show it working from its public URL, walk through the pipeline, and prove it's real. And thirty percent is a mock technical interview, where I sit across from you and ask the kinds of MLOps questions a hiring manager would. I'm telling you this now, on day one, because everything we build IS your portfolio for that interview. There's no separate exam to cram for — do the labs well and you're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ground rules, because how you show up decides how much you take home. One — laptops open the whole time; I'll live-code, you code along, then you push further yourself. Two — pair up, especially in labs. Two heads fix bugs faster, and explaining to your partner is how you really learn. Three — every lab ends with a 'break it' challenge, where you deliberately break the thing you just built. That's not for fun only; in production, knowing how something fails is more valuable than knowing how it works. And four — we'll keep a light class leaderboard through the labs and finish on a demo day. Come ready to show what you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close the intro — here's what you leave with. The ability to take a model from a notebook all the way to a live, public API. The habits to track, version, and reproduce your work like a professional. The skills to containerize and automate with Docker and GitHub Actions. And the judgement to monitor a deployed model for drift — and to explain every decision in an interview. That last part matters: plenty of people can follow a tutorial; few can defend their choices. By day three, you'll be able to. Let's start — Day one, Introduction to MLOps.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1-CREDIT · 15 HOURS · 3 DAYS × 5 HRS</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MLOps &amp; Model Deployment</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Take one model all the way to a live, monitored deployment. A hands-on course for UG students — CSE, AI &amp; DS, IT.</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Vel Tech Rangarajan Dr. Sagunthala R&amp;D Institute · Instructor: Dr. Venkateshwaran Loganathan, ConverSight.ai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AT A GLANCE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The course in numbers</a:t>
            </a:r>
            <a:endParaRPr lang="en-US" sz="3200" dirty="0"/>
          </a:p>
        </p:txBody>
      </p:sp>
      <p:sp>
        <p:nvSpPr>
          <p:cNvPr id="4" name="Shape 2"/>
          <p:cNvSpPr/>
          <p:nvPr/>
        </p:nvSpPr>
        <p:spPr>
          <a:xfrm>
            <a:off x="548640" y="2011680"/>
            <a:ext cx="2560320" cy="2834640"/>
          </a:xfrm>
          <a:prstGeom prst="roundRect">
            <a:avLst>
              <a:gd name="adj" fmla="val 4286"/>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Text 3"/>
          <p:cNvSpPr/>
          <p:nvPr/>
        </p:nvSpPr>
        <p:spPr>
          <a:xfrm>
            <a:off x="685800" y="2468880"/>
            <a:ext cx="2286000" cy="1188720"/>
          </a:xfrm>
          <a:prstGeom prst="rect">
            <a:avLst/>
          </a:prstGeom>
          <a:noFill/>
          <a:ln/>
        </p:spPr>
        <p:txBody>
          <a:bodyPr wrap="square" lIns="0" tIns="0" rIns="0" bIns="0" rtlCol="0" anchor="ctr"/>
          <a:lstStyle/>
          <a:p>
            <a:pPr algn="ctr" indent="0" marL="0">
              <a:buNone/>
            </a:pPr>
            <a:r>
              <a:rPr lang="en-US" sz="4800" b="1" dirty="0">
                <a:solidFill>
                  <a:srgbClr val="EE5A3A"/>
                </a:solidFill>
                <a:latin typeface="Calibri" pitchFamily="34" charset="0"/>
                <a:ea typeface="Calibri" pitchFamily="34" charset="-122"/>
                <a:cs typeface="Calibri" pitchFamily="34" charset="-120"/>
              </a:rPr>
              <a:t>15h</a:t>
            </a:r>
            <a:endParaRPr lang="en-US" sz="4800" dirty="0"/>
          </a:p>
        </p:txBody>
      </p:sp>
      <p:sp>
        <p:nvSpPr>
          <p:cNvPr id="6" name="Text 4"/>
          <p:cNvSpPr/>
          <p:nvPr/>
        </p:nvSpPr>
        <p:spPr>
          <a:xfrm>
            <a:off x="777240" y="379476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574047"/>
                </a:solidFill>
                <a:latin typeface="Calibri" pitchFamily="34" charset="0"/>
                <a:ea typeface="Calibri" pitchFamily="34" charset="-122"/>
                <a:cs typeface="Calibri" pitchFamily="34" charset="-120"/>
              </a:rPr>
              <a:t>over three 5-hour days</a:t>
            </a:r>
            <a:endParaRPr lang="en-US" sz="1350" dirty="0"/>
          </a:p>
        </p:txBody>
      </p:sp>
      <p:sp>
        <p:nvSpPr>
          <p:cNvPr id="7" name="Shape 5"/>
          <p:cNvSpPr/>
          <p:nvPr/>
        </p:nvSpPr>
        <p:spPr>
          <a:xfrm>
            <a:off x="3383280" y="2011680"/>
            <a:ext cx="2560320" cy="2834640"/>
          </a:xfrm>
          <a:prstGeom prst="roundRect">
            <a:avLst>
              <a:gd name="adj" fmla="val 4286"/>
            </a:avLst>
          </a:prstGeom>
          <a:solidFill>
            <a:srgbClr val="2A1A20"/>
          </a:solidFill>
          <a:ln/>
          <a:effectLst>
            <a:outerShdw sx="100000" sy="100000" kx="0" ky="0" algn="bl" rotWithShape="0" blurRad="101600" dist="38100" dir="5400000">
              <a:srgbClr val="2A1A20">
                <a:alpha val="12000"/>
              </a:srgbClr>
            </a:outerShdw>
          </a:effectLst>
        </p:spPr>
      </p:sp>
      <p:sp>
        <p:nvSpPr>
          <p:cNvPr id="8" name="Text 6"/>
          <p:cNvSpPr/>
          <p:nvPr/>
        </p:nvSpPr>
        <p:spPr>
          <a:xfrm>
            <a:off x="3520440" y="2468880"/>
            <a:ext cx="228600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~70%</a:t>
            </a:r>
            <a:endParaRPr lang="en-US" sz="4800" dirty="0"/>
          </a:p>
        </p:txBody>
      </p:sp>
      <p:sp>
        <p:nvSpPr>
          <p:cNvPr id="9" name="Text 7"/>
          <p:cNvSpPr/>
          <p:nvPr/>
        </p:nvSpPr>
        <p:spPr>
          <a:xfrm>
            <a:off x="3611880" y="379476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EAD9CE"/>
                </a:solidFill>
                <a:latin typeface="Calibri" pitchFamily="34" charset="0"/>
                <a:ea typeface="Calibri" pitchFamily="34" charset="-122"/>
                <a:cs typeface="Calibri" pitchFamily="34" charset="-120"/>
              </a:rPr>
              <a:t>hands-on, at the keyboard</a:t>
            </a:r>
            <a:endParaRPr lang="en-US" sz="1350" dirty="0"/>
          </a:p>
        </p:txBody>
      </p:sp>
      <p:sp>
        <p:nvSpPr>
          <p:cNvPr id="10" name="Shape 8"/>
          <p:cNvSpPr/>
          <p:nvPr/>
        </p:nvSpPr>
        <p:spPr>
          <a:xfrm>
            <a:off x="6217920" y="2011680"/>
            <a:ext cx="2560320" cy="2834640"/>
          </a:xfrm>
          <a:prstGeom prst="roundRect">
            <a:avLst>
              <a:gd name="adj" fmla="val 4286"/>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1" name="Text 9"/>
          <p:cNvSpPr/>
          <p:nvPr/>
        </p:nvSpPr>
        <p:spPr>
          <a:xfrm>
            <a:off x="6355080" y="2468880"/>
            <a:ext cx="2286000" cy="1188720"/>
          </a:xfrm>
          <a:prstGeom prst="rect">
            <a:avLst/>
          </a:prstGeom>
          <a:noFill/>
          <a:ln/>
        </p:spPr>
        <p:txBody>
          <a:bodyPr wrap="square" lIns="0" tIns="0" rIns="0" bIns="0" rtlCol="0" anchor="ctr"/>
          <a:lstStyle/>
          <a:p>
            <a:pPr algn="ctr" indent="0" marL="0">
              <a:buNone/>
            </a:pPr>
            <a:r>
              <a:rPr lang="en-US" sz="3200" b="1" dirty="0">
                <a:solidFill>
                  <a:srgbClr val="EE5A3A"/>
                </a:solidFill>
                <a:latin typeface="Calibri" pitchFamily="34" charset="0"/>
                <a:ea typeface="Calibri" pitchFamily="34" charset="-122"/>
                <a:cs typeface="Calibri" pitchFamily="34" charset="-120"/>
              </a:rPr>
              <a:t>1 project</a:t>
            </a:r>
            <a:endParaRPr lang="en-US" sz="3200" dirty="0"/>
          </a:p>
        </p:txBody>
      </p:sp>
      <p:sp>
        <p:nvSpPr>
          <p:cNvPr id="12" name="Text 10"/>
          <p:cNvSpPr/>
          <p:nvPr/>
        </p:nvSpPr>
        <p:spPr>
          <a:xfrm>
            <a:off x="6446520" y="379476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574047"/>
                </a:solidFill>
                <a:latin typeface="Calibri" pitchFamily="34" charset="0"/>
                <a:ea typeface="Calibri" pitchFamily="34" charset="-122"/>
                <a:cs typeface="Calibri" pitchFamily="34" charset="-120"/>
              </a:rPr>
              <a:t>carried end-to-end across 3 days</a:t>
            </a:r>
            <a:endParaRPr lang="en-US" sz="1350" dirty="0"/>
          </a:p>
        </p:txBody>
      </p:sp>
      <p:sp>
        <p:nvSpPr>
          <p:cNvPr id="13" name="Shape 11"/>
          <p:cNvSpPr/>
          <p:nvPr/>
        </p:nvSpPr>
        <p:spPr>
          <a:xfrm>
            <a:off x="9052560" y="2011680"/>
            <a:ext cx="2560320" cy="2834640"/>
          </a:xfrm>
          <a:prstGeom prst="roundRect">
            <a:avLst>
              <a:gd name="adj" fmla="val 4286"/>
            </a:avLst>
          </a:prstGeom>
          <a:solidFill>
            <a:srgbClr val="2A1A20"/>
          </a:solidFill>
          <a:ln/>
          <a:effectLst>
            <a:outerShdw sx="100000" sy="100000" kx="0" ky="0" algn="bl" rotWithShape="0" blurRad="101600" dist="38100" dir="5400000">
              <a:srgbClr val="2A1A20">
                <a:alpha val="12000"/>
              </a:srgbClr>
            </a:outerShdw>
          </a:effectLst>
        </p:spPr>
      </p:sp>
      <p:sp>
        <p:nvSpPr>
          <p:cNvPr id="14" name="Text 12"/>
          <p:cNvSpPr/>
          <p:nvPr/>
        </p:nvSpPr>
        <p:spPr>
          <a:xfrm>
            <a:off x="9189720" y="2468880"/>
            <a:ext cx="2286000" cy="1188720"/>
          </a:xfrm>
          <a:prstGeom prst="rect">
            <a:avLst/>
          </a:prstGeom>
          <a:noFill/>
          <a:ln/>
        </p:spPr>
        <p:txBody>
          <a:bodyPr wrap="square" lIns="0" tIns="0" rIns="0" bIns="0"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Live URL</a:t>
            </a:r>
            <a:endParaRPr lang="en-US" sz="3200" dirty="0"/>
          </a:p>
        </p:txBody>
      </p:sp>
      <p:sp>
        <p:nvSpPr>
          <p:cNvPr id="15" name="Text 13"/>
          <p:cNvSpPr/>
          <p:nvPr/>
        </p:nvSpPr>
        <p:spPr>
          <a:xfrm>
            <a:off x="9281160" y="3794760"/>
            <a:ext cx="2103120" cy="914400"/>
          </a:xfrm>
          <a:prstGeom prst="rect">
            <a:avLst/>
          </a:prstGeom>
          <a:noFill/>
          <a:ln/>
        </p:spPr>
        <p:txBody>
          <a:bodyPr wrap="square" lIns="0" tIns="0" rIns="0" bIns="0" rtlCol="0" anchor="t"/>
          <a:lstStyle/>
          <a:p>
            <a:pPr algn="ctr" indent="0" marL="0">
              <a:lnSpc>
                <a:spcPts val="1700"/>
              </a:lnSpc>
              <a:buNone/>
            </a:pPr>
            <a:r>
              <a:rPr lang="en-US" sz="1350" dirty="0">
                <a:solidFill>
                  <a:srgbClr val="EAD9CE"/>
                </a:solidFill>
                <a:latin typeface="Calibri" pitchFamily="34" charset="0"/>
                <a:ea typeface="Calibri" pitchFamily="34" charset="-122"/>
                <a:cs typeface="Calibri" pitchFamily="34" charset="-120"/>
              </a:rPr>
              <a:t>your model, public, by day 3</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OUTCOMES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What you'll be able to do</a:t>
            </a:r>
            <a:endParaRPr lang="en-US" sz="3200" dirty="0"/>
          </a:p>
        </p:txBody>
      </p:sp>
      <p:sp>
        <p:nvSpPr>
          <p:cNvPr id="4" name="Shape 2"/>
          <p:cNvSpPr/>
          <p:nvPr/>
        </p:nvSpPr>
        <p:spPr>
          <a:xfrm>
            <a:off x="548640" y="1737360"/>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Understand the ML lifecycle</a:t>
            </a:r>
            <a:endParaRPr lang="en-US" sz="1550" dirty="0"/>
          </a:p>
        </p:txBody>
      </p:sp>
      <p:sp>
        <p:nvSpPr>
          <p:cNvPr id="8" name="Text 6"/>
          <p:cNvSpPr/>
          <p:nvPr/>
        </p:nvSpPr>
        <p:spPr>
          <a:xfrm>
            <a:off x="84124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Know why models fail after training, and what MLOps maturity looks like.</a:t>
            </a:r>
            <a:endParaRPr lang="en-US" sz="1250" dirty="0"/>
          </a:p>
        </p:txBody>
      </p:sp>
      <p:sp>
        <p:nvSpPr>
          <p:cNvPr id="9" name="Shape 7"/>
          <p:cNvSpPr/>
          <p:nvPr/>
        </p:nvSpPr>
        <p:spPr>
          <a:xfrm>
            <a:off x="6217920" y="1737360"/>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Track &amp;amp; reproduce</a:t>
            </a:r>
            <a:endParaRPr lang="en-US" sz="1550" dirty="0"/>
          </a:p>
        </p:txBody>
      </p:sp>
      <p:sp>
        <p:nvSpPr>
          <p:cNvPr id="13" name="Text 11"/>
          <p:cNvSpPr/>
          <p:nvPr/>
        </p:nvSpPr>
        <p:spPr>
          <a:xfrm>
            <a:off x="651052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Version data and models, track experiments, and make ML work reproducible.</a:t>
            </a:r>
            <a:endParaRPr lang="en-US" sz="1250" dirty="0"/>
          </a:p>
        </p:txBody>
      </p:sp>
      <p:sp>
        <p:nvSpPr>
          <p:cNvPr id="14" name="Shape 12"/>
          <p:cNvSpPr/>
          <p:nvPr/>
        </p:nvSpPr>
        <p:spPr>
          <a:xfrm>
            <a:off x="548640" y="3346704"/>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3602736"/>
            <a:ext cx="365760" cy="365760"/>
          </a:xfrm>
          <a:prstGeom prst="ellipse">
            <a:avLst/>
          </a:prstGeom>
          <a:solidFill>
            <a:srgbClr val="FDECE4"/>
          </a:solidFill>
          <a:ln/>
        </p:spPr>
      </p:sp>
      <p:sp>
        <p:nvSpPr>
          <p:cNvPr id="16" name="Text 14"/>
          <p:cNvSpPr/>
          <p:nvPr/>
        </p:nvSpPr>
        <p:spPr>
          <a:xfrm>
            <a:off x="822960" y="3602736"/>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584448"/>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Package &amp;amp; serve</a:t>
            </a:r>
            <a:endParaRPr lang="en-US" sz="1550" dirty="0"/>
          </a:p>
        </p:txBody>
      </p:sp>
      <p:sp>
        <p:nvSpPr>
          <p:cNvPr id="18" name="Text 16"/>
          <p:cNvSpPr/>
          <p:nvPr/>
        </p:nvSpPr>
        <p:spPr>
          <a:xfrm>
            <a:off x="84124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Turn a trained model into a production-grade REST API.</a:t>
            </a:r>
            <a:endParaRPr lang="en-US" sz="1250" dirty="0"/>
          </a:p>
        </p:txBody>
      </p:sp>
      <p:sp>
        <p:nvSpPr>
          <p:cNvPr id="19" name="Shape 17"/>
          <p:cNvSpPr/>
          <p:nvPr/>
        </p:nvSpPr>
        <p:spPr>
          <a:xfrm>
            <a:off x="6217920" y="3346704"/>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3602736"/>
            <a:ext cx="365760" cy="365760"/>
          </a:xfrm>
          <a:prstGeom prst="ellipse">
            <a:avLst/>
          </a:prstGeom>
          <a:solidFill>
            <a:srgbClr val="DCF7F3"/>
          </a:solidFill>
          <a:ln/>
        </p:spPr>
      </p:sp>
      <p:sp>
        <p:nvSpPr>
          <p:cNvPr id="21" name="Text 19"/>
          <p:cNvSpPr/>
          <p:nvPr/>
        </p:nvSpPr>
        <p:spPr>
          <a:xfrm>
            <a:off x="6492240" y="3602736"/>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95160" y="3584448"/>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Containerize &amp;amp; deploy</a:t>
            </a:r>
            <a:endParaRPr lang="en-US" sz="1550" dirty="0"/>
          </a:p>
        </p:txBody>
      </p:sp>
      <p:sp>
        <p:nvSpPr>
          <p:cNvPr id="23" name="Text 21"/>
          <p:cNvSpPr/>
          <p:nvPr/>
        </p:nvSpPr>
        <p:spPr>
          <a:xfrm>
            <a:off x="651052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Use Docker, CI/CD and a free cloud host to ship the model.</a:t>
            </a:r>
            <a:endParaRPr lang="en-US" sz="1250" dirty="0"/>
          </a:p>
        </p:txBody>
      </p:sp>
      <p:sp>
        <p:nvSpPr>
          <p:cNvPr id="24" name="Shape 22"/>
          <p:cNvSpPr/>
          <p:nvPr/>
        </p:nvSpPr>
        <p:spPr>
          <a:xfrm>
            <a:off x="548640" y="4956048"/>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5" name="Shape 23"/>
          <p:cNvSpPr/>
          <p:nvPr/>
        </p:nvSpPr>
        <p:spPr>
          <a:xfrm>
            <a:off x="822960" y="5212080"/>
            <a:ext cx="365760" cy="365760"/>
          </a:xfrm>
          <a:prstGeom prst="ellipse">
            <a:avLst/>
          </a:prstGeom>
          <a:solidFill>
            <a:srgbClr val="FDECE4"/>
          </a:solidFill>
          <a:ln/>
        </p:spPr>
      </p:sp>
      <p:sp>
        <p:nvSpPr>
          <p:cNvPr id="26" name="Text 24"/>
          <p:cNvSpPr/>
          <p:nvPr/>
        </p:nvSpPr>
        <p:spPr>
          <a:xfrm>
            <a:off x="822960" y="5212080"/>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325880" y="5193792"/>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Monitor &amp;amp; govern</a:t>
            </a:r>
            <a:endParaRPr lang="en-US" sz="1550" dirty="0"/>
          </a:p>
        </p:txBody>
      </p:sp>
      <p:sp>
        <p:nvSpPr>
          <p:cNvPr id="28" name="Text 26"/>
          <p:cNvSpPr/>
          <p:nvPr/>
        </p:nvSpPr>
        <p:spPr>
          <a:xfrm>
            <a:off x="841248" y="5705856"/>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Detect drift, set retraining triggers, and apply governance.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TOOLCHAIN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All free, all industry-standard</a:t>
            </a:r>
            <a:endParaRPr lang="en-US" sz="3200" dirty="0"/>
          </a:p>
        </p:txBody>
      </p:sp>
      <p:sp>
        <p:nvSpPr>
          <p:cNvPr id="4" name="Shape 2"/>
          <p:cNvSpPr/>
          <p:nvPr/>
        </p:nvSpPr>
        <p:spPr>
          <a:xfrm>
            <a:off x="548640" y="1737360"/>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M</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MLflow</a:t>
            </a:r>
            <a:endParaRPr lang="en-US" sz="1550" dirty="0"/>
          </a:p>
        </p:txBody>
      </p:sp>
      <p:sp>
        <p:nvSpPr>
          <p:cNvPr id="8" name="Text 6"/>
          <p:cNvSpPr/>
          <p:nvPr/>
        </p:nvSpPr>
        <p:spPr>
          <a:xfrm>
            <a:off x="84124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Experiment tracking and a model registry — running locally on your laptop.</a:t>
            </a:r>
            <a:endParaRPr lang="en-US" sz="1250" dirty="0"/>
          </a:p>
        </p:txBody>
      </p:sp>
      <p:sp>
        <p:nvSpPr>
          <p:cNvPr id="9" name="Shape 7"/>
          <p:cNvSpPr/>
          <p:nvPr/>
        </p:nvSpPr>
        <p:spPr>
          <a:xfrm>
            <a:off x="6217920" y="1737360"/>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F</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FastAPI</a:t>
            </a:r>
            <a:endParaRPr lang="en-US" sz="1550" dirty="0"/>
          </a:p>
        </p:txBody>
      </p:sp>
      <p:sp>
        <p:nvSpPr>
          <p:cNvPr id="13" name="Text 11"/>
          <p:cNvSpPr/>
          <p:nvPr/>
        </p:nvSpPr>
        <p:spPr>
          <a:xfrm>
            <a:off x="6510528" y="2487168"/>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Wrap the model in a fast, validated REST API with automatic docs.</a:t>
            </a:r>
            <a:endParaRPr lang="en-US" sz="1250" dirty="0"/>
          </a:p>
        </p:txBody>
      </p:sp>
      <p:sp>
        <p:nvSpPr>
          <p:cNvPr id="14" name="Shape 12"/>
          <p:cNvSpPr/>
          <p:nvPr/>
        </p:nvSpPr>
        <p:spPr>
          <a:xfrm>
            <a:off x="548640" y="3346704"/>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3602736"/>
            <a:ext cx="365760" cy="365760"/>
          </a:xfrm>
          <a:prstGeom prst="ellipse">
            <a:avLst/>
          </a:prstGeom>
          <a:solidFill>
            <a:srgbClr val="FDECE4"/>
          </a:solidFill>
          <a:ln/>
        </p:spPr>
      </p:sp>
      <p:sp>
        <p:nvSpPr>
          <p:cNvPr id="16" name="Text 14"/>
          <p:cNvSpPr/>
          <p:nvPr/>
        </p:nvSpPr>
        <p:spPr>
          <a:xfrm>
            <a:off x="822960" y="3602736"/>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D</a:t>
            </a:r>
            <a:endParaRPr lang="en-US" sz="1500" dirty="0"/>
          </a:p>
        </p:txBody>
      </p:sp>
      <p:sp>
        <p:nvSpPr>
          <p:cNvPr id="17" name="Text 15"/>
          <p:cNvSpPr/>
          <p:nvPr/>
        </p:nvSpPr>
        <p:spPr>
          <a:xfrm>
            <a:off x="1325880" y="3584448"/>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Docker</a:t>
            </a:r>
            <a:endParaRPr lang="en-US" sz="1550" dirty="0"/>
          </a:p>
        </p:txBody>
      </p:sp>
      <p:sp>
        <p:nvSpPr>
          <p:cNvPr id="18" name="Text 16"/>
          <p:cNvSpPr/>
          <p:nvPr/>
        </p:nvSpPr>
        <p:spPr>
          <a:xfrm>
            <a:off x="84124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Package the API and its environment into a portable container.</a:t>
            </a:r>
            <a:endParaRPr lang="en-US" sz="1250" dirty="0"/>
          </a:p>
        </p:txBody>
      </p:sp>
      <p:sp>
        <p:nvSpPr>
          <p:cNvPr id="19" name="Shape 17"/>
          <p:cNvSpPr/>
          <p:nvPr/>
        </p:nvSpPr>
        <p:spPr>
          <a:xfrm>
            <a:off x="6217920" y="3346704"/>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3602736"/>
            <a:ext cx="365760" cy="365760"/>
          </a:xfrm>
          <a:prstGeom prst="ellipse">
            <a:avLst/>
          </a:prstGeom>
          <a:solidFill>
            <a:srgbClr val="DCF7F3"/>
          </a:solidFill>
          <a:ln/>
        </p:spPr>
      </p:sp>
      <p:sp>
        <p:nvSpPr>
          <p:cNvPr id="21" name="Text 19"/>
          <p:cNvSpPr/>
          <p:nvPr/>
        </p:nvSpPr>
        <p:spPr>
          <a:xfrm>
            <a:off x="6492240" y="3602736"/>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G</a:t>
            </a:r>
            <a:endParaRPr lang="en-US" sz="1500" dirty="0"/>
          </a:p>
        </p:txBody>
      </p:sp>
      <p:sp>
        <p:nvSpPr>
          <p:cNvPr id="22" name="Text 20"/>
          <p:cNvSpPr/>
          <p:nvPr/>
        </p:nvSpPr>
        <p:spPr>
          <a:xfrm>
            <a:off x="6995160" y="3584448"/>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GitHub Actions</a:t>
            </a:r>
            <a:endParaRPr lang="en-US" sz="1550" dirty="0"/>
          </a:p>
        </p:txBody>
      </p:sp>
      <p:sp>
        <p:nvSpPr>
          <p:cNvPr id="23" name="Text 21"/>
          <p:cNvSpPr/>
          <p:nvPr/>
        </p:nvSpPr>
        <p:spPr>
          <a:xfrm>
            <a:off x="6510528" y="4096512"/>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Automate lint, test and build on every push — free for public repos.</a:t>
            </a:r>
            <a:endParaRPr lang="en-US" sz="1250" dirty="0"/>
          </a:p>
        </p:txBody>
      </p:sp>
      <p:sp>
        <p:nvSpPr>
          <p:cNvPr id="24" name="Shape 22"/>
          <p:cNvSpPr/>
          <p:nvPr/>
        </p:nvSpPr>
        <p:spPr>
          <a:xfrm>
            <a:off x="548640" y="4956048"/>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5" name="Shape 23"/>
          <p:cNvSpPr/>
          <p:nvPr/>
        </p:nvSpPr>
        <p:spPr>
          <a:xfrm>
            <a:off x="822960" y="5212080"/>
            <a:ext cx="365760" cy="365760"/>
          </a:xfrm>
          <a:prstGeom prst="ellipse">
            <a:avLst/>
          </a:prstGeom>
          <a:solidFill>
            <a:srgbClr val="FDECE4"/>
          </a:solidFill>
          <a:ln/>
        </p:spPr>
      </p:sp>
      <p:sp>
        <p:nvSpPr>
          <p:cNvPr id="26" name="Text 24"/>
          <p:cNvSpPr/>
          <p:nvPr/>
        </p:nvSpPr>
        <p:spPr>
          <a:xfrm>
            <a:off x="822960" y="5212080"/>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a:t>
            </a:r>
            <a:endParaRPr lang="en-US" sz="1500" dirty="0"/>
          </a:p>
        </p:txBody>
      </p:sp>
      <p:sp>
        <p:nvSpPr>
          <p:cNvPr id="27" name="Text 25"/>
          <p:cNvSpPr/>
          <p:nvPr/>
        </p:nvSpPr>
        <p:spPr>
          <a:xfrm>
            <a:off x="1325880" y="5193792"/>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Free host</a:t>
            </a:r>
            <a:endParaRPr lang="en-US" sz="1550" dirty="0"/>
          </a:p>
        </p:txBody>
      </p:sp>
      <p:sp>
        <p:nvSpPr>
          <p:cNvPr id="28" name="Text 26"/>
          <p:cNvSpPr/>
          <p:nvPr/>
        </p:nvSpPr>
        <p:spPr>
          <a:xfrm>
            <a:off x="841248" y="5705856"/>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Deploy the container to Hugging Face Spaces or Render — no cloud bill.</a:t>
            </a:r>
            <a:endParaRPr lang="en-US" sz="1250" dirty="0"/>
          </a:p>
        </p:txBody>
      </p:sp>
      <p:sp>
        <p:nvSpPr>
          <p:cNvPr id="29" name="Shape 27"/>
          <p:cNvSpPr/>
          <p:nvPr/>
        </p:nvSpPr>
        <p:spPr>
          <a:xfrm>
            <a:off x="6217920" y="4956048"/>
            <a:ext cx="5394960" cy="1353312"/>
          </a:xfrm>
          <a:prstGeom prst="roundRect">
            <a:avLst>
              <a:gd name="adj" fmla="val 675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30" name="Shape 28"/>
          <p:cNvSpPr/>
          <p:nvPr/>
        </p:nvSpPr>
        <p:spPr>
          <a:xfrm>
            <a:off x="6492240" y="5212080"/>
            <a:ext cx="365760" cy="365760"/>
          </a:xfrm>
          <a:prstGeom prst="ellipse">
            <a:avLst/>
          </a:prstGeom>
          <a:solidFill>
            <a:srgbClr val="DCF7F3"/>
          </a:solidFill>
          <a:ln/>
        </p:spPr>
      </p:sp>
      <p:sp>
        <p:nvSpPr>
          <p:cNvPr id="31" name="Text 29"/>
          <p:cNvSpPr/>
          <p:nvPr/>
        </p:nvSpPr>
        <p:spPr>
          <a:xfrm>
            <a:off x="6492240" y="5212080"/>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σ</a:t>
            </a:r>
            <a:endParaRPr lang="en-US" sz="1500" dirty="0"/>
          </a:p>
        </p:txBody>
      </p:sp>
      <p:sp>
        <p:nvSpPr>
          <p:cNvPr id="32" name="Text 30"/>
          <p:cNvSpPr/>
          <p:nvPr/>
        </p:nvSpPr>
        <p:spPr>
          <a:xfrm>
            <a:off x="6995160" y="5193792"/>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scipy</a:t>
            </a:r>
            <a:endParaRPr lang="en-US" sz="1550" dirty="0"/>
          </a:p>
        </p:txBody>
      </p:sp>
      <p:sp>
        <p:nvSpPr>
          <p:cNvPr id="33" name="Text 31"/>
          <p:cNvSpPr/>
          <p:nvPr/>
        </p:nvSpPr>
        <p:spPr>
          <a:xfrm>
            <a:off x="6510528" y="5705856"/>
            <a:ext cx="4828032" cy="438912"/>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Detect drift with simple statistics (PSI, KS test).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THE THROUGH-LINE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One pipeline, start to finish</a:t>
            </a:r>
            <a:endParaRPr lang="en-US" sz="32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EE5A3A"/>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 (Days 1–2)</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Train a model and TRACK it in MLflow</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Register &amp;amp; version it in the registry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Serialize it for portability</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Serve it behind a FastAPI endpoint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Containerize it with Docker</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15B8A6"/>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SHIP &amp;amp; WATCH (Day 3)</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Automate test + build with GitHub Actions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Deploy the container to a free public host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Get a live URL and call it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Detect drift and define a retraining trigger</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Demo it — and defend it in a mock interview</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SCHEDULE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Three days, fifteen hours</a:t>
            </a:r>
            <a:endParaRPr lang="en-US" sz="32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EE5A3A"/>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1 — Foundations &amp;amp; Tracking</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Intro to MLOps — why models fail</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Data &amp;amp; feature management</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LIVE LAB: experiment tracking with MLflow</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15B8A6"/>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DAY 2 — Packaging &amp;amp; Serving  //  DAY 3 — Ship &amp;amp; Monitor</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D2: serialization; FastAPI lab; Docker lab</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D3: CI/CD lab (GitHub Actions)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D3: deploy to free host (lab)</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D3: monitoring &amp;amp; drift; capstone + mock interview</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ASSESSMENT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How you're graded</a:t>
            </a:r>
            <a:endParaRPr lang="en-US" sz="3200" dirty="0"/>
          </a:p>
        </p:txBody>
      </p:sp>
      <p:sp>
        <p:nvSpPr>
          <p:cNvPr id="4" name="Shape 2"/>
          <p:cNvSpPr/>
          <p:nvPr/>
        </p:nvSpPr>
        <p:spPr>
          <a:xfrm>
            <a:off x="548640" y="1737360"/>
            <a:ext cx="11064240" cy="1426464"/>
          </a:xfrm>
          <a:prstGeom prst="roundRect">
            <a:avLst>
              <a:gd name="adj" fmla="val 5769"/>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04672" y="2176272"/>
            <a:ext cx="548640" cy="548640"/>
          </a:xfrm>
          <a:prstGeom prst="ellipse">
            <a:avLst/>
          </a:prstGeom>
          <a:solidFill>
            <a:srgbClr val="EE5A3A"/>
          </a:solidFill>
          <a:ln/>
        </p:spPr>
      </p:sp>
      <p:sp>
        <p:nvSpPr>
          <p:cNvPr id="6" name="Text 4"/>
          <p:cNvSpPr/>
          <p:nvPr/>
        </p:nvSpPr>
        <p:spPr>
          <a:xfrm>
            <a:off x="804672" y="217627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30</a:t>
            </a:r>
            <a:endParaRPr lang="en-US" sz="1600" dirty="0"/>
          </a:p>
        </p:txBody>
      </p:sp>
      <p:sp>
        <p:nvSpPr>
          <p:cNvPr id="7" name="Text 5"/>
          <p:cNvSpPr/>
          <p:nvPr/>
        </p:nvSpPr>
        <p:spPr>
          <a:xfrm>
            <a:off x="1645920" y="1737360"/>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Quiz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a short quiz across the concepts, end of the course.</a:t>
            </a:r>
            <a:endParaRPr lang="en-US" sz="1550" dirty="0"/>
          </a:p>
        </p:txBody>
      </p:sp>
      <p:sp>
        <p:nvSpPr>
          <p:cNvPr id="8" name="Shape 6"/>
          <p:cNvSpPr/>
          <p:nvPr/>
        </p:nvSpPr>
        <p:spPr>
          <a:xfrm>
            <a:off x="548640" y="3310128"/>
            <a:ext cx="11064240" cy="1426464"/>
          </a:xfrm>
          <a:prstGeom prst="roundRect">
            <a:avLst>
              <a:gd name="adj" fmla="val 5769"/>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804672" y="3749040"/>
            <a:ext cx="548640" cy="548640"/>
          </a:xfrm>
          <a:prstGeom prst="ellipse">
            <a:avLst/>
          </a:prstGeom>
          <a:solidFill>
            <a:srgbClr val="15B8A6"/>
          </a:solidFill>
          <a:ln/>
        </p:spPr>
      </p:sp>
      <p:sp>
        <p:nvSpPr>
          <p:cNvPr id="10" name="Text 8"/>
          <p:cNvSpPr/>
          <p:nvPr/>
        </p:nvSpPr>
        <p:spPr>
          <a:xfrm>
            <a:off x="804672" y="3749040"/>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40</a:t>
            </a:r>
            <a:endParaRPr lang="en-US" sz="1600" dirty="0"/>
          </a:p>
        </p:txBody>
      </p:sp>
      <p:sp>
        <p:nvSpPr>
          <p:cNvPr id="11" name="Text 9"/>
          <p:cNvSpPr/>
          <p:nvPr/>
        </p:nvSpPr>
        <p:spPr>
          <a:xfrm>
            <a:off x="1645920" y="3310128"/>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Live lab demo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demonstrate your deployed model working from its public URL.</a:t>
            </a:r>
            <a:endParaRPr lang="en-US" sz="1550" dirty="0"/>
          </a:p>
        </p:txBody>
      </p:sp>
      <p:sp>
        <p:nvSpPr>
          <p:cNvPr id="12" name="Shape 10"/>
          <p:cNvSpPr/>
          <p:nvPr/>
        </p:nvSpPr>
        <p:spPr>
          <a:xfrm>
            <a:off x="548640" y="4882896"/>
            <a:ext cx="11064240" cy="1426464"/>
          </a:xfrm>
          <a:prstGeom prst="roundRect">
            <a:avLst>
              <a:gd name="adj" fmla="val 5769"/>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3" name="Shape 11"/>
          <p:cNvSpPr/>
          <p:nvPr/>
        </p:nvSpPr>
        <p:spPr>
          <a:xfrm>
            <a:off x="804672" y="5321808"/>
            <a:ext cx="548640" cy="548640"/>
          </a:xfrm>
          <a:prstGeom prst="ellipse">
            <a:avLst/>
          </a:prstGeom>
          <a:solidFill>
            <a:srgbClr val="EE5A3A"/>
          </a:solidFill>
          <a:ln/>
        </p:spPr>
      </p:sp>
      <p:sp>
        <p:nvSpPr>
          <p:cNvPr id="14" name="Text 12"/>
          <p:cNvSpPr/>
          <p:nvPr/>
        </p:nvSpPr>
        <p:spPr>
          <a:xfrm>
            <a:off x="804672" y="532180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30</a:t>
            </a:r>
            <a:endParaRPr lang="en-US" sz="1600" dirty="0"/>
          </a:p>
        </p:txBody>
      </p:sp>
      <p:sp>
        <p:nvSpPr>
          <p:cNvPr id="15" name="Text 13"/>
          <p:cNvSpPr/>
          <p:nvPr/>
        </p:nvSpPr>
        <p:spPr>
          <a:xfrm>
            <a:off x="1645920" y="4882896"/>
            <a:ext cx="9692640" cy="1426464"/>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Mock technical interview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a real MLOps interview with me, on what you built.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HOW WE WORK</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2A1A20"/>
                </a:solidFill>
                <a:latin typeface="Calibri" pitchFamily="34" charset="0"/>
                <a:ea typeface="Calibri" pitchFamily="34" charset="-122"/>
                <a:cs typeface="Calibri" pitchFamily="34" charset="-120"/>
              </a:rPr>
              <a:t>Ground rules for three hands-on days</a:t>
            </a:r>
            <a:endParaRPr lang="en-US" sz="3200" dirty="0"/>
          </a:p>
        </p:txBody>
      </p:sp>
      <p:sp>
        <p:nvSpPr>
          <p:cNvPr id="4" name="Shape 2"/>
          <p:cNvSpPr/>
          <p:nvPr/>
        </p:nvSpPr>
        <p:spPr>
          <a:xfrm>
            <a:off x="548640" y="1737360"/>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04672" y="1979676"/>
            <a:ext cx="548640" cy="548640"/>
          </a:xfrm>
          <a:prstGeom prst="ellipse">
            <a:avLst/>
          </a:prstGeom>
          <a:solidFill>
            <a:srgbClr val="EE5A3A"/>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Laptops open, we build together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I code, you code with me, then you go further on your own.</a:t>
            </a:r>
            <a:endParaRPr lang="en-US" sz="1550" dirty="0"/>
          </a:p>
        </p:txBody>
      </p:sp>
      <p:sp>
        <p:nvSpPr>
          <p:cNvPr id="8" name="Shape 6"/>
          <p:cNvSpPr/>
          <p:nvPr/>
        </p:nvSpPr>
        <p:spPr>
          <a:xfrm>
            <a:off x="548640" y="2916936"/>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804672" y="3159252"/>
            <a:ext cx="548640" cy="548640"/>
          </a:xfrm>
          <a:prstGeom prst="ellipse">
            <a:avLst/>
          </a:prstGeom>
          <a:solidFill>
            <a:srgbClr val="15B8A6"/>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Pair up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work in pairs, especially in labs; help your neighbour before you call me.</a:t>
            </a:r>
            <a:endParaRPr lang="en-US" sz="1550" dirty="0"/>
          </a:p>
        </p:txBody>
      </p:sp>
      <p:sp>
        <p:nvSpPr>
          <p:cNvPr id="12" name="Shape 10"/>
          <p:cNvSpPr/>
          <p:nvPr/>
        </p:nvSpPr>
        <p:spPr>
          <a:xfrm>
            <a:off x="548640" y="4096512"/>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3" name="Shape 11"/>
          <p:cNvSpPr/>
          <p:nvPr/>
        </p:nvSpPr>
        <p:spPr>
          <a:xfrm>
            <a:off x="804672" y="4338828"/>
            <a:ext cx="548640" cy="548640"/>
          </a:xfrm>
          <a:prstGeom prst="ellipse">
            <a:avLst/>
          </a:prstGeom>
          <a:solidFill>
            <a:srgbClr val="EE5A3A"/>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Break it on purpose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every lab has a 'break it' challenge. Breaking things is how you learn to fix them.</a:t>
            </a:r>
            <a:endParaRPr lang="en-US" sz="1550" dirty="0"/>
          </a:p>
        </p:txBody>
      </p:sp>
      <p:sp>
        <p:nvSpPr>
          <p:cNvPr id="16" name="Shape 14"/>
          <p:cNvSpPr/>
          <p:nvPr/>
        </p:nvSpPr>
        <p:spPr>
          <a:xfrm>
            <a:off x="548640" y="5276088"/>
            <a:ext cx="11064240" cy="1033272"/>
          </a:xfrm>
          <a:prstGeom prst="roundRect">
            <a:avLst>
              <a:gd name="adj" fmla="val 7965"/>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7" name="Shape 15"/>
          <p:cNvSpPr/>
          <p:nvPr/>
        </p:nvSpPr>
        <p:spPr>
          <a:xfrm>
            <a:off x="804672" y="5518404"/>
            <a:ext cx="548640" cy="548640"/>
          </a:xfrm>
          <a:prstGeom prst="ellipse">
            <a:avLst/>
          </a:prstGeom>
          <a:solidFill>
            <a:srgbClr val="15B8A6"/>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2A1A20"/>
                </a:solidFill>
                <a:latin typeface="Calibri" pitchFamily="34" charset="0"/>
                <a:ea typeface="Calibri" pitchFamily="34" charset="-122"/>
                <a:cs typeface="Calibri" pitchFamily="34" charset="-120"/>
              </a:rPr>
              <a:t>Ship &amp;amp; show   </a:t>
            </a:r>
            <a:pPr indent="0" marL="0">
              <a:lnSpc>
                <a:spcPts val="1700"/>
              </a:lnSpc>
              <a:buNone/>
            </a:pPr>
            <a:r>
              <a:rPr lang="en-US" sz="1300" dirty="0">
                <a:solidFill>
                  <a:srgbClr val="574047"/>
                </a:solidFill>
                <a:latin typeface="Calibri" pitchFamily="34" charset="0"/>
                <a:ea typeface="Calibri" pitchFamily="34" charset="-122"/>
                <a:cs typeface="Calibri" pitchFamily="34" charset="-120"/>
              </a:rPr>
              <a:t>— we keep a class leaderboard and end on a demo day. Bring your A-game.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You'll leave able to</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Take a model from notebook to a live, public API</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Track, version and reproduce your ML work</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Containerize and automate with Docker + GitHub Actions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Monitor for drift — and explain it all in an interview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2026-07-17T16:17:45Z</dcterms:created>
  <dcterms:modified xsi:type="dcterms:W3CDTF">2026-07-17T16:17:45Z</dcterms:modified>
</cp:coreProperties>
</file>