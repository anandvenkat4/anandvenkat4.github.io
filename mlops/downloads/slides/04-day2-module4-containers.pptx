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module, big payoff. Open with: 'You just built an API that works. Now I'm going to ask the question that ends careers in demos — does it work anywhere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and let them laugh, because everyone has said it. Then the anatomy: your API runs perfectly, you hand it over, and it dies on the server — a different Python, a missing system library, a different NumPy, a different locale. And you spend two days diffing environments instead of shipping. Then the punchline, and say it slowly because it IS the concept: Docker's answer is to stop shipping the app and ship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 container? Your app plus its whole userspace environment — Python, libraries, the model file, system packages — sealed into one image. And the cleanest way to understand it is against a VM. A virtual machine ships an entire guest operating system and runs on a hypervisor: boots in minutes, gigabytes in size, but very strong isolation. A container ships only your app and its libraries and shares the host's kernel: starts in seconds, megabytes in size. Then be honest about the trade-off, because a sharp student will ask: sharing a kernel means a Linux image needs a Linux kernel — which is exactly why Docker Desktop quietly runs a small Linux VM on your Mac. Open the animated comparison on the site and point at the red block; that duplicated OS is the whole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words, and I want them used precisely because sloppy vocabulary here causes real confusion later. An image is the immutable built artifact — a stack of read-only layers, and it's what you push and pull. A container is a running instance of an image with a thin writable layer on top; delete the container and the image is untouched. A registry is where images live so other people and machines can pull them. And a layer is one Dockerfile instruction — cached and reused until something changes. That last one is the one that matters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Dockerfile is just a recipe read top to bottom. Start from a base image, set a working directory. Then the important line: copy requirements and pip install BEFORE copying your code, so dependencies get their own layer. Then copy the code, EXPOSE for documentation, and CMD to start uvicorn — with host 0.0.0.0 and the port read from the environment. Now the mechanism, which is the whole reason for that ordering: every instruction creates a layer, Docker caches layers, and when something changes it rebuilds that layer and everything after it. So if you copy all your code before installing dependencies, then editing one line of Python throws away the pip layer and reinstalls everything. Go to the layer-cache explorer on the site and show it: bad order plus a one-line code edit is fifty seconds; flip the order and the same edit is two seconds. Let the number do the arguing.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on the site: order the seven instructions. Most will get it structurally right and put the pip install after COPY dot dot — which builds perfectly well and rebuilds slowly. The checker catches exactly that. Then move them to the second exercise, predict-the-failure, in pairs. Four cases, and case three is the one worth debriefing out loud: if you forget to COPY the model file, does it fail at build time, at start-up, or on the first request? Take a vote. The answer depends on where you load the model — which is why we load at startup, so it fails immediately and loudly rather than on a customer's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Ports. Two things people conflate, and separating them cleanly saves a lot of pain. EXPOSE is documentation only: it declares which port the app uses, it helps humans and some tooling, and it publishes absolutely nothing — you could delete it and behaviour would not change. The dash-p flag on docker run is what actually connects a port on your machine to a port inside the container. Left of the colon is your machine, right of the colon is inside. So dash-p nine-thousand colon eight-oh-eight-oh means browse to localhost nine thousand, even though the app inside thinks it's on 8080. Say that twice; it's the second most common lab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number one time-waster in any Docker lab, so I'm giving it a whole slide. If your app binds to 127.0.0.1 inside the container, it is listening only on the container's own loopback interface. Docker forwards traffic from outside to the container — but nothing is listening on the interface that traffic arrives on. So you get connection reset or an empty reply, while the container runs happily and the logs look completely healthy. The fix is one flag: host 0.0.0.0, which means listen on every interface in this container. Tell them plainly: when your container is running and the browser says connection reset, check this first, before anything else. Then open the debug-it panel on the site and let them pick the wrong command so the explanation lands on their own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habits, and they are the difference between tomorrow being a copy-paste and tomorrow being an afternoon. First: read the port from the environment. Free hosts dictate their own port — Hugging Face Spaces expects 7860 — and our CMD uses dollar-PORT with a default of 8080, so the exact same image runs on your laptop and in the cloud with no edit. That's a genuinely professional pattern, not a workshop trick. Second: use a dockerignore, so mlruns, git history, pycache and notebooks never enter the image. Smaller images build faster, push faster, start faster. Then land the stakes: the image you build in the next forty-five minutes is exactly what we deploy tomorrow, unchanged — so every shortcut you take now becomes tomorrow's debugging session, in front of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then the lab. Read the five lines. Then two check questions, and wait: 'What is the difference between EXPOSE and dash-p?' and 'Your container runs but the browser says connection reset — what do you check first?' If the second answer is host 0.0.0.0, you have saved yourself twenty minutes of the lab. Send them to Lab 3: write the Dockerfile, build, run with the port mapped, hit the model inside the box — and then break it on purpose and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MODULE 4 · DAY 2</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Containers &amp; Docker</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Your API works on your machine. This module makes that sentence stop mattering — because the machine travels with the app.</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MLOps &amp; Model Deployment · Vel Tech · Dr. Venkateshwaran Loganathan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686800" y="-1828800"/>
            <a:ext cx="5029200" cy="5029200"/>
          </a:xfrm>
          <a:prstGeom prst="ellipse">
            <a:avLst/>
          </a:prstGeom>
          <a:solidFill>
            <a:srgbClr val="EE5A3A">
              <a:alpha val="24000"/>
            </a:srgbClr>
          </a:solidFill>
          <a:ln/>
        </p:spPr>
      </p:sp>
      <p:sp>
        <p:nvSpPr>
          <p:cNvPr id="3" name="Text 1"/>
          <p:cNvSpPr/>
          <p:nvPr/>
        </p:nvSpPr>
        <p:spPr>
          <a:xfrm>
            <a:off x="548640" y="10058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THE OLDEST EXCUSE IN SOFTWARE</a:t>
            </a:r>
            <a:endParaRPr lang="en-US" sz="1200" dirty="0"/>
          </a:p>
        </p:txBody>
      </p:sp>
      <p:sp>
        <p:nvSpPr>
          <p:cNvPr id="4" name="Text 2"/>
          <p:cNvSpPr/>
          <p:nvPr/>
        </p:nvSpPr>
        <p:spPr>
          <a:xfrm>
            <a:off x="548640" y="1554480"/>
            <a:ext cx="10789920" cy="2926080"/>
          </a:xfrm>
          <a:prstGeom prst="rect">
            <a:avLst/>
          </a:prstGeom>
          <a:noFill/>
          <a:ln/>
        </p:spPr>
        <p:txBody>
          <a:bodyPr wrap="square" rtlCol="0" anchor="t"/>
          <a:lstStyle/>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"But it works on my machine."</a:t>
            </a:r>
            <a:endParaRPr lang="en-US" sz="3400" dirty="0"/>
          </a:p>
        </p:txBody>
      </p:sp>
      <p:sp>
        <p:nvSpPr>
          <p:cNvPr id="5" name="Text 3"/>
          <p:cNvSpPr/>
          <p:nvPr/>
        </p:nvSpPr>
        <p:spPr>
          <a:xfrm>
            <a:off x="548640" y="4937760"/>
            <a:ext cx="10515600" cy="548640"/>
          </a:xfrm>
          <a:prstGeom prst="rect">
            <a:avLst/>
          </a:prstGeom>
          <a:noFill/>
          <a:ln/>
        </p:spPr>
        <p:txBody>
          <a:bodyPr wrap="square" rtlCol="0" anchor="ctr"/>
          <a:lstStyle/>
          <a:p>
            <a:pPr indent="0" marL="0">
              <a:buNone/>
            </a:pPr>
            <a:r>
              <a:rPr lang="en-US" sz="1400" i="1" dirty="0">
                <a:solidFill>
                  <a:srgbClr val="B8A69B"/>
                </a:solidFill>
                <a:latin typeface="Calibri" pitchFamily="34" charset="0"/>
                <a:ea typeface="Calibri" pitchFamily="34" charset="-122"/>
                <a:cs typeface="Calibri" pitchFamily="34" charset="-120"/>
              </a:rPr>
              <a:t>Docker's answer is blunt: stop shipping the app. Ship the machine.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WHAT IT IS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Container vs virtual machine</a:t>
            </a:r>
            <a:endParaRPr lang="en-US" sz="3100" dirty="0"/>
          </a:p>
        </p:txBody>
      </p:sp>
      <p:sp>
        <p:nvSpPr>
          <p:cNvPr id="4" name="Shape 2"/>
          <p:cNvSpPr/>
          <p:nvPr/>
        </p:nvSpPr>
        <p:spPr>
          <a:xfrm>
            <a:off x="548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41248" y="2011680"/>
            <a:ext cx="4764024" cy="438912"/>
          </a:xfrm>
          <a:prstGeom prst="roundRect">
            <a:avLst>
              <a:gd name="adj" fmla="val 16667"/>
            </a:avLst>
          </a:prstGeom>
          <a:solidFill>
            <a:srgbClr val="EE5A3A"/>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VIRTUAL MACHINE</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Ships a FULL guest OS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Runs on a hypervisor</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Boots in minutes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Gigabytes in size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Strong isolation</a:t>
            </a:r>
            <a:endParaRPr lang="en-US" sz="1350" dirty="0"/>
          </a:p>
        </p:txBody>
      </p:sp>
      <p:sp>
        <p:nvSpPr>
          <p:cNvPr id="8" name="Shape 6"/>
          <p:cNvSpPr/>
          <p:nvPr/>
        </p:nvSpPr>
        <p:spPr>
          <a:xfrm>
            <a:off x="6263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6556248" y="2011680"/>
            <a:ext cx="4764024" cy="438912"/>
          </a:xfrm>
          <a:prstGeom prst="roundRect">
            <a:avLst>
              <a:gd name="adj" fmla="val 16667"/>
            </a:avLst>
          </a:prstGeom>
          <a:solidFill>
            <a:srgbClr val="15B8A6"/>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CONTAINER</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Ships app + libraries only</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SHARES the host OS kernel</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Starts in seconds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Megabytes in size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Must match the host kernel family</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VOCABULARY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Four words, used precisely</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I</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Image</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The immutable built artifact — a stack of read-only layers. This is what you push and pull.</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C</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Container</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A running instance of an image, with a thin writable layer on top. Delete it; the image is untouched.</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R</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Registry</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Where images live so others can pull them — Docker Hub, GHCR, or a host's own registry.</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L</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Layer</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One Dockerfile instruction = one layer. Cached, and reused until something changes.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DOCKERFILE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A recipe, read top to bottom</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FROM · WORKDIR</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Start from a base image (python:3.11-slim) and set the working directory.</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COPY requirements.txt → RUN pip install</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Dependencies FIRST, on their own layer. This is the line that decides whether your rebuilds take 2 seconds or 50.</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COPY . . → EXPOSE → CMD</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Then the code, then documentation, then how to start: uvicorn with --host 0.0.0.0 and the port from $PORT.</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Every instruction = a layer</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Change one, and Docker rebuilds that layer AND everything after it. Order is performance.</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DO THIS LIVE</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Open the layer-cache explorer on the site. Set 'COPY . . first' + 'changed one line of Python' → 50 seconds. Flip the order → 2 seconds. Same edit. That contrast is the lesson.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~4 MIN</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Order the Dockerfile</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Seven instructions, scrambled. Put them in the order that builds correctly AND rebuilds fast.</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Deps before code — the caching rule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EXPOSE before CMD</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Check your answer; it tells you what breaks</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Then predict-the-failure with your pair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PORTS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The two things everyone mixes up</a:t>
            </a:r>
            <a:endParaRPr lang="en-US" sz="3100" dirty="0"/>
          </a:p>
        </p:txBody>
      </p:sp>
      <p:sp>
        <p:nvSpPr>
          <p:cNvPr id="4" name="Shape 2"/>
          <p:cNvSpPr/>
          <p:nvPr/>
        </p:nvSpPr>
        <p:spPr>
          <a:xfrm>
            <a:off x="548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41248" y="2011680"/>
            <a:ext cx="4764024" cy="438912"/>
          </a:xfrm>
          <a:prstGeom prst="roundRect">
            <a:avLst>
              <a:gd name="adj" fmla="val 16667"/>
            </a:avLst>
          </a:prstGeom>
          <a:solidFill>
            <a:srgbClr val="15B8A6"/>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EXPOSE 8080 — documentation</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Declares which port the app uses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Helps humans and some tools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Publishes NOTHING</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Removing it changes no behaviour</a:t>
            </a:r>
            <a:endParaRPr lang="en-US" sz="1350" dirty="0"/>
          </a:p>
        </p:txBody>
      </p:sp>
      <p:sp>
        <p:nvSpPr>
          <p:cNvPr id="8" name="Shape 6"/>
          <p:cNvSpPr/>
          <p:nvPr/>
        </p:nvSpPr>
        <p:spPr>
          <a:xfrm>
            <a:off x="6263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6556248" y="2011680"/>
            <a:ext cx="4764024" cy="438912"/>
          </a:xfrm>
          <a:prstGeom prst="roundRect">
            <a:avLst>
              <a:gd name="adj" fmla="val 16667"/>
            </a:avLst>
          </a:prstGeom>
          <a:solidFill>
            <a:srgbClr val="EE5A3A"/>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 8080:8080 — publishing</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THIS connects host to container</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Left of colon = your machine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Right of colon = inside container</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-p 9000:8080 → browse localhost:9000</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686800" y="-1828800"/>
            <a:ext cx="5029200" cy="5029200"/>
          </a:xfrm>
          <a:prstGeom prst="ellipse">
            <a:avLst/>
          </a:prstGeom>
          <a:solidFill>
            <a:srgbClr val="EE5A3A">
              <a:alpha val="24000"/>
            </a:srgbClr>
          </a:solidFill>
          <a:ln/>
        </p:spPr>
      </p:sp>
      <p:sp>
        <p:nvSpPr>
          <p:cNvPr id="3" name="Text 1"/>
          <p:cNvSpPr/>
          <p:nvPr/>
        </p:nvSpPr>
        <p:spPr>
          <a:xfrm>
            <a:off x="548640" y="10058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THE BUG THAT EATS THE MOST LAB TIME</a:t>
            </a:r>
            <a:endParaRPr lang="en-US" sz="1200" dirty="0"/>
          </a:p>
        </p:txBody>
      </p:sp>
      <p:sp>
        <p:nvSpPr>
          <p:cNvPr id="4" name="Text 2"/>
          <p:cNvSpPr/>
          <p:nvPr/>
        </p:nvSpPr>
        <p:spPr>
          <a:xfrm>
            <a:off x="548640" y="1554480"/>
            <a:ext cx="10789920" cy="2926080"/>
          </a:xfrm>
          <a:prstGeom prst="rect">
            <a:avLst/>
          </a:prstGeom>
          <a:noFill/>
          <a:ln/>
        </p:spPr>
        <p:txBody>
          <a:bodyPr wrap="square" rtlCol="0" anchor="t"/>
          <a:lstStyle/>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--host 0.0.0.0</a:t>
            </a:r>
            <a:endParaRPr lang="en-US" sz="3400" dirty="0"/>
          </a:p>
        </p:txBody>
      </p:sp>
      <p:sp>
        <p:nvSpPr>
          <p:cNvPr id="5" name="Text 3"/>
          <p:cNvSpPr/>
          <p:nvPr/>
        </p:nvSpPr>
        <p:spPr>
          <a:xfrm>
            <a:off x="548640" y="4937760"/>
            <a:ext cx="10515600" cy="548640"/>
          </a:xfrm>
          <a:prstGeom prst="rect">
            <a:avLst/>
          </a:prstGeom>
          <a:noFill/>
          <a:ln/>
        </p:spPr>
        <p:txBody>
          <a:bodyPr wrap="square" rtlCol="0" anchor="ctr"/>
          <a:lstStyle/>
          <a:p>
            <a:pPr indent="0" marL="0">
              <a:buNone/>
            </a:pPr>
            <a:r>
              <a:rPr lang="en-US" sz="1400" i="1" dirty="0">
                <a:solidFill>
                  <a:srgbClr val="B8A69B"/>
                </a:solidFill>
                <a:latin typeface="Calibri" pitchFamily="34" charset="0"/>
                <a:ea typeface="Calibri" pitchFamily="34" charset="-122"/>
                <a:cs typeface="Calibri" pitchFamily="34" charset="-120"/>
              </a:rPr>
              <a:t>127.0.0.1 inside a container means 'this container only'. The port is published, the logs look healthy, and nothing reaches your app.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TWO HABITS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...that make tomorrow's deploy a copy-paste</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Read $PORT from the environment</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Free hosts dictate the port (Hugging Face Spaces expects 7860). Our CMD uses ${PORT} with a default of 8080 — so the SAME image runs locally and in the cloud, unedited.</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i</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Use .dockerignore</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Keep mlruns/, .git/, __pycache__ and notebooks out of the image. Smaller images build, push and start faster.</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Why it matters tomorrow</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The image you build in the next 45 minutes is EXACTLY what we deploy tomorrow. No code changes.</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So build it properly now</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Every shortcut you take here becomes tomorrow's debugging session in front of the class.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4 in five lines</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A container ships app + environment and shares the host kernel — small, seconds to start</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Image = built artifact (layers). Container = a running instance</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Layer order is performance: deps before code</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EXPOSE documents; -p publishes. Bind 0.0.0.0 or nothing reaches you</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Read $PORT and the same image runs locally AND on tomorrow's host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2026-08-04T14:13:06Z</dcterms:created>
  <dcterms:modified xsi:type="dcterms:W3CDTF">2026-08-04T14:13:06Z</dcterms:modified>
</cp:coreProperties>
</file>