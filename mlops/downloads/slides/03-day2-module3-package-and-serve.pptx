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connecting to yesterday: 'Yesterday you ended with a registered model — a version, in a registry. Today we make it useful to somebody who is not you.' Then straight into the handover story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scene that happens in every company. A data scientist finishes a model, drops model.pkl into Slack, and types 'here's my model.' And the engineer on the other end has four questions the file cannot answer. Read them off the slide slowly: which Python version. Which library versions. What exactly do I pass in — what fields, what order, what scaling. And what comes out, and what does it mean. Then the line I want them to keep: a model is not a deliverable. A model plus a contract is. Today we build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Serializing just means freezing the trained object to disk so a different process can load it and predict — without retraining. Say that clearly: your API does not train, it loads. Now the three formats, and they are not interchangeable. Pickle is Python-only, weaker with large arrays, and carries a real security warning — unpickling can run arbitrary code, so never load a pickle a stranger sent you. Joblib is the scikit-learn convention and handles big numpy arrays well; it's what we use. But it's Python-only and version-fragile, which is why requirements.txt travels with the model. And ONNX is the open, framework-neutral option: use it when a Java or C-sharp service has to run your model, or when you're loading a file from outside your team. The rule of thumb is the last card. Then open the site's format explorer, pick the 'serve from Java' goal, and let someone click joblib so they see the dead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shapes of serving, and picking the wrong one is a genuinely expensive architectural mistake. Batch means scoring many rows on a schedule and writing the results somewhere — cheap, simple, no latency pressure, and the answers are only as fresh as the last run. Online means one request, one answer, right now — and you need it when something is waiting: a user staring at a page, a transaction that can't complete. The rule of thumb, and give them this: if a human or a transaction is waiting, it has to be online; everything else is cheaper as batch. Then run the five-case quick-fire on the site. The one that catches people is the monthly forecast — it feels important, so they reach for an API, but nothing is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tool. FastAPI's core idea is that the contract is the code: you declare the shape of a request as a Python class with types, and the framework enforces it on every single call — so bad input never reaches your model. And you get three things for free. Validation with precise 422 errors, without writing a line of validation code. Interactive documentation at slash-docs, generated from those types, so a teammate can click through your API without reading your source. And notice the fourth point, which ties back to yesterday: the handler calls row_to_frame — the same function training used. That's the skew fix, now built into the serving path. Best move here is to demo it live: open slash-docs on your own API, send a good request, then delete a field and send it again so they watch the 422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endpoints to start. Health, which returns 200 if the process is up and the model actually loaded — and that second half is the point. Cloud hosts poll health to decide whether to send you traffic or restart you, so without it a container with a broken model silently keeps receiving requests. And predict, the actual inference. Then the performance rule, and this one bites students every time: load the model once at startup, not inside the request handler. Loading per request turns a twenty-millisecond API into a two-second one, and they will feel it. Finally the question on the last card — ask it to the room and wait: what should health do if the model file is missing? The right answer is fail loudly, because a container that cannot predict should not be receiving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in pairs, on paper — no laptops for this one. Define the contract for the loan model: every input field with its type and valid range, the exact output JSON, and what happens on each kind of failure. Push them on the fourth bullet, because it's the one real teams argue about: if credit_score is unknown, do you reject the request or predict with a default? There is no universally right answer — but there is a wrong behaviour, which is different code paths making different silent choices. Then say: 'Compare with your pair. Wherever you two disagree is exactly where a real team would have shipped a bug.' That line makes the exercise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I release you: what done looks like. Four steps. Load the registered model at startup — and notice this is yesterday's work paying off, the registry was the handoff. Add health first because it's the easiest win and it tells you the app is alive. Then predict, with a Pydantic schema, building features with the shared function. And step four is the one I actually grade: break it on purpose. Send a request missing a field and confirm you get a 422, not a 500 — that proves you understood validation rather than just copying code. Done looks like slash-docs open, one successful prediction, and a screenshot of your deliberate 422. Green sticky when your API answers a real prediction. Two rules as always: read the whole error, and ask your pair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then the lab. Read the five lines. Check understanding with two questions and wait for answers: 'Why can't I just send someone a joblib file?' and 'What status code for a missing field, and why not 500?' If those come back clean, they're ready. Remind them the API runs on port 8000 and the Codespace forwards it automatically — click the toast, not localhost on their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778240" y="-2011680"/>
            <a:ext cx="5486400" cy="5486400"/>
          </a:xfrm>
          <a:prstGeom prst="ellipse">
            <a:avLst/>
          </a:prstGeom>
          <a:solidFill>
            <a:srgbClr val="EE5A3A">
              <a:alpha val="30000"/>
            </a:srgbClr>
          </a:solidFill>
          <a:ln/>
        </p:spPr>
      </p:sp>
      <p:sp>
        <p:nvSpPr>
          <p:cNvPr id="3" name="Shape 1"/>
          <p:cNvSpPr/>
          <p:nvPr/>
        </p:nvSpPr>
        <p:spPr>
          <a:xfrm>
            <a:off x="-2194560" y="4572000"/>
            <a:ext cx="5120640" cy="5120640"/>
          </a:xfrm>
          <a:prstGeom prst="ellipse">
            <a:avLst/>
          </a:prstGeom>
          <a:solidFill>
            <a:srgbClr val="15B8A6">
              <a:alpha val="22000"/>
            </a:srgbClr>
          </a:solidFill>
          <a:ln/>
        </p:spPr>
      </p:sp>
      <p:sp>
        <p:nvSpPr>
          <p:cNvPr id="4" name="Shape 2"/>
          <p:cNvSpPr/>
          <p:nvPr/>
        </p:nvSpPr>
        <p:spPr>
          <a:xfrm>
            <a:off x="548640" y="640080"/>
            <a:ext cx="658368" cy="658368"/>
          </a:xfrm>
          <a:prstGeom prst="roundRect">
            <a:avLst>
              <a:gd name="adj" fmla="val 22000"/>
            </a:avLst>
          </a:prstGeom>
          <a:solidFill>
            <a:srgbClr val="EE5A3A"/>
          </a:solidFill>
          <a:ln/>
        </p:spPr>
      </p:sp>
      <p:sp>
        <p:nvSpPr>
          <p:cNvPr id="5" name="Text 3"/>
          <p:cNvSpPr/>
          <p:nvPr/>
        </p:nvSpPr>
        <p:spPr>
          <a:xfrm>
            <a:off x="548640" y="640080"/>
            <a:ext cx="658368" cy="658368"/>
          </a:xfrm>
          <a:prstGeom prst="rect">
            <a:avLst/>
          </a:prstGeom>
          <a:noFill/>
          <a:ln/>
        </p:spPr>
        <p:txBody>
          <a:bodyPr wrap="square" rtlCol="0" anchor="ctr"/>
          <a:lstStyle/>
          <a:p>
            <a:pPr algn="ctr" indent="0" marL="0">
              <a:buNone/>
            </a:pPr>
            <a:r>
              <a:rPr lang="en-US" sz="2736" b="1" dirty="0">
                <a:solidFill>
                  <a:srgbClr val="FFFFFF"/>
                </a:solidFill>
                <a:latin typeface="Calibri" pitchFamily="34" charset="0"/>
                <a:ea typeface="Calibri" pitchFamily="34" charset="-122"/>
                <a:cs typeface="Calibri" pitchFamily="34" charset="-120"/>
              </a:rPr>
              <a:t>VL</a:t>
            </a:r>
            <a:endParaRPr lang="en-US" sz="2736" dirty="0"/>
          </a:p>
        </p:txBody>
      </p:sp>
      <p:sp>
        <p:nvSpPr>
          <p:cNvPr id="6" name="Text 4"/>
          <p:cNvSpPr/>
          <p:nvPr/>
        </p:nvSpPr>
        <p:spPr>
          <a:xfrm>
            <a:off x="548640" y="22860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MODULE 3 · DAY 2</a:t>
            </a:r>
            <a:endParaRPr lang="en-US" sz="1200" dirty="0"/>
          </a:p>
        </p:txBody>
      </p:sp>
      <p:sp>
        <p:nvSpPr>
          <p:cNvPr id="7" name="Text 5"/>
          <p:cNvSpPr/>
          <p:nvPr/>
        </p:nvSpPr>
        <p:spPr>
          <a:xfrm>
            <a:off x="548640" y="2560320"/>
            <a:ext cx="10972800" cy="1828800"/>
          </a:xfrm>
          <a:prstGeom prst="rect">
            <a:avLst/>
          </a:prstGeom>
          <a:noFill/>
          <a:ln/>
        </p:spPr>
        <p:txBody>
          <a:bodyPr wrap="square" rtlCol="0" anchor="ctr"/>
          <a:lstStyle/>
          <a:p>
            <a:pPr indent="0" marL="0">
              <a:lnSpc>
                <a:spcPts val="4600"/>
              </a:lnSpc>
              <a:buNone/>
            </a:pPr>
            <a:r>
              <a:rPr lang="en-US" sz="4400" b="1" spc="-50" kern="0" dirty="0">
                <a:solidFill>
                  <a:srgbClr val="FFFFFF"/>
                </a:solidFill>
                <a:latin typeface="Calibri" pitchFamily="34" charset="0"/>
                <a:ea typeface="Calibri" pitchFamily="34" charset="-122"/>
                <a:cs typeface="Calibri" pitchFamily="34" charset="-120"/>
              </a:rPr>
              <a:t>Package &amp; Serve the Model</a:t>
            </a:r>
            <a:endParaRPr lang="en-US" sz="4400" dirty="0"/>
          </a:p>
        </p:txBody>
      </p:sp>
      <p:sp>
        <p:nvSpPr>
          <p:cNvPr id="8" name="Text 6"/>
          <p:cNvSpPr/>
          <p:nvPr/>
        </p:nvSpPr>
        <p:spPr>
          <a:xfrm>
            <a:off x="548640" y="4526280"/>
            <a:ext cx="10058400" cy="1097280"/>
          </a:xfrm>
          <a:prstGeom prst="rect">
            <a:avLst/>
          </a:prstGeom>
          <a:noFill/>
          <a:ln/>
        </p:spPr>
        <p:txBody>
          <a:bodyPr wrap="square" rtlCol="0" anchor="ctr"/>
          <a:lstStyle/>
          <a:p>
            <a:pPr indent="0" marL="0">
              <a:lnSpc>
                <a:spcPts val="2500"/>
              </a:lnSpc>
              <a:buNone/>
            </a:pPr>
            <a:r>
              <a:rPr lang="en-US" sz="1800" dirty="0">
                <a:solidFill>
                  <a:srgbClr val="EAD9CE"/>
                </a:solidFill>
                <a:latin typeface="Calibri" pitchFamily="34" charset="0"/>
                <a:ea typeface="Calibri" pitchFamily="34" charset="-122"/>
                <a:cs typeface="Calibri" pitchFamily="34" charset="-120"/>
              </a:rPr>
              <a:t>Yesterday you registered a model. Today it stops being a file on your laptop and becomes something other programs can call.</a:t>
            </a:r>
            <a:endParaRPr lang="en-US" sz="1800" dirty="0"/>
          </a:p>
        </p:txBody>
      </p:sp>
      <p:sp>
        <p:nvSpPr>
          <p:cNvPr id="9" name="Text 7"/>
          <p:cNvSpPr/>
          <p:nvPr/>
        </p:nvSpPr>
        <p:spPr>
          <a:xfrm>
            <a:off x="548640" y="6263640"/>
            <a:ext cx="10972800" cy="320040"/>
          </a:xfrm>
          <a:prstGeom prst="rect">
            <a:avLst/>
          </a:prstGeom>
          <a:noFill/>
          <a:ln/>
        </p:spPr>
        <p:txBody>
          <a:bodyPr wrap="square" lIns="0" tIns="0" rIns="0" bIns="0" rtlCol="0" anchor="ctr"/>
          <a:lstStyle/>
          <a:p>
            <a:pPr indent="0" marL="0">
              <a:buNone/>
            </a:pPr>
            <a:r>
              <a:rPr lang="en-US" sz="1200" dirty="0">
                <a:solidFill>
                  <a:srgbClr val="B8A69B"/>
                </a:solidFill>
                <a:latin typeface="Calibri" pitchFamily="34" charset="0"/>
                <a:ea typeface="Calibri" pitchFamily="34" charset="-122"/>
                <a:cs typeface="Calibri" pitchFamily="34" charset="-120"/>
              </a:rPr>
              <a:t>MLOps &amp; Model Deployment · Vel Tech · Dr. Venkateshwaran Loganathan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686800" y="-1828800"/>
            <a:ext cx="5029200" cy="5029200"/>
          </a:xfrm>
          <a:prstGeom prst="ellipse">
            <a:avLst/>
          </a:prstGeom>
          <a:solidFill>
            <a:srgbClr val="EE5A3A">
              <a:alpha val="24000"/>
            </a:srgbClr>
          </a:solidFill>
          <a:ln/>
        </p:spPr>
      </p:sp>
      <p:sp>
        <p:nvSpPr>
          <p:cNvPr id="3" name="Text 1"/>
          <p:cNvSpPr/>
          <p:nvPr/>
        </p:nvSpPr>
        <p:spPr>
          <a:xfrm>
            <a:off x="548640" y="10058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THE HANDOVER PROBLEM</a:t>
            </a:r>
            <a:endParaRPr lang="en-US" sz="1200" dirty="0"/>
          </a:p>
        </p:txBody>
      </p:sp>
      <p:sp>
        <p:nvSpPr>
          <p:cNvPr id="4" name="Text 2"/>
          <p:cNvSpPr/>
          <p:nvPr/>
        </p:nvSpPr>
        <p:spPr>
          <a:xfrm>
            <a:off x="548640" y="1554480"/>
            <a:ext cx="10789920" cy="2926080"/>
          </a:xfrm>
          <a:prstGeom prst="rect">
            <a:avLst/>
          </a:prstGeom>
          <a:noFill/>
          <a:ln/>
        </p:spPr>
        <p:txBody>
          <a:bodyPr wrap="square" rtlCol="0" anchor="t"/>
          <a:lstStyle/>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"Here's my model."</a:t>
            </a:r>
            <a:endParaRPr lang="en-US" sz="3400" dirty="0"/>
          </a:p>
          <a:p>
            <a:pPr indent="0" marL="0">
              <a:lnSpc>
                <a:spcPts val="4400"/>
              </a:lnSpc>
              <a:buNone/>
            </a:pPr>
            <a:endParaRPr lang="en-US" sz="3400" dirty="0"/>
          </a:p>
          <a:p>
            <a:pPr indent="0" marL="0">
              <a:lnSpc>
                <a:spcPts val="4400"/>
              </a:lnSpc>
              <a:buNone/>
            </a:pPr>
            <a:r>
              <a:rPr lang="en-US" sz="3400" b="1" spc="-50" kern="0" dirty="0">
                <a:solidFill>
                  <a:srgbClr val="FFFFFF"/>
                </a:solidFill>
                <a:latin typeface="Calibri" pitchFamily="34" charset="0"/>
                <a:ea typeface="Calibri" pitchFamily="34" charset="-122"/>
                <a:cs typeface="Calibri" pitchFamily="34" charset="-120"/>
              </a:rPr>
              <a:t>model.pkl — 4.2 MB</a:t>
            </a:r>
            <a:endParaRPr lang="en-US" sz="3400" dirty="0"/>
          </a:p>
        </p:txBody>
      </p:sp>
      <p:sp>
        <p:nvSpPr>
          <p:cNvPr id="5" name="Text 3"/>
          <p:cNvSpPr/>
          <p:nvPr/>
        </p:nvSpPr>
        <p:spPr>
          <a:xfrm>
            <a:off x="548640" y="4937760"/>
            <a:ext cx="10515600" cy="548640"/>
          </a:xfrm>
          <a:prstGeom prst="rect">
            <a:avLst/>
          </a:prstGeom>
          <a:noFill/>
          <a:ln/>
        </p:spPr>
        <p:txBody>
          <a:bodyPr wrap="square" rtlCol="0" anchor="ctr"/>
          <a:lstStyle/>
          <a:p>
            <a:pPr indent="0" marL="0">
              <a:buNone/>
            </a:pPr>
            <a:r>
              <a:rPr lang="en-US" sz="1400" i="1" dirty="0">
                <a:solidFill>
                  <a:srgbClr val="B8A69B"/>
                </a:solidFill>
                <a:latin typeface="Calibri" pitchFamily="34" charset="0"/>
                <a:ea typeface="Calibri" pitchFamily="34" charset="-122"/>
                <a:cs typeface="Calibri" pitchFamily="34" charset="-120"/>
              </a:rPr>
              <a:t>Four questions that file cannot answer. Which Python? Which library versions? What exactly goes in? What comes out?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SERIALIZATION</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Freeze the model — and pick the right format</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P</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pickle</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Python-only. Works, but poor with large arrays — and NEVER load a pickle you did not create: unpickling can execute arbitrary code.</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J</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joblib</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scikit-learn convention. Efficient with big numpy arrays. Python-only and version-fragile — so PIN your versions.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O</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ONNX</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Open, framework-neutral graph. Use it when another language must run the model, or when the file comes from outside your team.</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The rule</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joblib for Python-to-Python. ONNX when crossing a language boundary or a trust boundary.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SERVING</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Two shapes — choose wrongly and it's expensive</a:t>
            </a:r>
            <a:endParaRPr lang="en-US" sz="3100" dirty="0"/>
          </a:p>
        </p:txBody>
      </p:sp>
      <p:sp>
        <p:nvSpPr>
          <p:cNvPr id="4" name="Shape 2"/>
          <p:cNvSpPr/>
          <p:nvPr/>
        </p:nvSpPr>
        <p:spPr>
          <a:xfrm>
            <a:off x="548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41248" y="2011680"/>
            <a:ext cx="4764024" cy="438912"/>
          </a:xfrm>
          <a:prstGeom prst="roundRect">
            <a:avLst>
              <a:gd name="adj" fmla="val 16667"/>
            </a:avLst>
          </a:prstGeom>
          <a:solidFill>
            <a:srgbClr val="15B8A6"/>
          </a:solidFill>
          <a:ln/>
        </p:spPr>
      </p:sp>
      <p:sp>
        <p:nvSpPr>
          <p:cNvPr id="6" name="Text 4"/>
          <p:cNvSpPr/>
          <p:nvPr/>
        </p:nvSpPr>
        <p:spPr>
          <a:xfrm>
            <a:off x="841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BATCH (offline)</a:t>
            </a:r>
            <a:endParaRPr lang="en-US" sz="1400" dirty="0"/>
          </a:p>
        </p:txBody>
      </p:sp>
      <p:sp>
        <p:nvSpPr>
          <p:cNvPr id="7" name="Text 5"/>
          <p:cNvSpPr/>
          <p:nvPr/>
        </p:nvSpPr>
        <p:spPr>
          <a:xfrm>
            <a:off x="914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Score many rows on a schedule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Write results to a table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Cheap, simple, no latency pressure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Answers are as fresh as the last run</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Nightly churn scores, monthly forecasts</a:t>
            </a:r>
            <a:endParaRPr lang="en-US" sz="1350" dirty="0"/>
          </a:p>
        </p:txBody>
      </p:sp>
      <p:sp>
        <p:nvSpPr>
          <p:cNvPr id="8" name="Shape 6"/>
          <p:cNvSpPr/>
          <p:nvPr/>
        </p:nvSpPr>
        <p:spPr>
          <a:xfrm>
            <a:off x="6263640" y="1737360"/>
            <a:ext cx="5349240" cy="4572000"/>
          </a:xfrm>
          <a:prstGeom prst="roundRect">
            <a:avLst>
              <a:gd name="adj" fmla="val 2000"/>
            </a:avLst>
          </a:prstGeom>
          <a:solidFill>
            <a:srgbClr val="FFF7F1"/>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9" name="Shape 7"/>
          <p:cNvSpPr/>
          <p:nvPr/>
        </p:nvSpPr>
        <p:spPr>
          <a:xfrm>
            <a:off x="6556248" y="2011680"/>
            <a:ext cx="4764024" cy="438912"/>
          </a:xfrm>
          <a:prstGeom prst="roundRect">
            <a:avLst>
              <a:gd name="adj" fmla="val 16667"/>
            </a:avLst>
          </a:prstGeom>
          <a:solidFill>
            <a:srgbClr val="EE5A3A"/>
          </a:solidFill>
          <a:ln/>
        </p:spPr>
      </p:sp>
      <p:sp>
        <p:nvSpPr>
          <p:cNvPr id="10" name="Text 8"/>
          <p:cNvSpPr/>
          <p:nvPr/>
        </p:nvSpPr>
        <p:spPr>
          <a:xfrm>
            <a:off x="6556248" y="2011680"/>
            <a:ext cx="4764024"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ONLINE (an API)</a:t>
            </a:r>
            <a:endParaRPr lang="en-US" sz="1400" dirty="0"/>
          </a:p>
        </p:txBody>
      </p:sp>
      <p:sp>
        <p:nvSpPr>
          <p:cNvPr id="11" name="Text 9"/>
          <p:cNvSpPr/>
          <p:nvPr/>
        </p:nvSpPr>
        <p:spPr>
          <a:xfrm>
            <a:off x="6629400" y="2651760"/>
            <a:ext cx="4617720" cy="3429000"/>
          </a:xfrm>
          <a:prstGeom prst="rect">
            <a:avLst/>
          </a:prstGeom>
          <a:noFill/>
          <a:ln/>
        </p:spPr>
        <p:txBody>
          <a:bodyPr wrap="square" rtlCol="0" anchor="t"/>
          <a:lstStyle/>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One request, one answer, right now</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Needed when something is WAITING</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Costs latency budget + uptime</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Loan decisions, fraud checks, recommendations</a:t>
            </a:r>
            <a:endParaRPr lang="en-US" sz="1350" dirty="0"/>
          </a:p>
          <a:p>
            <a:pPr marL="177800" indent="-177800">
              <a:lnSpc>
                <a:spcPts val="1700"/>
              </a:lnSpc>
              <a:spcAft>
                <a:spcPts val="700"/>
              </a:spcAft>
              <a:buSzPct val="100000"/>
              <a:buChar char="•"/>
            </a:pPr>
            <a:r>
              <a:rPr lang="en-US" sz="1350" dirty="0">
                <a:solidFill>
                  <a:srgbClr val="574047"/>
                </a:solidFill>
                <a:latin typeface="Calibri" pitchFamily="34" charset="0"/>
                <a:ea typeface="Calibri" pitchFamily="34" charset="-122"/>
                <a:cs typeface="Calibri" pitchFamily="34" charset="-120"/>
              </a:rPr>
              <a:t>This is what we build today</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FASTAPI</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The contract IS the code</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Declare the request as a class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Pydantic BaseModel with typed fields. FastAPI enforces it on every call, so bad input never reaches your model.</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You get 422s for free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Missing field or wrong type → an immediate, precise error. You wrote no validation code.</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And interactive docs at /docs</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Your teammates can click through your API without reading your source. Swagger, generated from the types.</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Reuse the SAME feature function</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row_to_frame() from training — so the skew you learned about yesterday cannot creep in.</a:t>
            </a:r>
            <a:endParaRPr lang="en-US" sz="1550" dirty="0"/>
          </a:p>
        </p:txBody>
      </p:sp>
      <p:sp>
        <p:nvSpPr>
          <p:cNvPr id="5" name="Shape 3"/>
          <p:cNvSpPr/>
          <p:nvPr/>
        </p:nvSpPr>
        <p:spPr>
          <a:xfrm>
            <a:off x="7452360" y="1737360"/>
            <a:ext cx="4160520" cy="4572000"/>
          </a:xfrm>
          <a:prstGeom prst="roundRect">
            <a:avLst>
              <a:gd name="adj" fmla="val 2198"/>
            </a:avLst>
          </a:prstGeom>
          <a:solidFill>
            <a:srgbClr val="DCF7F3"/>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15B8A6"/>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0E8F86"/>
                </a:solidFill>
                <a:latin typeface="Calibri" pitchFamily="34" charset="0"/>
                <a:ea typeface="Calibri" pitchFamily="34" charset="-122"/>
                <a:cs typeface="Calibri" pitchFamily="34" charset="-120"/>
              </a:rPr>
              <a:t>DO THIS LIVE</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Open /docs on your own running API and send a request from the browser. Then delete a field and send again — let them watch the 422 appear. It is far more convincing than a slide.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TWO ENDPOINTS</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And why /health matters more than it looks</a:t>
            </a:r>
            <a:endParaRPr lang="en-US" sz="3100" dirty="0"/>
          </a:p>
        </p:txBody>
      </p:sp>
      <p:sp>
        <p:nvSpPr>
          <p:cNvPr id="4" name="Shape 2"/>
          <p:cNvSpPr/>
          <p:nvPr/>
        </p:nvSpPr>
        <p:spPr>
          <a:xfrm>
            <a:off x="54864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5" name="Shape 3"/>
          <p:cNvSpPr/>
          <p:nvPr/>
        </p:nvSpPr>
        <p:spPr>
          <a:xfrm>
            <a:off x="822960" y="1993392"/>
            <a:ext cx="365760" cy="365760"/>
          </a:xfrm>
          <a:prstGeom prst="ellipse">
            <a:avLst/>
          </a:prstGeom>
          <a:solidFill>
            <a:srgbClr val="FDECE4"/>
          </a:solidFill>
          <a:ln/>
        </p:spPr>
      </p:sp>
      <p:sp>
        <p:nvSpPr>
          <p:cNvPr id="6" name="Text 4"/>
          <p:cNvSpPr/>
          <p:nvPr/>
        </p:nvSpPr>
        <p:spPr>
          <a:xfrm>
            <a:off x="822960" y="1993392"/>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H</a:t>
            </a:r>
            <a:endParaRPr lang="en-US" sz="1500" dirty="0"/>
          </a:p>
        </p:txBody>
      </p:sp>
      <p:sp>
        <p:nvSpPr>
          <p:cNvPr id="7" name="Text 5"/>
          <p:cNvSpPr/>
          <p:nvPr/>
        </p:nvSpPr>
        <p:spPr>
          <a:xfrm>
            <a:off x="132588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GET /health</a:t>
            </a:r>
            <a:endParaRPr lang="en-US" sz="1550" dirty="0"/>
          </a:p>
        </p:txBody>
      </p:sp>
      <p:sp>
        <p:nvSpPr>
          <p:cNvPr id="8" name="Text 6"/>
          <p:cNvSpPr/>
          <p:nvPr/>
        </p:nvSpPr>
        <p:spPr>
          <a:xfrm>
            <a:off x="84124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Returns 200 if the process is up AND the model loaded. Cloud hosts poll it to decide whether to send traffic or restart you.</a:t>
            </a:r>
            <a:endParaRPr lang="en-US" sz="1250" dirty="0"/>
          </a:p>
        </p:txBody>
      </p:sp>
      <p:sp>
        <p:nvSpPr>
          <p:cNvPr id="9" name="Shape 7"/>
          <p:cNvSpPr/>
          <p:nvPr/>
        </p:nvSpPr>
        <p:spPr>
          <a:xfrm>
            <a:off x="6217920" y="1737360"/>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0" name="Shape 8"/>
          <p:cNvSpPr/>
          <p:nvPr/>
        </p:nvSpPr>
        <p:spPr>
          <a:xfrm>
            <a:off x="6492240" y="1993392"/>
            <a:ext cx="365760" cy="365760"/>
          </a:xfrm>
          <a:prstGeom prst="ellipse">
            <a:avLst/>
          </a:prstGeom>
          <a:solidFill>
            <a:srgbClr val="DCF7F3"/>
          </a:solidFill>
          <a:ln/>
        </p:spPr>
      </p:sp>
      <p:sp>
        <p:nvSpPr>
          <p:cNvPr id="11" name="Text 9"/>
          <p:cNvSpPr/>
          <p:nvPr/>
        </p:nvSpPr>
        <p:spPr>
          <a:xfrm>
            <a:off x="6492240" y="1993392"/>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P</a:t>
            </a:r>
            <a:endParaRPr lang="en-US" sz="1500" dirty="0"/>
          </a:p>
        </p:txBody>
      </p:sp>
      <p:sp>
        <p:nvSpPr>
          <p:cNvPr id="12" name="Text 10"/>
          <p:cNvSpPr/>
          <p:nvPr/>
        </p:nvSpPr>
        <p:spPr>
          <a:xfrm>
            <a:off x="6995160" y="1975104"/>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POST /predict</a:t>
            </a:r>
            <a:endParaRPr lang="en-US" sz="1550" dirty="0"/>
          </a:p>
        </p:txBody>
      </p:sp>
      <p:sp>
        <p:nvSpPr>
          <p:cNvPr id="13" name="Text 11"/>
          <p:cNvSpPr/>
          <p:nvPr/>
        </p:nvSpPr>
        <p:spPr>
          <a:xfrm>
            <a:off x="6510528" y="2487168"/>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The actual inference. Validated input, one prediction out, JSON both ways.</a:t>
            </a:r>
            <a:endParaRPr lang="en-US" sz="1250" dirty="0"/>
          </a:p>
        </p:txBody>
      </p:sp>
      <p:sp>
        <p:nvSpPr>
          <p:cNvPr id="14" name="Shape 12"/>
          <p:cNvSpPr/>
          <p:nvPr/>
        </p:nvSpPr>
        <p:spPr>
          <a:xfrm>
            <a:off x="54864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15" name="Shape 13"/>
          <p:cNvSpPr/>
          <p:nvPr/>
        </p:nvSpPr>
        <p:spPr>
          <a:xfrm>
            <a:off x="822960" y="4407408"/>
            <a:ext cx="365760" cy="365760"/>
          </a:xfrm>
          <a:prstGeom prst="ellipse">
            <a:avLst/>
          </a:prstGeom>
          <a:solidFill>
            <a:srgbClr val="FDECE4"/>
          </a:solidFill>
          <a:ln/>
        </p:spPr>
      </p:sp>
      <p:sp>
        <p:nvSpPr>
          <p:cNvPr id="16" name="Text 14"/>
          <p:cNvSpPr/>
          <p:nvPr/>
        </p:nvSpPr>
        <p:spPr>
          <a:xfrm>
            <a:off x="822960" y="4407408"/>
            <a:ext cx="365760" cy="365760"/>
          </a:xfrm>
          <a:prstGeom prst="rect">
            <a:avLst/>
          </a:prstGeom>
          <a:noFill/>
          <a:ln/>
        </p:spPr>
        <p:txBody>
          <a:bodyPr wrap="square" rtlCol="0" anchor="ctr"/>
          <a:lstStyle/>
          <a:p>
            <a:pPr algn="ctr" indent="0" marL="0">
              <a:buNone/>
            </a:pPr>
            <a:r>
              <a:rPr lang="en-US" sz="1500" b="1" dirty="0">
                <a:solidFill>
                  <a:srgbClr val="EE5A3A"/>
                </a:solidFill>
                <a:latin typeface="Calibri" pitchFamily="34" charset="0"/>
                <a:ea typeface="Calibri" pitchFamily="34" charset="-122"/>
                <a:cs typeface="Calibri" pitchFamily="34" charset="-120"/>
              </a:rPr>
              <a:t>1</a:t>
            </a:r>
            <a:endParaRPr lang="en-US" sz="1500" dirty="0"/>
          </a:p>
        </p:txBody>
      </p:sp>
      <p:sp>
        <p:nvSpPr>
          <p:cNvPr id="17" name="Text 15"/>
          <p:cNvSpPr/>
          <p:nvPr/>
        </p:nvSpPr>
        <p:spPr>
          <a:xfrm>
            <a:off x="132588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Load the model ONCE</a:t>
            </a:r>
            <a:endParaRPr lang="en-US" sz="1550" dirty="0"/>
          </a:p>
        </p:txBody>
      </p:sp>
      <p:sp>
        <p:nvSpPr>
          <p:cNvPr id="18" name="Text 16"/>
          <p:cNvSpPr/>
          <p:nvPr/>
        </p:nvSpPr>
        <p:spPr>
          <a:xfrm>
            <a:off x="84124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At startup, not inside the handler. Loading per-request turns a 20 ms API into a 2-second one.</a:t>
            </a:r>
            <a:endParaRPr lang="en-US" sz="1250" dirty="0"/>
          </a:p>
        </p:txBody>
      </p:sp>
      <p:sp>
        <p:nvSpPr>
          <p:cNvPr id="19" name="Shape 17"/>
          <p:cNvSpPr/>
          <p:nvPr/>
        </p:nvSpPr>
        <p:spPr>
          <a:xfrm>
            <a:off x="6217920" y="4151376"/>
            <a:ext cx="5394960" cy="2157984"/>
          </a:xfrm>
          <a:prstGeom prst="roundRect">
            <a:avLst>
              <a:gd name="adj" fmla="val 4237"/>
            </a:avLst>
          </a:prstGeom>
          <a:solidFill>
            <a:srgbClr val="FFFFFF"/>
          </a:solidFill>
          <a:ln w="12700">
            <a:solidFill>
              <a:srgbClr val="F1E2D9"/>
            </a:solidFill>
            <a:prstDash val="solid"/>
          </a:ln>
          <a:effectLst>
            <a:outerShdw sx="100000" sy="100000" kx="0" ky="0" algn="bl" rotWithShape="0" blurRad="101600" dist="38100" dir="5400000">
              <a:srgbClr val="2A1A20">
                <a:alpha val="12000"/>
              </a:srgbClr>
            </a:outerShdw>
          </a:effectLst>
        </p:spPr>
      </p:sp>
      <p:sp>
        <p:nvSpPr>
          <p:cNvPr id="20" name="Shape 18"/>
          <p:cNvSpPr/>
          <p:nvPr/>
        </p:nvSpPr>
        <p:spPr>
          <a:xfrm>
            <a:off x="6492240" y="4407408"/>
            <a:ext cx="365760" cy="365760"/>
          </a:xfrm>
          <a:prstGeom prst="ellipse">
            <a:avLst/>
          </a:prstGeom>
          <a:solidFill>
            <a:srgbClr val="DCF7F3"/>
          </a:solidFill>
          <a:ln/>
        </p:spPr>
      </p:sp>
      <p:sp>
        <p:nvSpPr>
          <p:cNvPr id="21" name="Text 19"/>
          <p:cNvSpPr/>
          <p:nvPr/>
        </p:nvSpPr>
        <p:spPr>
          <a:xfrm>
            <a:off x="6492240" y="4407408"/>
            <a:ext cx="365760" cy="365760"/>
          </a:xfrm>
          <a:prstGeom prst="rect">
            <a:avLst/>
          </a:prstGeom>
          <a:noFill/>
          <a:ln/>
        </p:spPr>
        <p:txBody>
          <a:bodyPr wrap="square" rtlCol="0" anchor="ctr"/>
          <a:lstStyle/>
          <a:p>
            <a:pPr algn="ctr" indent="0" marL="0">
              <a:buNone/>
            </a:pPr>
            <a:r>
              <a:rPr lang="en-US" sz="1500" b="1" dirty="0">
                <a:solidFill>
                  <a:srgbClr val="15B8A6"/>
                </a:solidFill>
                <a:latin typeface="Calibri" pitchFamily="34" charset="0"/>
                <a:ea typeface="Calibri" pitchFamily="34" charset="-122"/>
                <a:cs typeface="Calibri" pitchFamily="34" charset="-120"/>
              </a:rPr>
              <a:t>?</a:t>
            </a:r>
            <a:endParaRPr lang="en-US" sz="1500" dirty="0"/>
          </a:p>
        </p:txBody>
      </p:sp>
      <p:sp>
        <p:nvSpPr>
          <p:cNvPr id="22" name="Text 20"/>
          <p:cNvSpPr/>
          <p:nvPr/>
        </p:nvSpPr>
        <p:spPr>
          <a:xfrm>
            <a:off x="6995160" y="4389120"/>
            <a:ext cx="4434840" cy="411480"/>
          </a:xfrm>
          <a:prstGeom prst="rect">
            <a:avLst/>
          </a:prstGeom>
          <a:noFill/>
          <a:ln/>
        </p:spPr>
        <p:txBody>
          <a:bodyPr wrap="square" lIns="0" tIns="0" rIns="0" bIns="0" rtlCol="0" anchor="ctr"/>
          <a:lstStyle/>
          <a:p>
            <a:pPr indent="0" marL="0">
              <a:buNone/>
            </a:pPr>
            <a:r>
              <a:rPr lang="en-US" sz="1550" b="1" dirty="0">
                <a:solidFill>
                  <a:srgbClr val="2A1A20"/>
                </a:solidFill>
                <a:latin typeface="Calibri" pitchFamily="34" charset="0"/>
                <a:ea typeface="Calibri" pitchFamily="34" charset="-122"/>
                <a:cs typeface="Calibri" pitchFamily="34" charset="-120"/>
              </a:rPr>
              <a:t>Ask yourself</a:t>
            </a:r>
            <a:endParaRPr lang="en-US" sz="1550" dirty="0"/>
          </a:p>
        </p:txBody>
      </p:sp>
      <p:sp>
        <p:nvSpPr>
          <p:cNvPr id="23" name="Text 21"/>
          <p:cNvSpPr/>
          <p:nvPr/>
        </p:nvSpPr>
        <p:spPr>
          <a:xfrm>
            <a:off x="6510528" y="4901184"/>
            <a:ext cx="4828032" cy="1243584"/>
          </a:xfrm>
          <a:prstGeom prst="rect">
            <a:avLst/>
          </a:prstGeom>
          <a:noFill/>
          <a:ln/>
        </p:spPr>
        <p:txBody>
          <a:bodyPr wrap="square" lIns="0" tIns="0" rIns="0" bIns="0" rtlCol="0" anchor="t"/>
          <a:lstStyle/>
          <a:p>
            <a:pPr indent="0" marL="0">
              <a:lnSpc>
                <a:spcPts val="1600"/>
              </a:lnSpc>
              <a:buNone/>
            </a:pPr>
            <a:r>
              <a:rPr lang="en-US" sz="1250" dirty="0">
                <a:solidFill>
                  <a:srgbClr val="574047"/>
                </a:solidFill>
                <a:latin typeface="Calibri" pitchFamily="34" charset="0"/>
                <a:ea typeface="Calibri" pitchFamily="34" charset="-122"/>
                <a:cs typeface="Calibri" pitchFamily="34" charset="-120"/>
              </a:rPr>
              <a:t>What should /health do if the model file is missing? (Answer: fail — a container that cannot predict should not receive traffic.)</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8961120" y="3291840"/>
            <a:ext cx="5486400" cy="5486400"/>
          </a:xfrm>
          <a:prstGeom prst="ellipse">
            <a:avLst/>
          </a:prstGeom>
          <a:solidFill>
            <a:srgbClr val="15B8A6">
              <a:alpha val="26000"/>
            </a:srgbClr>
          </a:solidFill>
          <a:ln/>
        </p:spPr>
      </p:sp>
      <p:sp>
        <p:nvSpPr>
          <p:cNvPr id="3" name="Text 1"/>
          <p:cNvSpPr/>
          <p:nvPr/>
        </p:nvSpPr>
        <p:spPr>
          <a:xfrm>
            <a:off x="548640" y="77724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YOUR TURN  ·  ~5 MIN · PAIRS</a:t>
            </a:r>
            <a:endParaRPr lang="en-US" sz="1200" dirty="0"/>
          </a:p>
        </p:txBody>
      </p:sp>
      <p:sp>
        <p:nvSpPr>
          <p:cNvPr id="4" name="Text 2"/>
          <p:cNvSpPr/>
          <p:nvPr/>
        </p:nvSpPr>
        <p:spPr>
          <a:xfrm>
            <a:off x="548640" y="1097280"/>
            <a:ext cx="10789920" cy="914400"/>
          </a:xfrm>
          <a:prstGeom prst="rect">
            <a:avLst/>
          </a:prstGeom>
          <a:noFill/>
          <a:ln/>
        </p:spPr>
        <p:txBody>
          <a:bodyPr wrap="square" lIns="0" tIns="0" rIns="0" bIns="0" rtlCol="0" anchor="ctr"/>
          <a:lstStyle/>
          <a:p>
            <a:pPr indent="0" marL="0">
              <a:buNone/>
            </a:pPr>
            <a:r>
              <a:rPr lang="en-US" sz="3600" b="1" spc="-50" kern="0" dirty="0">
                <a:solidFill>
                  <a:srgbClr val="FFFFFF"/>
                </a:solidFill>
                <a:latin typeface="Calibri" pitchFamily="34" charset="0"/>
                <a:ea typeface="Calibri" pitchFamily="34" charset="-122"/>
                <a:cs typeface="Calibri" pitchFamily="34" charset="-120"/>
              </a:rPr>
              <a:t>Write the API contract before you write code</a:t>
            </a:r>
            <a:endParaRPr lang="en-US" sz="3600" dirty="0"/>
          </a:p>
        </p:txBody>
      </p:sp>
      <p:sp>
        <p:nvSpPr>
          <p:cNvPr id="5" name="Text 3"/>
          <p:cNvSpPr/>
          <p:nvPr/>
        </p:nvSpPr>
        <p:spPr>
          <a:xfrm>
            <a:off x="548640" y="2148840"/>
            <a:ext cx="10424160" cy="1280160"/>
          </a:xfrm>
          <a:prstGeom prst="rect">
            <a:avLst/>
          </a:prstGeom>
          <a:noFill/>
          <a:ln/>
        </p:spPr>
        <p:txBody>
          <a:bodyPr wrap="square" rtlCol="0" anchor="t"/>
          <a:lstStyle/>
          <a:p>
            <a:pPr indent="0" marL="0">
              <a:lnSpc>
                <a:spcPts val="2500"/>
              </a:lnSpc>
              <a:buNone/>
            </a:pPr>
            <a:r>
              <a:rPr lang="en-US" sz="1700" dirty="0">
                <a:solidFill>
                  <a:srgbClr val="EAD9CE"/>
                </a:solidFill>
                <a:latin typeface="Calibri" pitchFamily="34" charset="0"/>
                <a:ea typeface="Calibri" pitchFamily="34" charset="-122"/>
                <a:cs typeface="Calibri" pitchFamily="34" charset="-120"/>
              </a:rPr>
              <a:t>On paper, define your loan model's contract. Writing it down is how you find ambiguities before they become bugs.</a:t>
            </a:r>
            <a:endParaRPr lang="en-US" sz="1700" dirty="0"/>
          </a:p>
        </p:txBody>
      </p:sp>
      <p:sp>
        <p:nvSpPr>
          <p:cNvPr id="6" name="Text 4"/>
          <p:cNvSpPr/>
          <p:nvPr/>
        </p:nvSpPr>
        <p:spPr>
          <a:xfrm>
            <a:off x="548640" y="3840480"/>
            <a:ext cx="10058400" cy="274320"/>
          </a:xfrm>
          <a:prstGeom prst="rect">
            <a:avLst/>
          </a:prstGeom>
          <a:noFill/>
          <a:ln/>
        </p:spPr>
        <p:txBody>
          <a:bodyPr wrap="square" lIns="0" tIns="0" rIns="0" bIns="0" rtlCol="0" anchor="ctr"/>
          <a:lstStyle/>
          <a:p>
            <a:pPr indent="0" marL="0">
              <a:buNone/>
            </a:pPr>
            <a:r>
              <a:rPr lang="en-US" sz="1200" b="1" spc="200" kern="0" dirty="0">
                <a:solidFill>
                  <a:srgbClr val="15B8A6"/>
                </a:solidFill>
                <a:latin typeface="Calibri" pitchFamily="34" charset="0"/>
                <a:ea typeface="Calibri" pitchFamily="34" charset="-122"/>
                <a:cs typeface="Calibri" pitchFamily="34" charset="-120"/>
              </a:rPr>
              <a:t>ON THE SITE</a:t>
            </a:r>
            <a:endParaRPr lang="en-US" sz="1200" dirty="0"/>
          </a:p>
        </p:txBody>
      </p:sp>
      <p:sp>
        <p:nvSpPr>
          <p:cNvPr id="7" name="Text 5"/>
          <p:cNvSpPr/>
          <p:nvPr/>
        </p:nvSpPr>
        <p:spPr>
          <a:xfrm>
            <a:off x="548640" y="4160520"/>
            <a:ext cx="10424160" cy="1828800"/>
          </a:xfrm>
          <a:prstGeom prst="rect">
            <a:avLst/>
          </a:prstGeom>
          <a:noFill/>
          <a:ln/>
        </p:spPr>
        <p:txBody>
          <a:bodyPr wrap="square" rtlCol="0" anchor="t"/>
          <a:lstStyle/>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Inputs: every field, type, and valid range</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Output: 0/1, a probability, or both? What does the consumer need?</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Failure: which status code for missing field, wild value, unloaded model?</a:t>
            </a:r>
            <a:endParaRPr lang="en-US" sz="1500" dirty="0"/>
          </a:p>
          <a:p>
            <a:pPr marL="177800" indent="-177800">
              <a:lnSpc>
                <a:spcPts val="2000"/>
              </a:lnSpc>
              <a:spcAft>
                <a:spcPts val="700"/>
              </a:spcAft>
              <a:buSzPct val="100000"/>
              <a:buChar char="•"/>
            </a:pPr>
            <a:r>
              <a:rPr lang="en-US" sz="1500" dirty="0">
                <a:solidFill>
                  <a:srgbClr val="F5EAE2"/>
                </a:solidFill>
                <a:latin typeface="Calibri" pitchFamily="34" charset="0"/>
                <a:ea typeface="Calibri" pitchFamily="34" charset="-122"/>
                <a:cs typeface="Calibri" pitchFamily="34" charset="-120"/>
              </a:rPr>
              <a:t>The awkward one: if credit_score is unknown, reject or default? Decide NOW</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058400" cy="274320"/>
          </a:xfrm>
          <a:prstGeom prst="rect">
            <a:avLst/>
          </a:prstGeom>
          <a:noFill/>
          <a:ln/>
        </p:spPr>
        <p:txBody>
          <a:bodyPr wrap="square" lIns="0" tIns="0" rIns="0" bIns="0" rtlCol="0" anchor="ctr"/>
          <a:lstStyle/>
          <a:p>
            <a:pPr indent="0" marL="0">
              <a:buNone/>
            </a:pPr>
            <a:r>
              <a:rPr lang="en-US" sz="1200" b="1" spc="250" kern="0" dirty="0">
                <a:solidFill>
                  <a:srgbClr val="EE5A3A"/>
                </a:solidFill>
                <a:latin typeface="Calibri" pitchFamily="34" charset="0"/>
                <a:ea typeface="Calibri" pitchFamily="34" charset="-122"/>
                <a:cs typeface="Calibri" pitchFamily="34" charset="-120"/>
              </a:rPr>
              <a:t>BEFORE YOU START</a:t>
            </a:r>
            <a:endParaRPr lang="en-US" sz="1200" dirty="0"/>
          </a:p>
        </p:txBody>
      </p:sp>
      <p:sp>
        <p:nvSpPr>
          <p:cNvPr id="3" name="Text 1"/>
          <p:cNvSpPr/>
          <p:nvPr/>
        </p:nvSpPr>
        <p:spPr>
          <a:xfrm>
            <a:off x="548640" y="713232"/>
            <a:ext cx="11064240" cy="822960"/>
          </a:xfrm>
          <a:prstGeom prst="rect">
            <a:avLst/>
          </a:prstGeom>
          <a:noFill/>
          <a:ln/>
        </p:spPr>
        <p:txBody>
          <a:bodyPr wrap="square" lIns="0" tIns="0" rIns="0" bIns="0" rtlCol="0" anchor="ctr"/>
          <a:lstStyle/>
          <a:p>
            <a:pPr indent="0" marL="0">
              <a:buNone/>
            </a:pPr>
            <a:r>
              <a:rPr lang="en-US" sz="3100" b="1" spc="-50" kern="0" dirty="0">
                <a:solidFill>
                  <a:srgbClr val="2A1A20"/>
                </a:solidFill>
                <a:latin typeface="Calibri" pitchFamily="34" charset="0"/>
                <a:ea typeface="Calibri" pitchFamily="34" charset="-122"/>
                <a:cs typeface="Calibri" pitchFamily="34" charset="-120"/>
              </a:rPr>
              <a:t>What you will actually do in Lab 2</a:t>
            </a:r>
            <a:endParaRPr lang="en-US" sz="3100" dirty="0"/>
          </a:p>
        </p:txBody>
      </p:sp>
      <p:sp>
        <p:nvSpPr>
          <p:cNvPr id="4" name="Text 2"/>
          <p:cNvSpPr/>
          <p:nvPr/>
        </p:nvSpPr>
        <p:spPr>
          <a:xfrm>
            <a:off x="548640" y="1737360"/>
            <a:ext cx="6537960" cy="4572000"/>
          </a:xfrm>
          <a:prstGeom prst="rect">
            <a:avLst/>
          </a:prstGeom>
          <a:noFill/>
          <a:ln/>
        </p:spPr>
        <p:txBody>
          <a:bodyPr wrap="square" lIns="0" tIns="0" rIns="0" bIns="0" rtlCol="0" anchor="t"/>
          <a:lstStyle/>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1 · Load the registered model</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joblib.load at startup — the model YOU registered yesterday. That is the handoff working.</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2 · Add /health</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200 plus a flag saying the model loaded. Test it first — it is the easiest win.</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3 · Add /predict with a schema</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A Pydantic class for the request. Build features with row_to_frame(). Return JSON.</a:t>
            </a:r>
            <a:endParaRPr lang="en-US" sz="1550" dirty="0"/>
          </a:p>
          <a:p>
            <a:pPr indent="0" marL="0">
              <a:lnSpc>
                <a:spcPts val="1700"/>
              </a:lnSpc>
              <a:spcAft>
                <a:spcPts val="200"/>
              </a:spcAft>
              <a:buNone/>
            </a:pPr>
            <a:r>
              <a:rPr lang="en-US" sz="1550" b="1" dirty="0">
                <a:solidFill>
                  <a:srgbClr val="2A1A20"/>
                </a:solidFill>
                <a:latin typeface="Calibri" pitchFamily="34" charset="0"/>
                <a:ea typeface="Calibri" pitchFamily="34" charset="-122"/>
                <a:cs typeface="Calibri" pitchFamily="34" charset="-120"/>
              </a:rPr>
              <a:t>4 · Break it on purpose</a:t>
            </a:r>
            <a:endParaRPr lang="en-US" sz="1550" dirty="0"/>
          </a:p>
          <a:p>
            <a:pPr indent="0" marL="0">
              <a:lnSpc>
                <a:spcPts val="1700"/>
              </a:lnSpc>
              <a:spcAft>
                <a:spcPts val="1300"/>
              </a:spcAft>
              <a:buNone/>
            </a:pPr>
            <a:r>
              <a:rPr lang="en-US" sz="1300" dirty="0">
                <a:solidFill>
                  <a:srgbClr val="574047"/>
                </a:solidFill>
                <a:latin typeface="Calibri" pitchFamily="34" charset="0"/>
                <a:ea typeface="Calibri" pitchFamily="34" charset="-122"/>
                <a:cs typeface="Calibri" pitchFamily="34" charset="-120"/>
              </a:rPr>
              <a:t>Send a request with a missing field and confirm you get a 422, not a 500. That is the deliverable that proves you understood it.</a:t>
            </a:r>
            <a:endParaRPr lang="en-US" sz="1550" dirty="0"/>
          </a:p>
        </p:txBody>
      </p:sp>
      <p:sp>
        <p:nvSpPr>
          <p:cNvPr id="5" name="Shape 3"/>
          <p:cNvSpPr/>
          <p:nvPr/>
        </p:nvSpPr>
        <p:spPr>
          <a:xfrm>
            <a:off x="7452360" y="1737360"/>
            <a:ext cx="4160520" cy="4572000"/>
          </a:xfrm>
          <a:prstGeom prst="roundRect">
            <a:avLst>
              <a:gd name="adj" fmla="val 2198"/>
            </a:avLst>
          </a:prstGeom>
          <a:solidFill>
            <a:srgbClr val="FDECE4"/>
          </a:solidFill>
          <a:ln/>
          <a:effectLst>
            <a:outerShdw sx="100000" sy="100000" kx="0" ky="0" algn="bl" rotWithShape="0" blurRad="101600" dist="38100" dir="5400000">
              <a:srgbClr val="2A1A20">
                <a:alpha val="12000"/>
              </a:srgbClr>
            </a:outerShdw>
          </a:effectLst>
        </p:spPr>
      </p:sp>
      <p:sp>
        <p:nvSpPr>
          <p:cNvPr id="6" name="Shape 4"/>
          <p:cNvSpPr/>
          <p:nvPr/>
        </p:nvSpPr>
        <p:spPr>
          <a:xfrm>
            <a:off x="7726680" y="2011680"/>
            <a:ext cx="420624" cy="420624"/>
          </a:xfrm>
          <a:prstGeom prst="ellipse">
            <a:avLst/>
          </a:prstGeom>
          <a:solidFill>
            <a:srgbClr val="EE5A3A"/>
          </a:solidFill>
          <a:ln/>
        </p:spPr>
      </p:sp>
      <p:sp>
        <p:nvSpPr>
          <p:cNvPr id="7" name="Text 5"/>
          <p:cNvSpPr/>
          <p:nvPr/>
        </p:nvSpPr>
        <p:spPr>
          <a:xfrm>
            <a:off x="7726680" y="1993392"/>
            <a:ext cx="420624" cy="420624"/>
          </a:xfrm>
          <a:prstGeom prst="rect">
            <a:avLst/>
          </a:prstGeom>
          <a:noFill/>
          <a:ln/>
        </p:spPr>
        <p:txBody>
          <a:bodyPr wrap="square" rtlCol="0" anchor="ctr"/>
          <a:lstStyle/>
          <a:p>
            <a:pPr algn="ctr" indent="0" marL="0">
              <a:buNone/>
            </a:pPr>
            <a:r>
              <a:rPr lang="en-US" sz="1700" b="1" i="1" dirty="0">
                <a:solidFill>
                  <a:srgbClr val="FFFFFF"/>
                </a:solidFill>
                <a:latin typeface="Calibri" pitchFamily="34" charset="0"/>
                <a:ea typeface="Calibri" pitchFamily="34" charset="-122"/>
                <a:cs typeface="Calibri" pitchFamily="34" charset="-120"/>
              </a:rPr>
              <a:t>i</a:t>
            </a:r>
            <a:endParaRPr lang="en-US" sz="1700" dirty="0"/>
          </a:p>
        </p:txBody>
      </p:sp>
      <p:sp>
        <p:nvSpPr>
          <p:cNvPr id="8" name="Text 6"/>
          <p:cNvSpPr/>
          <p:nvPr/>
        </p:nvSpPr>
        <p:spPr>
          <a:xfrm>
            <a:off x="8275320" y="2011680"/>
            <a:ext cx="3108960" cy="420624"/>
          </a:xfrm>
          <a:prstGeom prst="rect">
            <a:avLst/>
          </a:prstGeom>
          <a:noFill/>
          <a:ln/>
        </p:spPr>
        <p:txBody>
          <a:bodyPr wrap="square" lIns="0" tIns="0" rIns="0" bIns="0" rtlCol="0" anchor="ctr"/>
          <a:lstStyle/>
          <a:p>
            <a:pPr indent="0" marL="0">
              <a:buNone/>
            </a:pPr>
            <a:r>
              <a:rPr lang="en-US" sz="1200" b="1" spc="120" kern="0" dirty="0">
                <a:solidFill>
                  <a:srgbClr val="D5472B"/>
                </a:solidFill>
                <a:latin typeface="Calibri" pitchFamily="34" charset="0"/>
                <a:ea typeface="Calibri" pitchFamily="34" charset="-122"/>
                <a:cs typeface="Calibri" pitchFamily="34" charset="-120"/>
              </a:rPr>
              <a:t>DONE LOOKS LIKE</a:t>
            </a:r>
            <a:endParaRPr lang="en-US" sz="1200" dirty="0"/>
          </a:p>
        </p:txBody>
      </p:sp>
      <p:sp>
        <p:nvSpPr>
          <p:cNvPr id="9" name="Text 7"/>
          <p:cNvSpPr/>
          <p:nvPr/>
        </p:nvSpPr>
        <p:spPr>
          <a:xfrm>
            <a:off x="7744968" y="2633472"/>
            <a:ext cx="3593592" cy="3520440"/>
          </a:xfrm>
          <a:prstGeom prst="rect">
            <a:avLst/>
          </a:prstGeom>
          <a:noFill/>
          <a:ln/>
        </p:spPr>
        <p:txBody>
          <a:bodyPr wrap="square" lIns="0" tIns="0" rIns="0" bIns="0" rtlCol="0" anchor="t"/>
          <a:lstStyle/>
          <a:p>
            <a:pPr indent="0" marL="0">
              <a:lnSpc>
                <a:spcPts val="1800"/>
              </a:lnSpc>
              <a:buNone/>
            </a:pPr>
            <a:r>
              <a:rPr lang="en-US" sz="1300" dirty="0">
                <a:solidFill>
                  <a:srgbClr val="2A1A20"/>
                </a:solidFill>
                <a:latin typeface="Calibri" pitchFamily="34" charset="0"/>
                <a:ea typeface="Calibri" pitchFamily="34" charset="-122"/>
                <a:cs typeface="Calibri" pitchFamily="34" charset="-120"/>
              </a:rPr>
              <a:t>/docs open in the browser, a successful prediction, and a screenshot of a deliberate 422. Green sticky when your API answers a real prediction.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1A20"/>
        </a:solidFill>
      </p:bgPr>
    </p:bg>
    <p:spTree>
      <p:nvGrpSpPr>
        <p:cNvPr id="1" name=""/>
        <p:cNvGrpSpPr/>
        <p:nvPr/>
      </p:nvGrpSpPr>
      <p:grpSpPr>
        <a:xfrm>
          <a:off x="0" y="0"/>
          <a:ext cx="0" cy="0"/>
          <a:chOff x="0" y="0"/>
          <a:chExt cx="0" cy="0"/>
        </a:xfrm>
      </p:grpSpPr>
      <p:sp>
        <p:nvSpPr>
          <p:cNvPr id="2" name="Shape 0"/>
          <p:cNvSpPr/>
          <p:nvPr/>
        </p:nvSpPr>
        <p:spPr>
          <a:xfrm>
            <a:off x="-1828800" y="-1828800"/>
            <a:ext cx="5029200" cy="5029200"/>
          </a:xfrm>
          <a:prstGeom prst="ellipse">
            <a:avLst/>
          </a:prstGeom>
          <a:solidFill>
            <a:srgbClr val="EE5A3A">
              <a:alpha val="24000"/>
            </a:srgbClr>
          </a:solidFill>
          <a:ln/>
        </p:spPr>
      </p:sp>
      <p:sp>
        <p:nvSpPr>
          <p:cNvPr id="3" name="Shape 1"/>
          <p:cNvSpPr/>
          <p:nvPr/>
        </p:nvSpPr>
        <p:spPr>
          <a:xfrm>
            <a:off x="548640" y="640080"/>
            <a:ext cx="548640" cy="548640"/>
          </a:xfrm>
          <a:prstGeom prst="roundRect">
            <a:avLst>
              <a:gd name="adj" fmla="val 22000"/>
            </a:avLst>
          </a:prstGeom>
          <a:solidFill>
            <a:srgbClr val="EE5A3A"/>
          </a:solidFill>
          <a:ln/>
        </p:spPr>
      </p:sp>
      <p:sp>
        <p:nvSpPr>
          <p:cNvPr id="4" name="Text 2"/>
          <p:cNvSpPr/>
          <p:nvPr/>
        </p:nvSpPr>
        <p:spPr>
          <a:xfrm>
            <a:off x="548640" y="640080"/>
            <a:ext cx="548640" cy="548640"/>
          </a:xfrm>
          <a:prstGeom prst="rect">
            <a:avLst/>
          </a:prstGeom>
          <a:noFill/>
          <a:ln/>
        </p:spPr>
        <p:txBody>
          <a:bodyPr wrap="square" rtlCol="0" anchor="ctr"/>
          <a:lstStyle/>
          <a:p>
            <a:pPr algn="ctr" indent="0" marL="0">
              <a:buNone/>
            </a:pPr>
            <a:r>
              <a:rPr lang="en-US" sz="2280" b="1" dirty="0">
                <a:solidFill>
                  <a:srgbClr val="FFFFFF"/>
                </a:solidFill>
                <a:latin typeface="Calibri" pitchFamily="34" charset="0"/>
                <a:ea typeface="Calibri" pitchFamily="34" charset="-122"/>
                <a:cs typeface="Calibri" pitchFamily="34" charset="-120"/>
              </a:rPr>
              <a:t>VL</a:t>
            </a:r>
            <a:endParaRPr lang="en-US" sz="2280" dirty="0"/>
          </a:p>
        </p:txBody>
      </p:sp>
      <p:sp>
        <p:nvSpPr>
          <p:cNvPr id="5" name="Text 3"/>
          <p:cNvSpPr/>
          <p:nvPr/>
        </p:nvSpPr>
        <p:spPr>
          <a:xfrm>
            <a:off x="548640" y="1600200"/>
            <a:ext cx="10058400" cy="274320"/>
          </a:xfrm>
          <a:prstGeom prst="rect">
            <a:avLst/>
          </a:prstGeom>
          <a:noFill/>
          <a:ln/>
        </p:spPr>
        <p:txBody>
          <a:bodyPr wrap="square" lIns="0" tIns="0" rIns="0" bIns="0" rtlCol="0" anchor="ctr"/>
          <a:lstStyle/>
          <a:p>
            <a:pPr indent="0" marL="0">
              <a:buNone/>
            </a:pPr>
            <a:r>
              <a:rPr lang="en-US" sz="1200" b="1" spc="250" kern="0" dirty="0">
                <a:solidFill>
                  <a:srgbClr val="15B8A6"/>
                </a:solidFill>
                <a:latin typeface="Calibri" pitchFamily="34" charset="0"/>
                <a:ea typeface="Calibri" pitchFamily="34" charset="-122"/>
                <a:cs typeface="Calibri" pitchFamily="34" charset="-120"/>
              </a:rPr>
              <a:t>RECAP</a:t>
            </a:r>
            <a:endParaRPr lang="en-US" sz="1200" dirty="0"/>
          </a:p>
        </p:txBody>
      </p:sp>
      <p:sp>
        <p:nvSpPr>
          <p:cNvPr id="6" name="Text 4"/>
          <p:cNvSpPr/>
          <p:nvPr/>
        </p:nvSpPr>
        <p:spPr>
          <a:xfrm>
            <a:off x="548640" y="1874520"/>
            <a:ext cx="10607040" cy="822960"/>
          </a:xfrm>
          <a:prstGeom prst="rect">
            <a:avLst/>
          </a:prstGeom>
          <a:noFill/>
          <a:ln/>
        </p:spPr>
        <p:txBody>
          <a:bodyPr wrap="square" lIns="0" tIns="0" rIns="0" bIns="0" rtlCol="0" anchor="ctr"/>
          <a:lstStyle/>
          <a:p>
            <a:pPr indent="0" marL="0">
              <a:buNone/>
            </a:pPr>
            <a:r>
              <a:rPr lang="en-US" sz="3000" b="1" spc="-50" kern="0" dirty="0">
                <a:solidFill>
                  <a:srgbClr val="FFFFFF"/>
                </a:solidFill>
                <a:latin typeface="Calibri" pitchFamily="34" charset="0"/>
                <a:ea typeface="Calibri" pitchFamily="34" charset="-122"/>
                <a:cs typeface="Calibri" pitchFamily="34" charset="-120"/>
              </a:rPr>
              <a:t>Module 3 in five lines</a:t>
            </a:r>
            <a:endParaRPr lang="en-US" sz="3000" dirty="0"/>
          </a:p>
        </p:txBody>
      </p:sp>
      <p:sp>
        <p:nvSpPr>
          <p:cNvPr id="7" name="Text 5"/>
          <p:cNvSpPr/>
          <p:nvPr/>
        </p:nvSpPr>
        <p:spPr>
          <a:xfrm>
            <a:off x="548640" y="2834640"/>
            <a:ext cx="10607040" cy="3383280"/>
          </a:xfrm>
          <a:prstGeom prst="rect">
            <a:avLst/>
          </a:prstGeom>
          <a:noFill/>
          <a:ln/>
        </p:spPr>
        <p:txBody>
          <a:bodyPr wrap="square" rtlCol="0" anchor="t"/>
          <a:lstStyle/>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A model is not a deliverable — a model plus a contract is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joblib for Python-to-Python; ONNX across a language or trust boundary</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Ship the bundle: artifact + pinned deps + shared feature code + contract</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Batch when nothing is waiting; online when a user or transaction is</a:t>
            </a:r>
            <a:endParaRPr lang="en-US" sz="1600" dirty="0"/>
          </a:p>
          <a:p>
            <a:pPr marL="203200" indent="-203200">
              <a:lnSpc>
                <a:spcPts val="2100"/>
              </a:lnSpc>
              <a:spcAft>
                <a:spcPts val="1000"/>
              </a:spcAft>
              <a:buSzPct val="100000"/>
              <a:buChar char="•"/>
            </a:pPr>
            <a:r>
              <a:rPr lang="en-US" sz="1600" dirty="0">
                <a:solidFill>
                  <a:srgbClr val="F5EAE2"/>
                </a:solidFill>
                <a:latin typeface="Calibri" pitchFamily="34" charset="0"/>
                <a:ea typeface="Calibri" pitchFamily="34" charset="-122"/>
                <a:cs typeface="Calibri" pitchFamily="34" charset="-120"/>
              </a:rPr>
              <a:t>FastAPI makes the contract executable — and load the model ONCE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2026-08-04T14:13:06Z</dcterms:created>
  <dcterms:modified xsi:type="dcterms:W3CDTF">2026-08-04T14:13:06Z</dcterms:modified>
</cp:coreProperties>
</file>