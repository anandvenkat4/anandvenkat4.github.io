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connecting back, not by starting fresh: 'Last session we said models rot three ways — drift, plumbing, and nobody watching. Drift we handle on day three. Today we fix the plumbing, and I give you the tool that ends the most expensive sentence in machine learning.' Then go straight to the next slide and say that sentence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then pause. Then: 'Hands up if this has happened to you.' Wait — most hands go up, including yours. Put your own hand up; it matters that they see this is normal. Then narrate the anatomy of it: 'You tried twenty things in a notebook. One worked beautifully. You didn't write down which. The cell got overwritten, the CSV got re-exported, a library upgraded itself — and the number is gone.' Then land it: 'This is the most expensive sentence in ML, and it is not because you are careless. It is because a notebook is not a process. Everything in the next twenty minutes exists to make that sentence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sounds like a virtue word, so make it mechanical: it is exactly three things. Same data, same code, same environment — and if any one of those floats, your result is not a result, it is an anecdote. Then the fourth card: the seed. Training is randomised — the train/test split, the initialisation, the sampling — so without a fixed seed the same data and code still give you a slightly different model every run. Now go to the site and open the three-runs sandbox. Run it with nothing ticked: three different F1 numbers from the same notebook. Then tick all three boxes and run again: identical, and the model loads on a colleague's machine. Say: 'Three ticks. That is the entire difference between an anecdote and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single most expensive plumbing bug, and the one I want them to remember by name: train/serve skew. Here is the setup — features get built twice in every normal project. Once when you train, and once when a live request comes in. Two code paths for the same idea. The moment those paths differ, the model receives an input it never learned on, and here is the cruel part: it does not crash. It returns a confident, wrong answer. Why does nobody catch it? Three reasons, and read them off: your tests pass, because they check the API returns 200 and predicts something — neither notices the number is wrong. Your offline metrics look fine, because evaluation runs on the training path and never sees the serving path. And no exception is raised, because a wrongly-scaled float is still a perfectly valid float. Python has no opinion about it. Now open the skew spotter and give them thirty seconds to find it themselves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fix is not discipline, it is structure — which matters, because discipline fails when a second engineer arrives. On the left is what everyone does: write the feature code in train.py, copy-paste it into the API, and the two copies drift apart the first time someone edits one. On the right is the fix: define the features once in a shared module, and have both training and serving import the same function. Then there is only one way a feature can be built, so skew is not something you have to remember to avoid — it becomes structurally impossible. Point out that this is exactly how the sample repo is built: src/features.py has row_to_frame, and both train.py and app/main.py import it. Tomorrow, when they build the API, tell them to notice they never rewrite the feature logic. Then send them to exercise one — four pipeline designs, pick the one that survives a second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one, four minutes. Four designs for building the same three features. Let them click and get the feedback. The two they are tempted by are copy-paste — because it feels fast — and 're-implement it in the API for latency', because it sounds like good engineering. Both fail, and the feedback explains why. When they are done, ask the room: 'Who picked the copy-paste one?' Some hands. Say: 'Good — that is the honest answer, and it is what most production code actually looks like. Now you know why it hurts.'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make 'I got 94% once' impossible? We stop relying on memory. An experiment tracker records three things automatically for every single run: the parameters you changed, the metrics you got, and the artifacts it produced — including the model file itself. Then you open a UI and every run you have ever done is sitting there, sortable. And the cost of this is almost nothing: log_param, log_metric, log_model inside a start_run block. Three lines. Show the code on the site page. Then say the thing that makes it click: 'This is not bureaucracy. It is the difference between choosing a model with evidence and choosing one because you vaguely remember it being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two, five minutes, and this is the one that teaches judgement rather than tooling. Four tracked runs. Most of the room will click the highest F1 — which is run-04 at 0.951 — and the feedback tells them it is fake: the target leaked into the features. Let that sting a little; it is a genuinely common bug and it always looks like a triumph. Then the more interesting comparison: run-01 has the best honest F1 by one thousandth of a point, but takes eighteen times longer to train and produces a model ninety times bigger. Run-02 is the right answer. Ask the room: 'Would you ship a model that is 0.001 better and 90 times bigger?' That conversation is exactly what tracking makes possible — and it is impossible if your results live in your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concept before the lab. Tracking records experiments; the registry is what you do with the winner. You promote a run's model into a named, versioned entry with a stage. Four things you get, and the fourth is the one that matters at 2 a.m.: rollback. Ask them — and this always gets a laugh of recognition — 'How many of you have a folder with model_final.joblib, model_final_v2.joblib, and model_final_v2_REAL.joblib?' Hands go up. 'That is a registry, implemented badly, by hand.' A real registry gives you a version number, a stage your API can point at, lineage back to the run that produced it, and a rollback that is one click instead of a retrain.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release you, let me tell you exactly what done looks like, because the worst lab is one where people are unsure when to stop. Four steps. One: run train.py once and open the MLflow UI so you see a run appear — that is the moment it becomes real. Two: change exactly one hyperparameter and run again. One thing, so the comparison means something; that is the entire scientific method in a lab. Three: iterate three or four times, and yes — try to beat the person next to you, we keep a leaderboard at the front. Four: register your best model as version one and screenshot the UI. Done looks like several comparable runs, one registered model, and a screenshot. Green sticky on your lid when the model is in the registry. Two rules while you work: read the whole error message including the line number, and ask your pair before you ask me. Off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then release them to the lab. Read the five lines. Then check understanding with two quick questions and actually wait for answers: 'What are the three parts of reproducibility?' and 'Why does train/serve skew not raise an error?' If those come back clean, you are done teaching for the morning — the rest of Day 1 is their hands on the keyboard. Remind them the MLflow UI is localhost port 5000, and that the Codespace forwards it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EE5A3A">
              <a:alpha val="30000"/>
            </a:srgbClr>
          </a:solidFill>
          <a:ln/>
        </p:spPr>
      </p:sp>
      <p:sp>
        <p:nvSpPr>
          <p:cNvPr id="3" name="Shape 1"/>
          <p:cNvSpPr/>
          <p:nvPr/>
        </p:nvSpPr>
        <p:spPr>
          <a:xfrm>
            <a:off x="-2194560" y="4572000"/>
            <a:ext cx="5120640" cy="5120640"/>
          </a:xfrm>
          <a:prstGeom prst="ellipse">
            <a:avLst/>
          </a:prstGeom>
          <a:solidFill>
            <a:srgbClr val="15B8A6">
              <a:alpha val="22000"/>
            </a:srgbClr>
          </a:solidFill>
          <a:ln/>
        </p:spPr>
      </p:sp>
      <p:sp>
        <p:nvSpPr>
          <p:cNvPr id="4" name="Shape 2"/>
          <p:cNvSpPr/>
          <p:nvPr/>
        </p:nvSpPr>
        <p:spPr>
          <a:xfrm>
            <a:off x="548640" y="640080"/>
            <a:ext cx="658368" cy="658368"/>
          </a:xfrm>
          <a:prstGeom prst="roundRect">
            <a:avLst>
              <a:gd name="adj" fmla="val 22000"/>
            </a:avLst>
          </a:prstGeom>
          <a:solidFill>
            <a:srgbClr val="EE5A3A"/>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2860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MODULE 2 · DAY 1</a:t>
            </a:r>
            <a:endParaRPr lang="en-US" sz="1200" dirty="0"/>
          </a:p>
        </p:txBody>
      </p:sp>
      <p:sp>
        <p:nvSpPr>
          <p:cNvPr id="7" name="Text 5"/>
          <p:cNvSpPr/>
          <p:nvPr/>
        </p:nvSpPr>
        <p:spPr>
          <a:xfrm>
            <a:off x="548640" y="2560320"/>
            <a:ext cx="10972800" cy="1828800"/>
          </a:xfrm>
          <a:prstGeom prst="rect">
            <a:avLst/>
          </a:prstGeom>
          <a:noFill/>
          <a:ln/>
        </p:spPr>
        <p:txBody>
          <a:bodyPr wrap="square" rtlCol="0" anchor="ctr"/>
          <a:lstStyle/>
          <a:p>
            <a:pPr indent="0" marL="0">
              <a:lnSpc>
                <a:spcPts val="4600"/>
              </a:lnSpc>
              <a:buNone/>
            </a:pPr>
            <a:r>
              <a:rPr lang="en-US" sz="4400" b="1" spc="-50" kern="0" dirty="0">
                <a:solidFill>
                  <a:srgbClr val="FFFFFF"/>
                </a:solidFill>
                <a:latin typeface="Calibri" pitchFamily="34" charset="0"/>
                <a:ea typeface="Calibri" pitchFamily="34" charset="-122"/>
                <a:cs typeface="Calibri" pitchFamily="34" charset="-120"/>
              </a:rPr>
              <a:t>Data, Features &amp; Tracking</a:t>
            </a:r>
            <a:endParaRPr lang="en-US" sz="4400" dirty="0"/>
          </a:p>
        </p:txBody>
      </p:sp>
      <p:sp>
        <p:nvSpPr>
          <p:cNvPr id="8" name="Text 6"/>
          <p:cNvSpPr/>
          <p:nvPr/>
        </p:nvSpPr>
        <p:spPr>
          <a:xfrm>
            <a:off x="548640" y="4526280"/>
            <a:ext cx="10058400" cy="1097280"/>
          </a:xfrm>
          <a:prstGeom prst="rect">
            <a:avLst/>
          </a:prstGeom>
          <a:noFill/>
          <a:ln/>
        </p:spPr>
        <p:txBody>
          <a:bodyPr wrap="square" rtlCol="0" anchor="ctr"/>
          <a:lstStyle/>
          <a:p>
            <a:pPr indent="0" marL="0">
              <a:lnSpc>
                <a:spcPts val="2500"/>
              </a:lnSpc>
              <a:buNone/>
            </a:pPr>
            <a:r>
              <a:rPr lang="en-US" sz="1800" dirty="0">
                <a:solidFill>
                  <a:srgbClr val="EAD9CE"/>
                </a:solidFill>
                <a:latin typeface="Calibri" pitchFamily="34" charset="0"/>
                <a:ea typeface="Calibri" pitchFamily="34" charset="-122"/>
                <a:cs typeface="Calibri" pitchFamily="34" charset="-120"/>
              </a:rPr>
              <a:t>Module 1 said models rot from drift, plumbing and blindness. Now we fix the plumbing — and end "I got 94% once."</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B8A69B"/>
                </a:solidFill>
                <a:latin typeface="Calibri" pitchFamily="34" charset="0"/>
                <a:ea typeface="Calibri" pitchFamily="34" charset="-122"/>
                <a:cs typeface="Calibri" pitchFamily="34" charset="-120"/>
              </a:rPr>
              <a:t>MLOps &amp; Model Deployment · Vel Tech · Dr. Venkateshwaran Loganathan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686800" y="-1828800"/>
            <a:ext cx="5029200" cy="5029200"/>
          </a:xfrm>
          <a:prstGeom prst="ellipse">
            <a:avLst/>
          </a:prstGeom>
          <a:solidFill>
            <a:srgbClr val="EE5A3A">
              <a:alpha val="24000"/>
            </a:srgbClr>
          </a:solidFill>
          <a:ln/>
        </p:spPr>
      </p:sp>
      <p:sp>
        <p:nvSpPr>
          <p:cNvPr id="3" name="Text 1"/>
          <p:cNvSpPr/>
          <p:nvPr/>
        </p:nvSpPr>
        <p:spPr>
          <a:xfrm>
            <a:off x="548640" y="10058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 HAVE ALL DONE THIS</a:t>
            </a:r>
            <a:endParaRPr lang="en-US" sz="1200" dirty="0"/>
          </a:p>
        </p:txBody>
      </p:sp>
      <p:sp>
        <p:nvSpPr>
          <p:cNvPr id="4" name="Text 2"/>
          <p:cNvSpPr/>
          <p:nvPr/>
        </p:nvSpPr>
        <p:spPr>
          <a:xfrm>
            <a:off x="548640" y="1554480"/>
            <a:ext cx="10789920" cy="2926080"/>
          </a:xfrm>
          <a:prstGeom prst="rect">
            <a:avLst/>
          </a:prstGeom>
          <a:noFill/>
          <a:ln/>
        </p:spPr>
        <p:txBody>
          <a:bodyPr wrap="square" rtlCol="0" anchor="t"/>
          <a:lstStyle/>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"I got 94% last Tuesday.</a:t>
            </a:r>
            <a:endParaRPr lang="en-US" sz="3400" dirty="0"/>
          </a:p>
          <a:p>
            <a:pPr indent="0" marL="0">
              <a:lnSpc>
                <a:spcPts val="4400"/>
              </a:lnSpc>
              <a:buNone/>
            </a:pPr>
            <a:endParaRPr lang="en-US" sz="3400" dirty="0"/>
          </a:p>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I can't get it again."</a:t>
            </a:r>
            <a:endParaRPr lang="en-US" sz="3400" dirty="0"/>
          </a:p>
        </p:txBody>
      </p:sp>
      <p:sp>
        <p:nvSpPr>
          <p:cNvPr id="5" name="Text 3"/>
          <p:cNvSpPr/>
          <p:nvPr/>
        </p:nvSpPr>
        <p:spPr>
          <a:xfrm>
            <a:off x="548640" y="4937760"/>
            <a:ext cx="10515600" cy="548640"/>
          </a:xfrm>
          <a:prstGeom prst="rect">
            <a:avLst/>
          </a:prstGeom>
          <a:noFill/>
          <a:ln/>
        </p:spPr>
        <p:txBody>
          <a:bodyPr wrap="square" rtlCol="0" anchor="ctr"/>
          <a:lstStyle/>
          <a:p>
            <a:pPr indent="0" marL="0">
              <a:buNone/>
            </a:pPr>
            <a:r>
              <a:rPr lang="en-US" sz="1400" i="1" dirty="0">
                <a:solidFill>
                  <a:srgbClr val="B8A69B"/>
                </a:solidFill>
                <a:latin typeface="Calibri" pitchFamily="34" charset="0"/>
                <a:ea typeface="Calibri" pitchFamily="34" charset="-122"/>
                <a:cs typeface="Calibri" pitchFamily="34" charset="-120"/>
              </a:rPr>
              <a:t>Not a talent problem. A process problem — and entirely fixable.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FOUNDATION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Reproducibility has exactly three parts</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Same data</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Version it. 'Which rows trained this model?' needs an exact answer — a hash, a snapshot, a date-stamped file.</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Same code</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Git, obviously — but also: no uncommitted notebook cells that only exist on your laptop.</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Same environment</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Pin versions: scikit-learn==1.5.2, not scikit-learn. A model pickled on 1.5 may refuse to load on 1.2.</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...plus the seed</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Training uses randomness — splits, initialisation, sampling. Fix the seed or the same inputs give different models.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EXPENSIVE BUG</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Train/serve skew</a:t>
            </a:r>
            <a:endParaRPr lang="en-US" sz="31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Features get built twice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Once in training, once when a live request arrives. Two code paths for the same idea.</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When they differ, the model gets an input it never learned on</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It does not crash. It returns a confident, wrong answer.</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Why nobody catches it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Tests pass (the API returns 200). Offline metrics are fine (they use the training path). No exception — a wrongly-scaled float is still a valid float.</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DO THIS NOW</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Open the skew spotter on the site and give them 30 seconds to find the bug before you click reveal. Someone always spots the missing minus-35 — let THEM say it, not you.</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FIX</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One definition, two callers</a:t>
            </a:r>
            <a:endParaRPr lang="en-US" sz="3100" dirty="0"/>
          </a:p>
        </p:txBody>
      </p:sp>
      <p:sp>
        <p:nvSpPr>
          <p:cNvPr id="4" name="Shape 2"/>
          <p:cNvSpPr/>
          <p:nvPr/>
        </p:nvSpPr>
        <p:spPr>
          <a:xfrm>
            <a:off x="548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41248" y="2011680"/>
            <a:ext cx="4764024" cy="438912"/>
          </a:xfrm>
          <a:prstGeom prst="roundRect">
            <a:avLst>
              <a:gd name="adj" fmla="val 16667"/>
            </a:avLst>
          </a:prstGeom>
          <a:solidFill>
            <a:srgbClr val="EE5A3A"/>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BROKEN — two implementations</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Feature code written in train.py</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Copy-pasted into app/main.py</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Someone edits one side</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...they drift apart silently</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This IS train/serve skew</a:t>
            </a:r>
            <a:endParaRPr lang="en-US" sz="1350" dirty="0"/>
          </a:p>
        </p:txBody>
      </p:sp>
      <p:sp>
        <p:nvSpPr>
          <p:cNvPr id="8" name="Shape 6"/>
          <p:cNvSpPr/>
          <p:nvPr/>
        </p:nvSpPr>
        <p:spPr>
          <a:xfrm>
            <a:off x="6263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6556248" y="2011680"/>
            <a:ext cx="4764024" cy="438912"/>
          </a:xfrm>
          <a:prstGeom prst="roundRect">
            <a:avLst>
              <a:gd name="adj" fmla="val 16667"/>
            </a:avLst>
          </a:prstGeom>
          <a:solidFill>
            <a:srgbClr val="15B8A6"/>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 one shared function</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src/features.py defines row_to_frame()</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train.py imports it</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app/main.py imports it</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There is only ONE way a feature is built</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Skew becomes structurally impossible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YOUR TURN  ·  ~4 MIN</a:t>
            </a:r>
            <a:endParaRPr lang="en-US" sz="1200" dirty="0"/>
          </a:p>
        </p:txBody>
      </p:sp>
      <p:sp>
        <p:nvSpPr>
          <p:cNvPr id="4" name="Text 2"/>
          <p:cNvSpPr/>
          <p:nvPr/>
        </p:nvSpPr>
        <p:spPr>
          <a:xfrm>
            <a:off x="548640" y="1097280"/>
            <a:ext cx="1078992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Design the pipeline so skew is impossible</a:t>
            </a:r>
            <a:endParaRPr lang="en-US" sz="3600" dirty="0"/>
          </a:p>
        </p:txBody>
      </p:sp>
      <p:sp>
        <p:nvSpPr>
          <p:cNvPr id="5" name="Text 3"/>
          <p:cNvSpPr/>
          <p:nvPr/>
        </p:nvSpPr>
        <p:spPr>
          <a:xfrm>
            <a:off x="548640" y="2148840"/>
            <a:ext cx="10424160" cy="128016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Four designs for building the same three features. Only one still works when a colleague edits the code next month.</a:t>
            </a:r>
            <a:endParaRPr lang="en-US" sz="1700" dirty="0"/>
          </a:p>
        </p:txBody>
      </p:sp>
      <p:sp>
        <p:nvSpPr>
          <p:cNvPr id="6" name="Text 4"/>
          <p:cNvSpPr/>
          <p:nvPr/>
        </p:nvSpPr>
        <p:spPr>
          <a:xfrm>
            <a:off x="548640" y="384048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ON THE SITE</a:t>
            </a:r>
            <a:endParaRPr lang="en-US" sz="1200" dirty="0"/>
          </a:p>
        </p:txBody>
      </p:sp>
      <p:sp>
        <p:nvSpPr>
          <p:cNvPr id="7" name="Text 5"/>
          <p:cNvSpPr/>
          <p:nvPr/>
        </p:nvSpPr>
        <p:spPr>
          <a:xfrm>
            <a:off x="548640" y="4160520"/>
            <a:ext cx="10424160" cy="182880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Pick a design; it tells you what breaks</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Copy-paste and 're-implement for speed' both fail</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The winner is the shared-function design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TOOL</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Experiment tracking — your lab notebook, automatic</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P</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Parameters</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What you changed: n_estimators=200, max_depth=8, which features, which data version.</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M</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Metrics</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What you got: F1, accuracy, AUC, training time.</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A</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Artifacts</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What it produced: the model file itself, plots, a confusion matrix.</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3</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Three lines of MLflow</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start_run(), log_param(), log_metric(), log_model(). Then 'mlflow ui' and every run you have ever done is sortable in a browser.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YOUR TURN  ·  ~5 MIN</a:t>
            </a:r>
            <a:endParaRPr lang="en-US" sz="1200" dirty="0"/>
          </a:p>
        </p:txBody>
      </p:sp>
      <p:sp>
        <p:nvSpPr>
          <p:cNvPr id="4" name="Text 2"/>
          <p:cNvSpPr/>
          <p:nvPr/>
        </p:nvSpPr>
        <p:spPr>
          <a:xfrm>
            <a:off x="548640" y="1097280"/>
            <a:ext cx="1078992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Which run would you actually ship?</a:t>
            </a:r>
            <a:endParaRPr lang="en-US" sz="3600" dirty="0"/>
          </a:p>
        </p:txBody>
      </p:sp>
      <p:sp>
        <p:nvSpPr>
          <p:cNvPr id="5" name="Text 3"/>
          <p:cNvSpPr/>
          <p:nvPr/>
        </p:nvSpPr>
        <p:spPr>
          <a:xfrm>
            <a:off x="548640" y="2148840"/>
            <a:ext cx="10424160" cy="128016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Four tracked runs. The highest F1 is not automatically the answer — and one of those numbers is a lie.</a:t>
            </a:r>
            <a:endParaRPr lang="en-US" sz="1700" dirty="0"/>
          </a:p>
        </p:txBody>
      </p:sp>
      <p:sp>
        <p:nvSpPr>
          <p:cNvPr id="6" name="Text 4"/>
          <p:cNvSpPr/>
          <p:nvPr/>
        </p:nvSpPr>
        <p:spPr>
          <a:xfrm>
            <a:off x="548640" y="384048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ON THE SITE</a:t>
            </a:r>
            <a:endParaRPr lang="en-US" sz="1200" dirty="0"/>
          </a:p>
        </p:txBody>
      </p:sp>
      <p:sp>
        <p:nvSpPr>
          <p:cNvPr id="7" name="Text 5"/>
          <p:cNvSpPr/>
          <p:nvPr/>
        </p:nvSpPr>
        <p:spPr>
          <a:xfrm>
            <a:off x="548640" y="4160520"/>
            <a:ext cx="10424160" cy="182880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run-01: +0.001 F1 for 18× the training time and 90× the size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run-02: the boring, correct production choice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run-04: F1 = 0.951 because the target leaked into the features</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Ask WHY a run jumped before you trust it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NEXT STEP</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The Model Registry — from 'a file' to 'a version'</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V</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Version</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loan-default v3: an immutable, referenceable thing. Not model_final_v2_REAL.joblib.</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S</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Stage</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Staging → Production → Archived. Your API asks for 'Production' and gets whatever that currently means.</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L</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Lineage</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Each version points back at the run that made it — params, metrics, data. Auditable.</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Rollback</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A bad release becomes 're-point Production at v2', not a panicked 2 a.m. retrain.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BEFORE YOU START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What you will actually do in Lab 1</a:t>
            </a:r>
            <a:endParaRPr lang="en-US" sz="31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1 · Run it once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python train.py — watch it log a run. Open the MLflow UI at localhost:5000.</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2 · Change ONE thing</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One hyperparameter. Run again. Now you have two runs to compare — that is the whole idea.</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3 · Iterate 3–4 times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Deliberately try to beat your neighbour's F1. We keep a leaderboard at the front.</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4 · Register your best</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Promote the winner as v1 in the Model Registry. Screenshot the UI for your report.</a:t>
            </a:r>
            <a:endParaRPr lang="en-US" sz="1550" dirty="0"/>
          </a:p>
        </p:txBody>
      </p:sp>
      <p:sp>
        <p:nvSpPr>
          <p:cNvPr id="5" name="Shape 3"/>
          <p:cNvSpPr/>
          <p:nvPr/>
        </p:nvSpPr>
        <p:spPr>
          <a:xfrm>
            <a:off x="7452360" y="1737360"/>
            <a:ext cx="4160520" cy="4572000"/>
          </a:xfrm>
          <a:prstGeom prst="roundRect">
            <a:avLst>
              <a:gd name="adj" fmla="val 2198"/>
            </a:avLst>
          </a:prstGeom>
          <a:solidFill>
            <a:srgbClr val="FDECE4"/>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EE5A3A"/>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D5472B"/>
                </a:solidFill>
                <a:latin typeface="Calibri" pitchFamily="34" charset="0"/>
                <a:ea typeface="Calibri" pitchFamily="34" charset="-122"/>
                <a:cs typeface="Calibri" pitchFamily="34" charset="-120"/>
              </a:rPr>
              <a:t>DONE LOOKS LIKE</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Several comparable runs in the UI, ONE registered model, and a screenshot. Green sticky on your laptop lid when your model is in the registry — that is my signal to come and look.</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EE5A3A">
              <a:alpha val="24000"/>
            </a:srgbClr>
          </a:solidFill>
          <a:ln/>
        </p:spPr>
      </p:sp>
      <p:sp>
        <p:nvSpPr>
          <p:cNvPr id="3" name="Shape 1"/>
          <p:cNvSpPr/>
          <p:nvPr/>
        </p:nvSpPr>
        <p:spPr>
          <a:xfrm>
            <a:off x="548640" y="640080"/>
            <a:ext cx="548640" cy="548640"/>
          </a:xfrm>
          <a:prstGeom prst="roundRect">
            <a:avLst>
              <a:gd name="adj" fmla="val 22000"/>
            </a:avLst>
          </a:prstGeom>
          <a:solidFill>
            <a:srgbClr val="EE5A3A"/>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2 in five lines</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Reproducibility = same data + same code + same environment. Seed, pin, version.</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Features are built twice — if the paths differ you get silent train/serve skew</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The fix is structural: ONE shared feature function, imported by both sides</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Track every run: params, metrics, artifacts — decide with evidence, not memory</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Register the winner: a version and a stage beat model_final_v2.joblib</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2026-08-03T06:11:55Z</dcterms:created>
  <dcterms:modified xsi:type="dcterms:W3CDTF">2026-08-03T06:11:55Z</dcterms:modified>
</cp:coreProperties>
</file>