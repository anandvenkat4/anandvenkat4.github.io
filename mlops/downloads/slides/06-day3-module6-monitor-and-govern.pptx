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closing the loop: 'On day one I showed you a company that lost three hundred million dollars because a model rotted in silence, and I said we would come back to it. Everything since then has been building the model. This module builds the alarm.'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here is the only question that matters from here on. Your model is live, it is answering real requests. How will you know when it stops working? And I want to rule out the answer most teams actually rely on, which is 'someone will notice.' Somebody noticing is not monitoring — it is luck with a delay. Ask the room: 'How would you find out, today, if your deployed model started being wrong?' Take answers. Most will say accuracy — and that is the perfect setup for the labels problem in three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Monitoring has four layers, and most teams do the first one and stop. Layer one, infrastructure: latency, errors, CPU, uptime. Necessary, and every web team already has it. Layer two, data: schema, missing values, feature distributions — is the input still what the model expects? Layer three, model: prediction distribution, confidence, and accuracy once labels arrive — is it still right? That is the layer teams skip, and it is where drift lives. And layer four, business: approval rate, revenue per decision, complaints — is it still creating value? Here is the sentence I want them to leave with, and put it strongly: your service can be one hundred percent up, forty milliseconds, zero errors — and completely wrong. Uptime tells you nothing about correctness. Open the four-layer explorer and click layer three so they see what skipping it costs.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constraint that shapes everything in ML monitoring. To measure accuracy you need ground truth — you need to know what actually happened. And for a loan model, that is twelve to twenty-four months away. So if your only monitoring is accuracy, you will find out you were wrong in 2028. That is not a monitoring strategy. So we watch what we can see immediately: the input distributions. The KS test compares this week's feature values against the training set and asks whether they come from the same distribution — p below 0.05 means they differ, and it needs no labels at all. PSI is the same idea, common in credit scoring, with thresholds around 0.1 and 0.25. And the panel: also watch your own prediction distribution, because it is free. If your approval rate jumps from twenty-two percent to sixty percent overnight, something has changed even if every individual input looks normal. Then open the KS calculator and drag the slider until p crosses 0.05.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where good engineers separate from panicking ones, so give it a moment. When your drift alarm fires, the instinct is to retrain on the newest data. Resist it. Drift and a broken data pipeline look absolutely identical to a statistical test — both show up as 'this distribution moved.' So if a sensor started reporting Celsius instead of Fahrenheit, and you retrain on that data, you have just taught the model the bug and made it permanent. The first move is always: check whether the change is real. Is this the world moving, or did somebody upstream change a column, a unit, a default value? Then run the decide-it exercise on the site — let someone pick 'retrain immediately' and read out why it is wrong. Note the fourth option too: rolling back does not help here, because the model did not change, the data did.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how often do you retrain? 'Regularly' is not a policy. There are four real options and the choice is driven almost entirely by one thing: how fast your labels arrive. Scheduled — monthly or quarterly — is the simplest thing that works, and for a stable problem it is genuinely fine. Performance-triggered retrains when measured quality drops, which needs fast labels: fraud, click prediction, anything where you learn the answer in days. Drift-triggered retrains when the inputs move, and that is your option when labels are slow or never arrive — loans, insurance, long-horizon outcomes. And manual review, where a human decides, which is right for a brand-new segment with no history, or a regulated decision where automation is a legal risk. Run the matching exercise; the loan case with eighteen-month labels is the one that makes the principle stick.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Governance, and I want to reframe it before they switch off: this is not bureaucracy. These are the four questions an auditor, a regulator, a journalist, or a very angry customer will eventually ask you — and 'I don't know' is an expensive answer. Lineage: which data and code produced the model that made this specific decision? You can answer that now, because you tracked runs and versioned models. Documentation: a one-page model card — intended use, training data, known limits, metrics broken down by subgroup. One page genuinely beats nothing. Fairness: is performance similar across groups, because a model can be ninety-two percent accurate overall and much worse for one segment, and the aggregate number hides it. And recourse: can a human appeal or override the decision — which for loans and hiring is increasingly a legal requirement, not a nicety. Then point out the good news: they have already built most of the machinery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minutes, in pairs, and tell them this becomes their lab work so it should be real. One metric per layer, and I want actual numbers, not 'monitor latency.' Their drift check: which feature, which test, which threshold, checked how often. Their retraining trigger, justified by their feedback delay — that is the reasoning I will ask about in the mock interview. And the fourth line, which everyone skips: who gets alerted, and what are they expected to do in the first ten minutes? Say the line on the site: an alarm nobody owns is just noise with extra steps. If they cannot name a person and a first action, they have built a dashboard, not a monitoring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Recap, then the last lab and the capstone. Read the five lines. Then take a breath and mark the moment, because they have earned it: 'Three days ago you had a notebook. You now have a tracked, versioned, containerized, automatically tested, publicly deployed, monitored model — and a repo with your name on it.' Then set up the finale: Lab six is the drift check, and then you demo the whole thing and I ask each of you one real interview question about what YOU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EE5A3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572000"/>
            <a:ext cx="5120640" cy="5120640"/>
          </a:xfrm>
          <a:prstGeom prst="ellipse">
            <a:avLst/>
          </a:prstGeom>
          <a:solidFill>
            <a:srgbClr val="15B8A6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EE5A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</a:t>
            </a:r>
            <a:endParaRPr lang="en-US" sz="2736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DAY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Drift &amp; Governance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45262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EA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model is live. This module is about the two years after the launch — the part that decides whether it stays useful or quietly rots.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&amp; Model Deployment · Vel Tech · Dr. Venkateshwaran Loganathan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A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029200" cy="5029200"/>
          </a:xfrm>
          <a:prstGeom prst="ellipse">
            <a:avLst/>
          </a:prstGeom>
          <a:solidFill>
            <a:srgbClr val="EE5A3A">
              <a:alpha val="2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058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CIRCLE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model is live.</a:t>
            </a:r>
            <a:endParaRPr lang="en-US" sz="3400" dirty="0"/>
          </a:p>
          <a:p>
            <a:pPr indent="0" marL="0">
              <a:lnSpc>
                <a:spcPts val="4400"/>
              </a:lnSpc>
              <a:buNone/>
            </a:pPr>
            <a:endParaRPr lang="en-US" sz="3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4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you know when it stops working?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4937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only question that matters long-term — and 'someone will notice' is not an answer.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E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spc="-50" kern="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 monitor one and stop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157984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F1E2D9"/>
            </a:solidFill>
            <a:prstDash val="solid"/>
          </a:ln>
          <a:effectLst>
            <a:outerShdw sx="100000" sy="100000" kx="0" ky="0" algn="bl" rotWithShape="0" blurRad="101600" dist="38100" dir="5400000">
              <a:srgbClr val="2A1A2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93392"/>
            <a:ext cx="365760" cy="365760"/>
          </a:xfrm>
          <a:prstGeom prst="ellipse">
            <a:avLst/>
          </a:prstGeom>
          <a:solidFill>
            <a:srgbClr val="FDECE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93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97510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41248" y="2487168"/>
            <a:ext cx="482803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7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error rate, CPU, uptime. Is the service alive and fast? Every web team already does this.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94960" cy="2157984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F1E2D9"/>
            </a:solidFill>
            <a:prstDash val="solid"/>
          </a:ln>
          <a:effectLst>
            <a:outerShdw sx="100000" sy="100000" kx="0" ky="0" algn="bl" rotWithShape="0" blurRad="101600" dist="38100" dir="5400000">
              <a:srgbClr val="2A1A2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93392"/>
            <a:ext cx="365760" cy="365760"/>
          </a:xfrm>
          <a:prstGeom prst="ellipse">
            <a:avLst/>
          </a:prstGeom>
          <a:solidFill>
            <a:srgbClr val="DCF7F3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93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95160" y="197510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10528" y="2487168"/>
            <a:ext cx="482803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7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missing values, feature distributions. Is the input still what the model expects?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51376"/>
            <a:ext cx="5394960" cy="2157984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F1E2D9"/>
            </a:solidFill>
            <a:prstDash val="solid"/>
          </a:ln>
          <a:effectLst>
            <a:outerShdw sx="100000" sy="100000" kx="0" ky="0" algn="bl" rotWithShape="0" blurRad="101600" dist="38100" dir="5400000">
              <a:srgbClr val="2A1A2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407408"/>
            <a:ext cx="365760" cy="365760"/>
          </a:xfrm>
          <a:prstGeom prst="ellipse">
            <a:avLst/>
          </a:prstGeom>
          <a:solidFill>
            <a:srgbClr val="FDECE4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407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43891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1248" y="4901184"/>
            <a:ext cx="482803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7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distribution, confidence, accuracy once labels arrive. Is it still RIGHT? This is the layer teams skip.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151376"/>
            <a:ext cx="5394960" cy="2157984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F1E2D9"/>
            </a:solidFill>
            <a:prstDash val="solid"/>
          </a:ln>
          <a:effectLst>
            <a:outerShdw sx="100000" sy="100000" kx="0" ky="0" algn="bl" rotWithShape="0" blurRad="101600" dist="38100" dir="5400000">
              <a:srgbClr val="2A1A2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407408"/>
            <a:ext cx="365760" cy="365760"/>
          </a:xfrm>
          <a:prstGeom prst="ellipse">
            <a:avLst/>
          </a:prstGeom>
          <a:solidFill>
            <a:srgbClr val="DCF7F3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407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43891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10528" y="4901184"/>
            <a:ext cx="482803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7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rate, revenue per decision, complaints. Is it still creating value? Only this layer catches a healthy model that is losing money.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E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spc="-50" kern="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cannot just measure accuracy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537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spcAft>
                <a:spcPts val="200"/>
              </a:spcAft>
              <a:buNone/>
            </a:pPr>
            <a:r>
              <a:rPr lang="en-US" sz="1550" b="1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needs ground truth</a:t>
            </a:r>
            <a:endParaRPr lang="en-US" sz="1550" dirty="0"/>
          </a:p>
          <a:p>
            <a:pPr indent="0" marL="0">
              <a:lnSpc>
                <a:spcPts val="17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57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know if a prediction was right, you need the outcome. For a loan, that is 12 to 24 months away.</a:t>
            </a:r>
            <a:endParaRPr lang="en-US" sz="1550" dirty="0"/>
          </a:p>
          <a:p>
            <a:pPr indent="0" marL="0">
              <a:lnSpc>
                <a:spcPts val="1700"/>
              </a:lnSpc>
              <a:spcAft>
                <a:spcPts val="200"/>
              </a:spcAft>
              <a:buNone/>
            </a:pPr>
            <a:r>
              <a:rPr lang="en-US" sz="1550" b="1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watch what you CAN see today</a:t>
            </a:r>
            <a:endParaRPr lang="en-US" sz="1550" dirty="0"/>
          </a:p>
          <a:p>
            <a:pPr indent="0" marL="0">
              <a:lnSpc>
                <a:spcPts val="17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57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distributions. If the data going in has moved, the model is being asked questions it was not trained for.</a:t>
            </a:r>
            <a:endParaRPr lang="en-US" sz="1550" dirty="0"/>
          </a:p>
          <a:p>
            <a:pPr indent="0" marL="0">
              <a:lnSpc>
                <a:spcPts val="1700"/>
              </a:lnSpc>
              <a:spcAft>
                <a:spcPts val="200"/>
              </a:spcAft>
              <a:buNone/>
            </a:pPr>
            <a:r>
              <a:rPr lang="en-US" sz="1550" b="1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test</a:t>
            </a:r>
            <a:endParaRPr lang="en-US" sz="1550" dirty="0"/>
          </a:p>
          <a:p>
            <a:pPr indent="0" marL="0">
              <a:lnSpc>
                <a:spcPts val="17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57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two samples of a continuous feature: 'same distribution?' Convention: p &lt; 0.05 means they differ. No labels needed.</a:t>
            </a:r>
            <a:endParaRPr lang="en-US" sz="1550" dirty="0"/>
          </a:p>
          <a:p>
            <a:pPr indent="0" marL="0">
              <a:lnSpc>
                <a:spcPts val="1700"/>
              </a:lnSpc>
              <a:spcAft>
                <a:spcPts val="200"/>
              </a:spcAft>
              <a:buNone/>
            </a:pPr>
            <a:r>
              <a:rPr lang="en-US" sz="1550" b="1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(Population Stability Index)</a:t>
            </a:r>
            <a:endParaRPr lang="en-US" sz="1550" dirty="0"/>
          </a:p>
          <a:p>
            <a:pPr indent="0" marL="0">
              <a:lnSpc>
                <a:spcPts val="17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57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credit scoring. Rough convention: under 0.1 stable, 0.1 to 0.25 moderate, above 0.25 significant.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452360" y="1737360"/>
            <a:ext cx="4160520" cy="4572000"/>
          </a:xfrm>
          <a:prstGeom prst="roundRect">
            <a:avLst>
              <a:gd name="adj" fmla="val 2198"/>
            </a:avLst>
          </a:prstGeom>
          <a:solidFill>
            <a:srgbClr val="DCF7F3"/>
          </a:solidFill>
          <a:ln/>
          <a:effectLst>
            <a:outerShdw sx="100000" sy="100000" kx="0" ky="0" algn="bl" rotWithShape="0" blurRad="101600" dist="38100" dir="5400000">
              <a:srgbClr val="2A1A2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26680" y="2011680"/>
            <a:ext cx="420624" cy="420624"/>
          </a:xfrm>
          <a:prstGeom prst="ellipse">
            <a:avLst/>
          </a:prstGeom>
          <a:solidFill>
            <a:srgbClr val="15B8A6"/>
          </a:solidFill>
          <a:ln/>
        </p:spPr>
      </p:sp>
      <p:sp>
        <p:nvSpPr>
          <p:cNvPr id="7" name="Text 5"/>
          <p:cNvSpPr/>
          <p:nvPr/>
        </p:nvSpPr>
        <p:spPr>
          <a:xfrm>
            <a:off x="7726680" y="19933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75320" y="20116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FREE, ALSO USEFUL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44968" y="2633472"/>
            <a:ext cx="359359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PREDICTION distribution. If your approval rate jumps from 22% to 60% overnight, something changed — even if every input looks individually normal.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029200" cy="5029200"/>
          </a:xfrm>
          <a:prstGeom prst="ellipse">
            <a:avLst/>
          </a:prstGeom>
          <a:solidFill>
            <a:srgbClr val="EE5A3A">
              <a:alpha val="2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058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ALARM FIRES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retrain first.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4937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and a broken data pipeline look identical to a statistical test. If a sensor started sending Celsius, retraining teaches the model the bug.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E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POLICY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spc="-50" kern="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how fast your labels arrive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157984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F1E2D9"/>
            </a:solidFill>
            <a:prstDash val="solid"/>
          </a:ln>
          <a:effectLst>
            <a:outerShdw sx="100000" sy="100000" kx="0" ky="0" algn="bl" rotWithShape="0" blurRad="101600" dist="38100" dir="5400000">
              <a:srgbClr val="2A1A2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93392"/>
            <a:ext cx="365760" cy="365760"/>
          </a:xfrm>
          <a:prstGeom prst="ellipse">
            <a:avLst/>
          </a:prstGeom>
          <a:solidFill>
            <a:srgbClr val="FDECE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93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97510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41248" y="2487168"/>
            <a:ext cx="482803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7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or quarterly. Simplest thing that works — fine for stable problems, and better than nothing.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94960" cy="2157984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F1E2D9"/>
            </a:solidFill>
            <a:prstDash val="solid"/>
          </a:ln>
          <a:effectLst>
            <a:outerShdw sx="100000" sy="100000" kx="0" ky="0" algn="bl" rotWithShape="0" blurRad="101600" dist="38100" dir="5400000">
              <a:srgbClr val="2A1A2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93392"/>
            <a:ext cx="365760" cy="365760"/>
          </a:xfrm>
          <a:prstGeom prst="ellipse">
            <a:avLst/>
          </a:prstGeom>
          <a:solidFill>
            <a:srgbClr val="DCF7F3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93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95160" y="197510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Performance-triggered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10528" y="2487168"/>
            <a:ext cx="482803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7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when measured quality drops below a threshold. Needs labels to arrive fast (fraud, clicks).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51376"/>
            <a:ext cx="5394960" cy="2157984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F1E2D9"/>
            </a:solidFill>
            <a:prstDash val="solid"/>
          </a:ln>
          <a:effectLst>
            <a:outerShdw sx="100000" sy="100000" kx="0" ky="0" algn="bl" rotWithShape="0" blurRad="101600" dist="38100" dir="5400000">
              <a:srgbClr val="2A1A2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407408"/>
            <a:ext cx="365760" cy="365760"/>
          </a:xfrm>
          <a:prstGeom prst="ellipse">
            <a:avLst/>
          </a:prstGeom>
          <a:solidFill>
            <a:srgbClr val="FDECE4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407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43891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Drift-triggered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1248" y="4901184"/>
            <a:ext cx="482803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7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when input distributions move. Use when labels are slow or absent (loans, insurance).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151376"/>
            <a:ext cx="5394960" cy="2157984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F1E2D9"/>
            </a:solidFill>
            <a:prstDash val="solid"/>
          </a:ln>
          <a:effectLst>
            <a:outerShdw sx="100000" sy="100000" kx="0" ky="0" algn="bl" rotWithShape="0" blurRad="101600" dist="38100" dir="5400000">
              <a:srgbClr val="2A1A2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407408"/>
            <a:ext cx="365760" cy="365760"/>
          </a:xfrm>
          <a:prstGeom prst="ellipse">
            <a:avLst/>
          </a:prstGeom>
          <a:solidFill>
            <a:srgbClr val="DCF7F3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407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43891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expert review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10528" y="4901184"/>
            <a:ext cx="482803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7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decides. Right for brand-new segments, regulated decisions, or thin data.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E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spc="-50" kern="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someone will eventually ask you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157984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F1E2D9"/>
            </a:solidFill>
            <a:prstDash val="solid"/>
          </a:ln>
          <a:effectLst>
            <a:outerShdw sx="100000" sy="100000" kx="0" ky="0" algn="bl" rotWithShape="0" blurRad="101600" dist="38100" dir="5400000">
              <a:srgbClr val="2A1A2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93392"/>
            <a:ext cx="365760" cy="365760"/>
          </a:xfrm>
          <a:prstGeom prst="ellipse">
            <a:avLst/>
          </a:prstGeom>
          <a:solidFill>
            <a:srgbClr val="FDECE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93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97510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41248" y="2487168"/>
            <a:ext cx="482803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7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'Which data and code produced the model that made THIS decision?' You can answer — you tracked runs and versioned models.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94960" cy="2157984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F1E2D9"/>
            </a:solidFill>
            <a:prstDash val="solid"/>
          </a:ln>
          <a:effectLst>
            <a:outerShdw sx="100000" sy="100000" kx="0" ky="0" algn="bl" rotWithShape="0" blurRad="101600" dist="38100" dir="5400000">
              <a:srgbClr val="2A1A2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93392"/>
            <a:ext cx="365760" cy="365760"/>
          </a:xfrm>
          <a:prstGeom prst="ellipse">
            <a:avLst/>
          </a:prstGeom>
          <a:solidFill>
            <a:srgbClr val="DCF7F3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93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95160" y="197510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10528" y="2487168"/>
            <a:ext cx="482803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7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 model card: intended use, training data, known limits, metrics by subgroup. One page beats nothing.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51376"/>
            <a:ext cx="5394960" cy="2157984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F1E2D9"/>
            </a:solidFill>
            <a:prstDash val="solid"/>
          </a:ln>
          <a:effectLst>
            <a:outerShdw sx="100000" sy="100000" kx="0" ky="0" algn="bl" rotWithShape="0" blurRad="101600" dist="38100" dir="5400000">
              <a:srgbClr val="2A1A2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407408"/>
            <a:ext cx="365760" cy="365760"/>
          </a:xfrm>
          <a:prstGeom prst="ellipse">
            <a:avLst/>
          </a:prstGeom>
          <a:solidFill>
            <a:srgbClr val="FDECE4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407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43891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1248" y="4901184"/>
            <a:ext cx="482803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7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performance similar across groups? A model can be 92% accurate overall and far worse for one segment.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151376"/>
            <a:ext cx="5394960" cy="2157984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F1E2D9"/>
            </a:solidFill>
            <a:prstDash val="solid"/>
          </a:ln>
          <a:effectLst>
            <a:outerShdw sx="100000" sy="100000" kx="0" ky="0" algn="bl" rotWithShape="0" blurRad="101600" dist="38100" dir="5400000">
              <a:srgbClr val="2A1A2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407408"/>
            <a:ext cx="365760" cy="365760"/>
          </a:xfrm>
          <a:prstGeom prst="ellipse">
            <a:avLst/>
          </a:prstGeom>
          <a:solidFill>
            <a:srgbClr val="DCF7F3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407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43891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Recourse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10528" y="4901184"/>
            <a:ext cx="482803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7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person appeal or override an automated decision? For loans and hiring this is increasingly a legal requirement.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91840"/>
            <a:ext cx="5486400" cy="5486400"/>
          </a:xfrm>
          <a:prstGeom prst="ellipse">
            <a:avLst/>
          </a:prstGeom>
          <a:solidFill>
            <a:srgbClr val="15B8A6">
              <a:alpha val="2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77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 ·  ~6 MIN · PAIRS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monitoring plan for YOUR model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EA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implement part of this in the lab, so make it real.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SITE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5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metric per layer — infra, data, model, business. Name the actual number</a:t>
            </a:r>
            <a:endParaRPr lang="en-US" sz="1500" dirty="0"/>
          </a:p>
          <a:p>
            <a:pPr marL="177800" indent="-1778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5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drift check — which feature, which test, which threshold, how often?</a:t>
            </a:r>
            <a:endParaRPr lang="en-US" sz="1500" dirty="0"/>
          </a:p>
          <a:p>
            <a:pPr marL="177800" indent="-1778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5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retraining trigger — which of the four, and why THAT one for your feedback delay?</a:t>
            </a:r>
            <a:endParaRPr lang="en-US" sz="1500" dirty="0"/>
          </a:p>
          <a:p>
            <a:pPr marL="177800" indent="-1778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5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gets alerted, and what do they do in the first 10 minutes?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1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EE5A3A">
              <a:alpha val="2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E5A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</a:t>
            </a:r>
            <a:endParaRPr lang="en-US" sz="228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in five lines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0607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5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has four layers — infra, data, model, business. Uptime says nothing about correctness</a:t>
            </a:r>
            <a:endParaRPr lang="en-US" sz="16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5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detect data drift WITHOUT labels by watching input distributions (KS, PSI)</a:t>
            </a:r>
            <a:endParaRPr lang="en-US" sz="16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5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alarm fires, investigate before retraining — drift and a data bug look identical</a:t>
            </a:r>
            <a:endParaRPr lang="en-US" sz="16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5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retraining trigger based on how fast your labels arrive</a:t>
            </a:r>
            <a:endParaRPr lang="en-US" sz="1600" dirty="0"/>
          </a:p>
          <a:p>
            <a:pPr marL="203200" indent="-2032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5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= lineage, documentation, fairness, recourse — you already built the machinery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2026-08-04T14:23:57Z</dcterms:created>
  <dcterms:modified xsi:type="dcterms:W3CDTF">2026-08-04T14:23:57Z</dcterms:modified>
</cp:coreProperties>
</file>