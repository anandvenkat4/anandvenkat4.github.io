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stakes, because today is the day that pays off everything: 'By lunch you will have a pipeline that tests your model automatically. By the end of today your model will be on the internet, at a URL you can send to your parents.' Then the Friday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it. Five-forty on a Friday. The deploy checklist says: run the tests, check the model score, rebuild the image, tag it, push it, update the config. Six steps, done by a tired human, from memory. And here is the bit I want you to hear properly — nobody skips step one because they are lazy. They skip it because it is late, and it passed last time, and they want to go home. That is a completely human thing to do. So the point of automation is not speed. Say this slowly: it is removing the option to skip.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CI/CD in one sentence, and it is genuinely this simple: every push triggers the same checks, in the same order, on a clean machine — and a failure blocks the change. GitHub Actions does this for you, free for public repositories, which is why your repo is public. Now the ML twist. Ordinary CI asks: does the code work — lint, unit tests, does it build. All necessary. But ML CI has to ask two more questions: is the data sane, and is the model still good enough? Because — and this is the sentence that makes today matter — your code can be perfect while your model is useless. That is why CI for ML is its own topic: you are testing three things, code, data, and a learned artefact that can rot without anyone touching a line of code. Now run the pipeline simulator, break a test, and let them watch the red build skip everything after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my favourite five lines in the whole course. A test that loads the model, scores it on a fixed holdout set, and asserts F1 is at least 0.35. That is it. And look what it buys you: a model that has quietly degraded literally cannot be deployed, because the build goes red and the merge is blocked. You have taken 'we really should check the score before shipping' and turned it into something that cannot be forgotten, by anyone, ever, including you at five-forty on a Friday. Two practical notes. Set the threshold just below your current production score — too high and you block every change and people start disabling the gate, too low and it never fires. And use a fixed holdout set, because if your test set drifts too, the comparison is meaningless.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minutes in pairs. The first three bullets are technical and they will do fine. The fourth is the interesting one, and I want you to let them argue: if the gate fails at five-forty on a Friday and there is a customer waiting, who is allowed to override it, and how is that override recorded? That is a governance question wearing a technical costume, and real teams argue about it for weeks. There is no single right answer — but there IS a wrong one, which is 'anyone can override it and nothing is written down.' Take two answers from the room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safety slide before we ship, because from today you have tokens. A secret committed to git is in the history forever — deleting the line in a later commit does not remove it, it is still sitting in the previous commit, and anyone who clones the repo gets it. So if you ever leak a key, the fix is not to delete the line. The fix is to rotate the key and assume the old one is compromised. Then go to the site and run the spot-the-leak exercise: four snippets, three of them leak. The one people get wrong is the Dockerfile ENV — it feels safe because it is not in the source code, but anyone who can pull your image can run docker history and read it. Secrets belong in GitHub Actions secrets for CI, and in the host's environment settings at runtime. Read them with os dot environ.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now deploy, which is almost an anticlimax — and that is the point. We push the same image you built yesterday to a managed host and get a public HTTPS URL. No code changes. You hand over a container and the platform runs it, which is exactly how AWS and GCP managed endpoints work too; ours is just free. Three practical things. The host dictates the port — Spaces wants 7860 — which is why our CMD reads dollar-PORT instead of hard-coding 8080. Expect a cold start: free tiers sleep when idle, so the first request has to wake the container and load the model, and that can be several seconds. And your health endpoint finally earns its keep, because the platform polls it to decide whether to send you traffic. Then the warning in the panel, which I want you to repeat to them twice: hit your URL thirty seconds before you demo. A cold start in front of an audience looks exactly like a broken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labs, back to back. Lab four: push your repo, add the workflow, add the accuracy gate, watch it go green — then break a test on purpose and watch the pipeline block you. That red build is a deliverable, not a failure; I want to see it. Lab five is the milestone of the entire workshop. Deploy your container to a Hugging Face Docker Space and get a public URL. And then do the thing that makes it real: take out your phone, turn off wifi, and call your own model over the mobile network. When that prediction comes back, you have done real MLOps. Paste your link on the class wall so everyone can try each other's models — and take a screenshot, because that URL is going on your CV.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then release them. Read the five lines. Two check questions: 'name one check that exists in ML CI but not in ordinary software CI' and 'where does a secret belong, if not in the code?' Then send them to Lab 4. Tell them the order matters today: get CI green first, because deploying a repo whose tests fail is how you spend the afternoon debugging two things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1A20"/>
        </a:solidFill>
      </p:bgPr>
    </p:bg>
    <p:spTree>
      <p:nvGrpSpPr>
        <p:cNvPr id="1" name=""/>
        <p:cNvGrpSpPr/>
        <p:nvPr/>
      </p:nvGrpSpPr>
      <p:grpSpPr>
        <a:xfrm>
          <a:off x="0" y="0"/>
          <a:ext cx="0" cy="0"/>
          <a:chOff x="0" y="0"/>
          <a:chExt cx="0" cy="0"/>
        </a:xfrm>
      </p:grpSpPr>
      <p:sp>
        <p:nvSpPr>
          <p:cNvPr id="2" name="Shape 0"/>
          <p:cNvSpPr/>
          <p:nvPr/>
        </p:nvSpPr>
        <p:spPr>
          <a:xfrm>
            <a:off x="8778240" y="-2011680"/>
            <a:ext cx="5486400" cy="5486400"/>
          </a:xfrm>
          <a:prstGeom prst="ellipse">
            <a:avLst/>
          </a:prstGeom>
          <a:solidFill>
            <a:srgbClr val="EE5A3A">
              <a:alpha val="30000"/>
            </a:srgbClr>
          </a:solidFill>
          <a:ln/>
        </p:spPr>
      </p:sp>
      <p:sp>
        <p:nvSpPr>
          <p:cNvPr id="3" name="Shape 1"/>
          <p:cNvSpPr/>
          <p:nvPr/>
        </p:nvSpPr>
        <p:spPr>
          <a:xfrm>
            <a:off x="-2194560" y="4572000"/>
            <a:ext cx="5120640" cy="5120640"/>
          </a:xfrm>
          <a:prstGeom prst="ellipse">
            <a:avLst/>
          </a:prstGeom>
          <a:solidFill>
            <a:srgbClr val="15B8A6">
              <a:alpha val="22000"/>
            </a:srgbClr>
          </a:solidFill>
          <a:ln/>
        </p:spPr>
      </p:sp>
      <p:sp>
        <p:nvSpPr>
          <p:cNvPr id="4" name="Shape 2"/>
          <p:cNvSpPr/>
          <p:nvPr/>
        </p:nvSpPr>
        <p:spPr>
          <a:xfrm>
            <a:off x="548640" y="640080"/>
            <a:ext cx="658368" cy="658368"/>
          </a:xfrm>
          <a:prstGeom prst="roundRect">
            <a:avLst>
              <a:gd name="adj" fmla="val 22000"/>
            </a:avLst>
          </a:prstGeom>
          <a:solidFill>
            <a:srgbClr val="EE5A3A"/>
          </a:solidFill>
          <a:ln/>
        </p:spPr>
      </p:sp>
      <p:sp>
        <p:nvSpPr>
          <p:cNvPr id="5" name="Text 3"/>
          <p:cNvSpPr/>
          <p:nvPr/>
        </p:nvSpPr>
        <p:spPr>
          <a:xfrm>
            <a:off x="548640" y="640080"/>
            <a:ext cx="658368" cy="658368"/>
          </a:xfrm>
          <a:prstGeom prst="rect">
            <a:avLst/>
          </a:prstGeom>
          <a:noFill/>
          <a:ln/>
        </p:spPr>
        <p:txBody>
          <a:bodyPr wrap="square" rtlCol="0" anchor="ctr"/>
          <a:lstStyle/>
          <a:p>
            <a:pPr algn="ctr" indent="0" marL="0">
              <a:buNone/>
            </a:pPr>
            <a:r>
              <a:rPr lang="en-US" sz="2736" b="1" dirty="0">
                <a:solidFill>
                  <a:srgbClr val="FFFFFF"/>
                </a:solidFill>
                <a:latin typeface="Calibri" pitchFamily="34" charset="0"/>
                <a:ea typeface="Calibri" pitchFamily="34" charset="-122"/>
                <a:cs typeface="Calibri" pitchFamily="34" charset="-120"/>
              </a:rPr>
              <a:t>VL</a:t>
            </a:r>
            <a:endParaRPr lang="en-US" sz="2736" dirty="0"/>
          </a:p>
        </p:txBody>
      </p:sp>
      <p:sp>
        <p:nvSpPr>
          <p:cNvPr id="6" name="Text 4"/>
          <p:cNvSpPr/>
          <p:nvPr/>
        </p:nvSpPr>
        <p:spPr>
          <a:xfrm>
            <a:off x="548640" y="2286000"/>
            <a:ext cx="10058400" cy="274320"/>
          </a:xfrm>
          <a:prstGeom prst="rect">
            <a:avLst/>
          </a:prstGeom>
          <a:noFill/>
          <a:ln/>
        </p:spPr>
        <p:txBody>
          <a:bodyPr wrap="square" lIns="0" tIns="0" rIns="0" bIns="0" rtlCol="0" anchor="ctr"/>
          <a:lstStyle/>
          <a:p>
            <a:pPr indent="0" marL="0">
              <a:buNone/>
            </a:pPr>
            <a:r>
              <a:rPr lang="en-US" sz="1200" b="1" spc="250" kern="0" dirty="0">
                <a:solidFill>
                  <a:srgbClr val="15B8A6"/>
                </a:solidFill>
                <a:latin typeface="Calibri" pitchFamily="34" charset="0"/>
                <a:ea typeface="Calibri" pitchFamily="34" charset="-122"/>
                <a:cs typeface="Calibri" pitchFamily="34" charset="-120"/>
              </a:rPr>
              <a:t>MODULE 5 · DAY 3</a:t>
            </a:r>
            <a:endParaRPr lang="en-US" sz="1200" dirty="0"/>
          </a:p>
        </p:txBody>
      </p:sp>
      <p:sp>
        <p:nvSpPr>
          <p:cNvPr id="7" name="Text 5"/>
          <p:cNvSpPr/>
          <p:nvPr/>
        </p:nvSpPr>
        <p:spPr>
          <a:xfrm>
            <a:off x="548640" y="2560320"/>
            <a:ext cx="10972800" cy="1828800"/>
          </a:xfrm>
          <a:prstGeom prst="rect">
            <a:avLst/>
          </a:prstGeom>
          <a:noFill/>
          <a:ln/>
        </p:spPr>
        <p:txBody>
          <a:bodyPr wrap="square" rtlCol="0" anchor="ctr"/>
          <a:lstStyle/>
          <a:p>
            <a:pPr indent="0" marL="0">
              <a:lnSpc>
                <a:spcPts val="4600"/>
              </a:lnSpc>
              <a:buNone/>
            </a:pPr>
            <a:r>
              <a:rPr lang="en-US" sz="4400" b="1" spc="-50" kern="0" dirty="0">
                <a:solidFill>
                  <a:srgbClr val="FFFFFF"/>
                </a:solidFill>
                <a:latin typeface="Calibri" pitchFamily="34" charset="0"/>
                <a:ea typeface="Calibri" pitchFamily="34" charset="-122"/>
                <a:cs typeface="Calibri" pitchFamily="34" charset="-120"/>
              </a:rPr>
              <a:t>Automate &amp; Deploy</a:t>
            </a:r>
            <a:endParaRPr lang="en-US" sz="4400" dirty="0"/>
          </a:p>
        </p:txBody>
      </p:sp>
      <p:sp>
        <p:nvSpPr>
          <p:cNvPr id="8" name="Text 6"/>
          <p:cNvSpPr/>
          <p:nvPr/>
        </p:nvSpPr>
        <p:spPr>
          <a:xfrm>
            <a:off x="548640" y="4526280"/>
            <a:ext cx="10058400" cy="1097280"/>
          </a:xfrm>
          <a:prstGeom prst="rect">
            <a:avLst/>
          </a:prstGeom>
          <a:noFill/>
          <a:ln/>
        </p:spPr>
        <p:txBody>
          <a:bodyPr wrap="square" rtlCol="0" anchor="ctr"/>
          <a:lstStyle/>
          <a:p>
            <a:pPr indent="0" marL="0">
              <a:lnSpc>
                <a:spcPts val="2500"/>
              </a:lnSpc>
              <a:buNone/>
            </a:pPr>
            <a:r>
              <a:rPr lang="en-US" sz="1800" dirty="0">
                <a:solidFill>
                  <a:srgbClr val="EAD9CE"/>
                </a:solidFill>
                <a:latin typeface="Calibri" pitchFamily="34" charset="0"/>
                <a:ea typeface="Calibri" pitchFamily="34" charset="-122"/>
                <a:cs typeface="Calibri" pitchFamily="34" charset="-120"/>
              </a:rPr>
              <a:t>Today your model leaves your laptop for good. First we make shipping automatic — then we make it public.</a:t>
            </a:r>
            <a:endParaRPr lang="en-US" sz="1800" dirty="0"/>
          </a:p>
        </p:txBody>
      </p:sp>
      <p:sp>
        <p:nvSpPr>
          <p:cNvPr id="9" name="Text 7"/>
          <p:cNvSpPr/>
          <p:nvPr/>
        </p:nvSpPr>
        <p:spPr>
          <a:xfrm>
            <a:off x="548640" y="6263640"/>
            <a:ext cx="10972800" cy="320040"/>
          </a:xfrm>
          <a:prstGeom prst="rect">
            <a:avLst/>
          </a:prstGeom>
          <a:noFill/>
          <a:ln/>
        </p:spPr>
        <p:txBody>
          <a:bodyPr wrap="square" lIns="0" tIns="0" rIns="0" bIns="0" rtlCol="0" anchor="ctr"/>
          <a:lstStyle/>
          <a:p>
            <a:pPr indent="0" marL="0">
              <a:buNone/>
            </a:pPr>
            <a:r>
              <a:rPr lang="en-US" sz="1200" dirty="0">
                <a:solidFill>
                  <a:srgbClr val="B8A69B"/>
                </a:solidFill>
                <a:latin typeface="Calibri" pitchFamily="34" charset="0"/>
                <a:ea typeface="Calibri" pitchFamily="34" charset="-122"/>
                <a:cs typeface="Calibri" pitchFamily="34" charset="-120"/>
              </a:rPr>
              <a:t>MLOps &amp; Model Deployment · Vel Tech · Dr. Venkateshwaran Loganathan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A1A20"/>
        </a:solidFill>
      </p:bgPr>
    </p:bg>
    <p:spTree>
      <p:nvGrpSpPr>
        <p:cNvPr id="1" name=""/>
        <p:cNvGrpSpPr/>
        <p:nvPr/>
      </p:nvGrpSpPr>
      <p:grpSpPr>
        <a:xfrm>
          <a:off x="0" y="0"/>
          <a:ext cx="0" cy="0"/>
          <a:chOff x="0" y="0"/>
          <a:chExt cx="0" cy="0"/>
        </a:xfrm>
      </p:grpSpPr>
      <p:sp>
        <p:nvSpPr>
          <p:cNvPr id="2" name="Shape 0"/>
          <p:cNvSpPr/>
          <p:nvPr/>
        </p:nvSpPr>
        <p:spPr>
          <a:xfrm>
            <a:off x="8686800" y="-1828800"/>
            <a:ext cx="5029200" cy="5029200"/>
          </a:xfrm>
          <a:prstGeom prst="ellipse">
            <a:avLst/>
          </a:prstGeom>
          <a:solidFill>
            <a:srgbClr val="EE5A3A">
              <a:alpha val="24000"/>
            </a:srgbClr>
          </a:solidFill>
          <a:ln/>
        </p:spPr>
      </p:sp>
      <p:sp>
        <p:nvSpPr>
          <p:cNvPr id="3" name="Text 1"/>
          <p:cNvSpPr/>
          <p:nvPr/>
        </p:nvSpPr>
        <p:spPr>
          <a:xfrm>
            <a:off x="548640" y="1005840"/>
            <a:ext cx="10058400" cy="274320"/>
          </a:xfrm>
          <a:prstGeom prst="rect">
            <a:avLst/>
          </a:prstGeom>
          <a:noFill/>
          <a:ln/>
        </p:spPr>
        <p:txBody>
          <a:bodyPr wrap="square" lIns="0" tIns="0" rIns="0" bIns="0" rtlCol="0" anchor="ctr"/>
          <a:lstStyle/>
          <a:p>
            <a:pPr indent="0" marL="0">
              <a:buNone/>
            </a:pPr>
            <a:r>
              <a:rPr lang="en-US" sz="1200" b="1" spc="250" kern="0" dirty="0">
                <a:solidFill>
                  <a:srgbClr val="15B8A6"/>
                </a:solidFill>
                <a:latin typeface="Calibri" pitchFamily="34" charset="0"/>
                <a:ea typeface="Calibri" pitchFamily="34" charset="-122"/>
                <a:cs typeface="Calibri" pitchFamily="34" charset="-120"/>
              </a:rPr>
              <a:t>THE FRIDAY DEPLOY</a:t>
            </a:r>
            <a:endParaRPr lang="en-US" sz="1200" dirty="0"/>
          </a:p>
        </p:txBody>
      </p:sp>
      <p:sp>
        <p:nvSpPr>
          <p:cNvPr id="4" name="Text 2"/>
          <p:cNvSpPr/>
          <p:nvPr/>
        </p:nvSpPr>
        <p:spPr>
          <a:xfrm>
            <a:off x="548640" y="1554480"/>
            <a:ext cx="10789920" cy="2926080"/>
          </a:xfrm>
          <a:prstGeom prst="rect">
            <a:avLst/>
          </a:prstGeom>
          <a:noFill/>
          <a:ln/>
        </p:spPr>
        <p:txBody>
          <a:bodyPr wrap="square" rtlCol="0" anchor="t"/>
          <a:lstStyle/>
          <a:p>
            <a:pPr indent="0" marL="0">
              <a:lnSpc>
                <a:spcPts val="4400"/>
              </a:lnSpc>
              <a:buNone/>
            </a:pPr>
            <a:r>
              <a:rPr lang="en-US" sz="3400" b="1" spc="-50" kern="0" dirty="0">
                <a:solidFill>
                  <a:srgbClr val="FFFFFF"/>
                </a:solidFill>
                <a:latin typeface="Calibri" pitchFamily="34" charset="0"/>
                <a:ea typeface="Calibri" pitchFamily="34" charset="-122"/>
                <a:cs typeface="Calibri" pitchFamily="34" charset="-120"/>
              </a:rPr>
              <a:t>It's 5:40pm.</a:t>
            </a:r>
            <a:endParaRPr lang="en-US" sz="3400" dirty="0"/>
          </a:p>
          <a:p>
            <a:pPr indent="0" marL="0">
              <a:lnSpc>
                <a:spcPts val="4400"/>
              </a:lnSpc>
              <a:buNone/>
            </a:pPr>
            <a:endParaRPr lang="en-US" sz="3400" dirty="0"/>
          </a:p>
          <a:p>
            <a:pPr indent="0" marL="0">
              <a:lnSpc>
                <a:spcPts val="4400"/>
              </a:lnSpc>
              <a:buNone/>
            </a:pPr>
            <a:r>
              <a:rPr lang="en-US" sz="3400" b="1" spc="-50" kern="0" dirty="0">
                <a:solidFill>
                  <a:srgbClr val="FFFFFF"/>
                </a:solidFill>
                <a:latin typeface="Calibri" pitchFamily="34" charset="0"/>
                <a:ea typeface="Calibri" pitchFamily="34" charset="-122"/>
                <a:cs typeface="Calibri" pitchFamily="34" charset="-120"/>
              </a:rPr>
              <a:t>The checklist has six manual steps.</a:t>
            </a:r>
            <a:endParaRPr lang="en-US" sz="3400" dirty="0"/>
          </a:p>
          <a:p>
            <a:pPr indent="0" marL="0">
              <a:lnSpc>
                <a:spcPts val="4400"/>
              </a:lnSpc>
              <a:buNone/>
            </a:pPr>
            <a:endParaRPr lang="en-US" sz="3400" dirty="0"/>
          </a:p>
          <a:p>
            <a:pPr indent="0" marL="0">
              <a:lnSpc>
                <a:spcPts val="4400"/>
              </a:lnSpc>
              <a:buNone/>
            </a:pPr>
            <a:r>
              <a:rPr lang="en-US" sz="3400" b="1" spc="-50" kern="0" dirty="0">
                <a:solidFill>
                  <a:srgbClr val="FFFFFF"/>
                </a:solidFill>
                <a:latin typeface="Calibri" pitchFamily="34" charset="0"/>
                <a:ea typeface="Calibri" pitchFamily="34" charset="-122"/>
                <a:cs typeface="Calibri" pitchFamily="34" charset="-120"/>
              </a:rPr>
              <a:t>Nobody skips step 1 out of laziness.</a:t>
            </a:r>
            <a:endParaRPr lang="en-US" sz="3400" dirty="0"/>
          </a:p>
        </p:txBody>
      </p:sp>
      <p:sp>
        <p:nvSpPr>
          <p:cNvPr id="5" name="Text 3"/>
          <p:cNvSpPr/>
          <p:nvPr/>
        </p:nvSpPr>
        <p:spPr>
          <a:xfrm>
            <a:off x="548640" y="4937760"/>
            <a:ext cx="10515600" cy="548640"/>
          </a:xfrm>
          <a:prstGeom prst="rect">
            <a:avLst/>
          </a:prstGeom>
          <a:noFill/>
          <a:ln/>
        </p:spPr>
        <p:txBody>
          <a:bodyPr wrap="square" rtlCol="0" anchor="ctr"/>
          <a:lstStyle/>
          <a:p>
            <a:pPr indent="0" marL="0">
              <a:buNone/>
            </a:pPr>
            <a:r>
              <a:rPr lang="en-US" sz="1400" i="1" dirty="0">
                <a:solidFill>
                  <a:srgbClr val="B8A69B"/>
                </a:solidFill>
                <a:latin typeface="Calibri" pitchFamily="34" charset="0"/>
                <a:ea typeface="Calibri" pitchFamily="34" charset="-122"/>
                <a:cs typeface="Calibri" pitchFamily="34" charset="-120"/>
              </a:rPr>
              <a:t>They skip it because it's late and it passed last time. Automation isn't about speed — it's about removing the option to skip.</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EE5A3A"/>
                </a:solidFill>
                <a:latin typeface="Calibri" pitchFamily="34" charset="0"/>
                <a:ea typeface="Calibri" pitchFamily="34" charset="-122"/>
                <a:cs typeface="Calibri" pitchFamily="34" charset="-120"/>
              </a:rPr>
              <a:t>CI/CD</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100" b="1" spc="-50" kern="0" dirty="0">
                <a:solidFill>
                  <a:srgbClr val="2A1A20"/>
                </a:solidFill>
                <a:latin typeface="Calibri" pitchFamily="34" charset="0"/>
                <a:ea typeface="Calibri" pitchFamily="34" charset="-122"/>
                <a:cs typeface="Calibri" pitchFamily="34" charset="-120"/>
              </a:rPr>
              <a:t>One sentence, then the ML twist</a:t>
            </a:r>
            <a:endParaRPr lang="en-US" sz="3100" dirty="0"/>
          </a:p>
        </p:txBody>
      </p:sp>
      <p:sp>
        <p:nvSpPr>
          <p:cNvPr id="4" name="Text 2"/>
          <p:cNvSpPr/>
          <p:nvPr/>
        </p:nvSpPr>
        <p:spPr>
          <a:xfrm>
            <a:off x="548640" y="1737360"/>
            <a:ext cx="6537960" cy="4572000"/>
          </a:xfrm>
          <a:prstGeom prst="rect">
            <a:avLst/>
          </a:prstGeom>
          <a:noFill/>
          <a:ln/>
        </p:spPr>
        <p:txBody>
          <a:bodyPr wrap="square" lIns="0" tIns="0" rIns="0" bIns="0" rtlCol="0" anchor="t"/>
          <a:lstStyle/>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The whole idea</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Every push triggers the same checks, in the same order, on a clean machine — and a failure blocks the change. GitHub Actions runs it free for public repos.</a:t>
            </a:r>
            <a:endParaRPr lang="en-US" sz="1550" dirty="0"/>
          </a:p>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Ordinary CI asks: does the code work?</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Lint. Unit tests. Does it build. All necessary.</a:t>
            </a:r>
            <a:endParaRPr lang="en-US" sz="1550" dirty="0"/>
          </a:p>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ML CI must also ask two more</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Is the DATA sane? Is the MODEL still good enough? Because your code can be perfect while the model is useless.</a:t>
            </a:r>
            <a:endParaRPr lang="en-US" sz="1550" dirty="0"/>
          </a:p>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That is why 'CI for ML' is its own topic</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You are testing three things now — code, data, and a learned artefact that can rot without anyone touching it.</a:t>
            </a:r>
            <a:endParaRPr lang="en-US" sz="1550" dirty="0"/>
          </a:p>
        </p:txBody>
      </p:sp>
      <p:sp>
        <p:nvSpPr>
          <p:cNvPr id="5" name="Shape 3"/>
          <p:cNvSpPr/>
          <p:nvPr/>
        </p:nvSpPr>
        <p:spPr>
          <a:xfrm>
            <a:off x="7452360" y="1737360"/>
            <a:ext cx="4160520" cy="4572000"/>
          </a:xfrm>
          <a:prstGeom prst="roundRect">
            <a:avLst>
              <a:gd name="adj" fmla="val 2198"/>
            </a:avLst>
          </a:prstGeom>
          <a:solidFill>
            <a:srgbClr val="DCF7F3"/>
          </a:solidFill>
          <a:ln/>
          <a:effectLst>
            <a:outerShdw sx="100000" sy="100000" kx="0" ky="0" algn="bl" rotWithShape="0" blurRad="101600" dist="38100" dir="5400000">
              <a:srgbClr val="2A1A20">
                <a:alpha val="12000"/>
              </a:srgbClr>
            </a:outerShdw>
          </a:effectLst>
        </p:spPr>
      </p:sp>
      <p:sp>
        <p:nvSpPr>
          <p:cNvPr id="6" name="Shape 4"/>
          <p:cNvSpPr/>
          <p:nvPr/>
        </p:nvSpPr>
        <p:spPr>
          <a:xfrm>
            <a:off x="7726680" y="2011680"/>
            <a:ext cx="420624" cy="420624"/>
          </a:xfrm>
          <a:prstGeom prst="ellipse">
            <a:avLst/>
          </a:prstGeom>
          <a:solidFill>
            <a:srgbClr val="15B8A6"/>
          </a:solidFill>
          <a:ln/>
        </p:spPr>
      </p:sp>
      <p:sp>
        <p:nvSpPr>
          <p:cNvPr id="7" name="Text 5"/>
          <p:cNvSpPr/>
          <p:nvPr/>
        </p:nvSpPr>
        <p:spPr>
          <a:xfrm>
            <a:off x="7726680" y="1993392"/>
            <a:ext cx="420624" cy="420624"/>
          </a:xfrm>
          <a:prstGeom prst="rect">
            <a:avLst/>
          </a:prstGeom>
          <a:noFill/>
          <a:ln/>
        </p:spPr>
        <p:txBody>
          <a:bodyPr wrap="square" rtlCol="0" anchor="ctr"/>
          <a:lstStyle/>
          <a:p>
            <a:pPr algn="ctr" indent="0" marL="0">
              <a:buNone/>
            </a:pPr>
            <a:r>
              <a:rPr lang="en-US" sz="1700" b="1" i="1" dirty="0">
                <a:solidFill>
                  <a:srgbClr val="FFFFFF"/>
                </a:solidFill>
                <a:latin typeface="Calibri" pitchFamily="34" charset="0"/>
                <a:ea typeface="Calibri" pitchFamily="34" charset="-122"/>
                <a:cs typeface="Calibri" pitchFamily="34" charset="-120"/>
              </a:rPr>
              <a:t>i</a:t>
            </a:r>
            <a:endParaRPr lang="en-US" sz="1700" dirty="0"/>
          </a:p>
        </p:txBody>
      </p:sp>
      <p:sp>
        <p:nvSpPr>
          <p:cNvPr id="8" name="Text 6"/>
          <p:cNvSpPr/>
          <p:nvPr/>
        </p:nvSpPr>
        <p:spPr>
          <a:xfrm>
            <a:off x="8275320" y="2011680"/>
            <a:ext cx="3108960" cy="420624"/>
          </a:xfrm>
          <a:prstGeom prst="rect">
            <a:avLst/>
          </a:prstGeom>
          <a:noFill/>
          <a:ln/>
        </p:spPr>
        <p:txBody>
          <a:bodyPr wrap="square" lIns="0" tIns="0" rIns="0" bIns="0" rtlCol="0" anchor="ctr"/>
          <a:lstStyle/>
          <a:p>
            <a:pPr indent="0" marL="0">
              <a:buNone/>
            </a:pPr>
            <a:r>
              <a:rPr lang="en-US" sz="1200" b="1" spc="120" kern="0" dirty="0">
                <a:solidFill>
                  <a:srgbClr val="0E8F86"/>
                </a:solidFill>
                <a:latin typeface="Calibri" pitchFamily="34" charset="0"/>
                <a:ea typeface="Calibri" pitchFamily="34" charset="-122"/>
                <a:cs typeface="Calibri" pitchFamily="34" charset="-120"/>
              </a:rPr>
              <a:t>DO THIS LIVE</a:t>
            </a:r>
            <a:endParaRPr lang="en-US" sz="1200" dirty="0"/>
          </a:p>
        </p:txBody>
      </p:sp>
      <p:sp>
        <p:nvSpPr>
          <p:cNvPr id="9" name="Text 7"/>
          <p:cNvSpPr/>
          <p:nvPr/>
        </p:nvSpPr>
        <p:spPr>
          <a:xfrm>
            <a:off x="7744968" y="2633472"/>
            <a:ext cx="3593592" cy="3520440"/>
          </a:xfrm>
          <a:prstGeom prst="rect">
            <a:avLst/>
          </a:prstGeom>
          <a:noFill/>
          <a:ln/>
        </p:spPr>
        <p:txBody>
          <a:bodyPr wrap="square" lIns="0" tIns="0" rIns="0" bIns="0" rtlCol="0" anchor="t"/>
          <a:lstStyle/>
          <a:p>
            <a:pPr indent="0" marL="0">
              <a:lnSpc>
                <a:spcPts val="1800"/>
              </a:lnSpc>
              <a:buNone/>
            </a:pPr>
            <a:r>
              <a:rPr lang="en-US" sz="1300" dirty="0">
                <a:solidFill>
                  <a:srgbClr val="2A1A20"/>
                </a:solidFill>
                <a:latin typeface="Calibri" pitchFamily="34" charset="0"/>
                <a:ea typeface="Calibri" pitchFamily="34" charset="-122"/>
                <a:cs typeface="Calibri" pitchFamily="34" charset="-120"/>
              </a:rPr>
              <a:t>Open the pipeline simulator. Push green. Then 'break a test and push' — watch it go red and the later steps get skipped. Say: 'nothing shipped, and no human had to notice.'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EE5A3A"/>
                </a:solidFill>
                <a:latin typeface="Calibri" pitchFamily="34" charset="0"/>
                <a:ea typeface="Calibri" pitchFamily="34" charset="-122"/>
                <a:cs typeface="Calibri" pitchFamily="34" charset="-120"/>
              </a:rPr>
              <a:t>THE GATE</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100" b="1" spc="-50" kern="0" dirty="0">
                <a:solidFill>
                  <a:srgbClr val="2A1A20"/>
                </a:solidFill>
                <a:latin typeface="Calibri" pitchFamily="34" charset="0"/>
                <a:ea typeface="Calibri" pitchFamily="34" charset="-122"/>
                <a:cs typeface="Calibri" pitchFamily="34" charset="-120"/>
              </a:rPr>
              <a:t>The most valuable five lines in your pipeline</a:t>
            </a:r>
            <a:endParaRPr lang="en-US" sz="3100" dirty="0"/>
          </a:p>
        </p:txBody>
      </p:sp>
      <p:sp>
        <p:nvSpPr>
          <p:cNvPr id="4" name="Shape 2"/>
          <p:cNvSpPr/>
          <p:nvPr/>
        </p:nvSpPr>
        <p:spPr>
          <a:xfrm>
            <a:off x="548640" y="1737360"/>
            <a:ext cx="5394960" cy="2157984"/>
          </a:xfrm>
          <a:prstGeom prst="roundRect">
            <a:avLst>
              <a:gd name="adj" fmla="val 4237"/>
            </a:avLst>
          </a:prstGeom>
          <a:solidFill>
            <a:srgbClr val="FFFFFF"/>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5" name="Shape 3"/>
          <p:cNvSpPr/>
          <p:nvPr/>
        </p:nvSpPr>
        <p:spPr>
          <a:xfrm>
            <a:off x="822960" y="1993392"/>
            <a:ext cx="365760" cy="365760"/>
          </a:xfrm>
          <a:prstGeom prst="ellipse">
            <a:avLst/>
          </a:prstGeom>
          <a:solidFill>
            <a:srgbClr val="FDECE4"/>
          </a:solidFill>
          <a:ln/>
        </p:spPr>
      </p:sp>
      <p:sp>
        <p:nvSpPr>
          <p:cNvPr id="6" name="Text 4"/>
          <p:cNvSpPr/>
          <p:nvPr/>
        </p:nvSpPr>
        <p:spPr>
          <a:xfrm>
            <a:off x="822960" y="1993392"/>
            <a:ext cx="365760" cy="365760"/>
          </a:xfrm>
          <a:prstGeom prst="rect">
            <a:avLst/>
          </a:prstGeom>
          <a:noFill/>
          <a:ln/>
        </p:spPr>
        <p:txBody>
          <a:bodyPr wrap="square" rtlCol="0" anchor="ctr"/>
          <a:lstStyle/>
          <a:p>
            <a:pPr algn="ctr" indent="0" marL="0">
              <a:buNone/>
            </a:pPr>
            <a:r>
              <a:rPr lang="en-US" sz="1500" b="1" dirty="0">
                <a:solidFill>
                  <a:srgbClr val="EE5A3A"/>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325880" y="1975104"/>
            <a:ext cx="4434840" cy="411480"/>
          </a:xfrm>
          <a:prstGeom prst="rect">
            <a:avLst/>
          </a:prstGeom>
          <a:noFill/>
          <a:ln/>
        </p:spPr>
        <p:txBody>
          <a:bodyPr wrap="square" lIns="0" tIns="0" rIns="0" bIns="0" rtlCol="0" anchor="ctr"/>
          <a:lstStyle/>
          <a:p>
            <a:pPr indent="0" marL="0">
              <a:buNone/>
            </a:pPr>
            <a:r>
              <a:rPr lang="en-US" sz="1550" b="1" dirty="0">
                <a:solidFill>
                  <a:srgbClr val="2A1A20"/>
                </a:solidFill>
                <a:latin typeface="Calibri" pitchFamily="34" charset="0"/>
                <a:ea typeface="Calibri" pitchFamily="34" charset="-122"/>
                <a:cs typeface="Calibri" pitchFamily="34" charset="-120"/>
              </a:rPr>
              <a:t>What it is</a:t>
            </a:r>
            <a:endParaRPr lang="en-US" sz="1550" dirty="0"/>
          </a:p>
        </p:txBody>
      </p:sp>
      <p:sp>
        <p:nvSpPr>
          <p:cNvPr id="8" name="Text 6"/>
          <p:cNvSpPr/>
          <p:nvPr/>
        </p:nvSpPr>
        <p:spPr>
          <a:xfrm>
            <a:off x="841248" y="2487168"/>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574047"/>
                </a:solidFill>
                <a:latin typeface="Calibri" pitchFamily="34" charset="0"/>
                <a:ea typeface="Calibri" pitchFamily="34" charset="-122"/>
                <a:cs typeface="Calibri" pitchFamily="34" charset="-120"/>
              </a:rPr>
              <a:t>A test that loads the model, scores it on a fixed holdout set, and asserts F1 &gt;= 0.35. Five lines of pytest.</a:t>
            </a:r>
            <a:endParaRPr lang="en-US" sz="1250" dirty="0"/>
          </a:p>
        </p:txBody>
      </p:sp>
      <p:sp>
        <p:nvSpPr>
          <p:cNvPr id="9" name="Shape 7"/>
          <p:cNvSpPr/>
          <p:nvPr/>
        </p:nvSpPr>
        <p:spPr>
          <a:xfrm>
            <a:off x="6217920" y="1737360"/>
            <a:ext cx="5394960" cy="2157984"/>
          </a:xfrm>
          <a:prstGeom prst="roundRect">
            <a:avLst>
              <a:gd name="adj" fmla="val 4237"/>
            </a:avLst>
          </a:prstGeom>
          <a:solidFill>
            <a:srgbClr val="FFFFFF"/>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10" name="Shape 8"/>
          <p:cNvSpPr/>
          <p:nvPr/>
        </p:nvSpPr>
        <p:spPr>
          <a:xfrm>
            <a:off x="6492240" y="1993392"/>
            <a:ext cx="365760" cy="365760"/>
          </a:xfrm>
          <a:prstGeom prst="ellipse">
            <a:avLst/>
          </a:prstGeom>
          <a:solidFill>
            <a:srgbClr val="DCF7F3"/>
          </a:solidFill>
          <a:ln/>
        </p:spPr>
      </p:sp>
      <p:sp>
        <p:nvSpPr>
          <p:cNvPr id="11" name="Text 9"/>
          <p:cNvSpPr/>
          <p:nvPr/>
        </p:nvSpPr>
        <p:spPr>
          <a:xfrm>
            <a:off x="6492240" y="1993392"/>
            <a:ext cx="365760" cy="365760"/>
          </a:xfrm>
          <a:prstGeom prst="rect">
            <a:avLst/>
          </a:prstGeom>
          <a:noFill/>
          <a:ln/>
        </p:spPr>
        <p:txBody>
          <a:bodyPr wrap="square" rtlCol="0" anchor="ctr"/>
          <a:lstStyle/>
          <a:p>
            <a:pPr algn="ctr" indent="0" marL="0">
              <a:buNone/>
            </a:pPr>
            <a:r>
              <a:rPr lang="en-US" sz="1500" b="1" dirty="0">
                <a:solidFill>
                  <a:srgbClr val="15B8A6"/>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6995160" y="1975104"/>
            <a:ext cx="4434840" cy="411480"/>
          </a:xfrm>
          <a:prstGeom prst="rect">
            <a:avLst/>
          </a:prstGeom>
          <a:noFill/>
          <a:ln/>
        </p:spPr>
        <p:txBody>
          <a:bodyPr wrap="square" lIns="0" tIns="0" rIns="0" bIns="0" rtlCol="0" anchor="ctr"/>
          <a:lstStyle/>
          <a:p>
            <a:pPr indent="0" marL="0">
              <a:buNone/>
            </a:pPr>
            <a:r>
              <a:rPr lang="en-US" sz="1550" b="1" dirty="0">
                <a:solidFill>
                  <a:srgbClr val="2A1A20"/>
                </a:solidFill>
                <a:latin typeface="Calibri" pitchFamily="34" charset="0"/>
                <a:ea typeface="Calibri" pitchFamily="34" charset="-122"/>
                <a:cs typeface="Calibri" pitchFamily="34" charset="-120"/>
              </a:rPr>
              <a:t>What it buys you</a:t>
            </a:r>
            <a:endParaRPr lang="en-US" sz="1550" dirty="0"/>
          </a:p>
        </p:txBody>
      </p:sp>
      <p:sp>
        <p:nvSpPr>
          <p:cNvPr id="13" name="Text 11"/>
          <p:cNvSpPr/>
          <p:nvPr/>
        </p:nvSpPr>
        <p:spPr>
          <a:xfrm>
            <a:off x="6510528" y="2487168"/>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574047"/>
                </a:solidFill>
                <a:latin typeface="Calibri" pitchFamily="34" charset="0"/>
                <a:ea typeface="Calibri" pitchFamily="34" charset="-122"/>
                <a:cs typeface="Calibri" pitchFamily="34" charset="-120"/>
              </a:rPr>
              <a:t>A model that has quietly degraded CANNOT be deployed. The build goes red, the merge is blocked.</a:t>
            </a:r>
            <a:endParaRPr lang="en-US" sz="1250" dirty="0"/>
          </a:p>
        </p:txBody>
      </p:sp>
      <p:sp>
        <p:nvSpPr>
          <p:cNvPr id="14" name="Shape 12"/>
          <p:cNvSpPr/>
          <p:nvPr/>
        </p:nvSpPr>
        <p:spPr>
          <a:xfrm>
            <a:off x="548640" y="4151376"/>
            <a:ext cx="5394960" cy="2157984"/>
          </a:xfrm>
          <a:prstGeom prst="roundRect">
            <a:avLst>
              <a:gd name="adj" fmla="val 4237"/>
            </a:avLst>
          </a:prstGeom>
          <a:solidFill>
            <a:srgbClr val="FFFFFF"/>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15" name="Shape 13"/>
          <p:cNvSpPr/>
          <p:nvPr/>
        </p:nvSpPr>
        <p:spPr>
          <a:xfrm>
            <a:off x="822960" y="4407408"/>
            <a:ext cx="365760" cy="365760"/>
          </a:xfrm>
          <a:prstGeom prst="ellipse">
            <a:avLst/>
          </a:prstGeom>
          <a:solidFill>
            <a:srgbClr val="FDECE4"/>
          </a:solidFill>
          <a:ln/>
        </p:spPr>
      </p:sp>
      <p:sp>
        <p:nvSpPr>
          <p:cNvPr id="16" name="Text 14"/>
          <p:cNvSpPr/>
          <p:nvPr/>
        </p:nvSpPr>
        <p:spPr>
          <a:xfrm>
            <a:off x="822960" y="4407408"/>
            <a:ext cx="365760" cy="365760"/>
          </a:xfrm>
          <a:prstGeom prst="rect">
            <a:avLst/>
          </a:prstGeom>
          <a:noFill/>
          <a:ln/>
        </p:spPr>
        <p:txBody>
          <a:bodyPr wrap="square" rtlCol="0" anchor="ctr"/>
          <a:lstStyle/>
          <a:p>
            <a:pPr algn="ctr" indent="0" marL="0">
              <a:buNone/>
            </a:pPr>
            <a:r>
              <a:rPr lang="en-US" sz="1500" b="1" dirty="0">
                <a:solidFill>
                  <a:srgbClr val="EE5A3A"/>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325880" y="4389120"/>
            <a:ext cx="4434840" cy="411480"/>
          </a:xfrm>
          <a:prstGeom prst="rect">
            <a:avLst/>
          </a:prstGeom>
          <a:noFill/>
          <a:ln/>
        </p:spPr>
        <p:txBody>
          <a:bodyPr wrap="square" lIns="0" tIns="0" rIns="0" bIns="0" rtlCol="0" anchor="ctr"/>
          <a:lstStyle/>
          <a:p>
            <a:pPr indent="0" marL="0">
              <a:buNone/>
            </a:pPr>
            <a:r>
              <a:rPr lang="en-US" sz="1550" b="1" dirty="0">
                <a:solidFill>
                  <a:srgbClr val="2A1A20"/>
                </a:solidFill>
                <a:latin typeface="Calibri" pitchFamily="34" charset="0"/>
                <a:ea typeface="Calibri" pitchFamily="34" charset="-122"/>
                <a:cs typeface="Calibri" pitchFamily="34" charset="-120"/>
              </a:rPr>
              <a:t>Choose the threshold honestly</a:t>
            </a:r>
            <a:endParaRPr lang="en-US" sz="1550" dirty="0"/>
          </a:p>
        </p:txBody>
      </p:sp>
      <p:sp>
        <p:nvSpPr>
          <p:cNvPr id="18" name="Text 16"/>
          <p:cNvSpPr/>
          <p:nvPr/>
        </p:nvSpPr>
        <p:spPr>
          <a:xfrm>
            <a:off x="841248" y="4901184"/>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574047"/>
                </a:solidFill>
                <a:latin typeface="Calibri" pitchFamily="34" charset="0"/>
                <a:ea typeface="Calibri" pitchFamily="34" charset="-122"/>
                <a:cs typeface="Calibri" pitchFamily="34" charset="-120"/>
              </a:rPr>
              <a:t>Just below your current production score. Too high blocks every change; too low never fires.</a:t>
            </a:r>
            <a:endParaRPr lang="en-US" sz="1250" dirty="0"/>
          </a:p>
        </p:txBody>
      </p:sp>
      <p:sp>
        <p:nvSpPr>
          <p:cNvPr id="19" name="Shape 17"/>
          <p:cNvSpPr/>
          <p:nvPr/>
        </p:nvSpPr>
        <p:spPr>
          <a:xfrm>
            <a:off x="6217920" y="4151376"/>
            <a:ext cx="5394960" cy="2157984"/>
          </a:xfrm>
          <a:prstGeom prst="roundRect">
            <a:avLst>
              <a:gd name="adj" fmla="val 4237"/>
            </a:avLst>
          </a:prstGeom>
          <a:solidFill>
            <a:srgbClr val="FFFFFF"/>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20" name="Shape 18"/>
          <p:cNvSpPr/>
          <p:nvPr/>
        </p:nvSpPr>
        <p:spPr>
          <a:xfrm>
            <a:off x="6492240" y="4407408"/>
            <a:ext cx="365760" cy="365760"/>
          </a:xfrm>
          <a:prstGeom prst="ellipse">
            <a:avLst/>
          </a:prstGeom>
          <a:solidFill>
            <a:srgbClr val="DCF7F3"/>
          </a:solidFill>
          <a:ln/>
        </p:spPr>
      </p:sp>
      <p:sp>
        <p:nvSpPr>
          <p:cNvPr id="21" name="Text 19"/>
          <p:cNvSpPr/>
          <p:nvPr/>
        </p:nvSpPr>
        <p:spPr>
          <a:xfrm>
            <a:off x="6492240" y="4407408"/>
            <a:ext cx="365760" cy="365760"/>
          </a:xfrm>
          <a:prstGeom prst="rect">
            <a:avLst/>
          </a:prstGeom>
          <a:noFill/>
          <a:ln/>
        </p:spPr>
        <p:txBody>
          <a:bodyPr wrap="square" rtlCol="0" anchor="ctr"/>
          <a:lstStyle/>
          <a:p>
            <a:pPr algn="ctr" indent="0" marL="0">
              <a:buNone/>
            </a:pPr>
            <a:r>
              <a:rPr lang="en-US" sz="1500" b="1" dirty="0">
                <a:solidFill>
                  <a:srgbClr val="15B8A6"/>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6995160" y="4389120"/>
            <a:ext cx="4434840" cy="411480"/>
          </a:xfrm>
          <a:prstGeom prst="rect">
            <a:avLst/>
          </a:prstGeom>
          <a:noFill/>
          <a:ln/>
        </p:spPr>
        <p:txBody>
          <a:bodyPr wrap="square" lIns="0" tIns="0" rIns="0" bIns="0" rtlCol="0" anchor="ctr"/>
          <a:lstStyle/>
          <a:p>
            <a:pPr indent="0" marL="0">
              <a:buNone/>
            </a:pPr>
            <a:r>
              <a:rPr lang="en-US" sz="1550" b="1" dirty="0">
                <a:solidFill>
                  <a:srgbClr val="2A1A20"/>
                </a:solidFill>
                <a:latin typeface="Calibri" pitchFamily="34" charset="0"/>
                <a:ea typeface="Calibri" pitchFamily="34" charset="-122"/>
                <a:cs typeface="Calibri" pitchFamily="34" charset="-120"/>
              </a:rPr>
              <a:t>Use a FIXED holdout</a:t>
            </a:r>
            <a:endParaRPr lang="en-US" sz="1550" dirty="0"/>
          </a:p>
        </p:txBody>
      </p:sp>
      <p:sp>
        <p:nvSpPr>
          <p:cNvPr id="23" name="Text 21"/>
          <p:cNvSpPr/>
          <p:nvPr/>
        </p:nvSpPr>
        <p:spPr>
          <a:xfrm>
            <a:off x="6510528" y="4901184"/>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574047"/>
                </a:solidFill>
                <a:latin typeface="Calibri" pitchFamily="34" charset="0"/>
                <a:ea typeface="Calibri" pitchFamily="34" charset="-122"/>
                <a:cs typeface="Calibri" pitchFamily="34" charset="-120"/>
              </a:rPr>
              <a:t>The gate must compare like with like. A drifting test set makes the gate meaningless.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A1A20"/>
        </a:solidFill>
      </p:bgPr>
    </p:bg>
    <p:spTree>
      <p:nvGrpSpPr>
        <p:cNvPr id="1" name=""/>
        <p:cNvGrpSpPr/>
        <p:nvPr/>
      </p:nvGrpSpPr>
      <p:grpSpPr>
        <a:xfrm>
          <a:off x="0" y="0"/>
          <a:ext cx="0" cy="0"/>
          <a:chOff x="0" y="0"/>
          <a:chExt cx="0" cy="0"/>
        </a:xfrm>
      </p:grpSpPr>
      <p:sp>
        <p:nvSpPr>
          <p:cNvPr id="2" name="Shape 0"/>
          <p:cNvSpPr/>
          <p:nvPr/>
        </p:nvSpPr>
        <p:spPr>
          <a:xfrm>
            <a:off x="8961120" y="3291840"/>
            <a:ext cx="5486400" cy="5486400"/>
          </a:xfrm>
          <a:prstGeom prst="ellipse">
            <a:avLst/>
          </a:prstGeom>
          <a:solidFill>
            <a:srgbClr val="15B8A6">
              <a:alpha val="26000"/>
            </a:srgbClr>
          </a:solidFill>
          <a:ln/>
        </p:spPr>
      </p:sp>
      <p:sp>
        <p:nvSpPr>
          <p:cNvPr id="3" name="Text 1"/>
          <p:cNvSpPr/>
          <p:nvPr/>
        </p:nvSpPr>
        <p:spPr>
          <a:xfrm>
            <a:off x="548640" y="777240"/>
            <a:ext cx="10058400" cy="274320"/>
          </a:xfrm>
          <a:prstGeom prst="rect">
            <a:avLst/>
          </a:prstGeom>
          <a:noFill/>
          <a:ln/>
        </p:spPr>
        <p:txBody>
          <a:bodyPr wrap="square" lIns="0" tIns="0" rIns="0" bIns="0" rtlCol="0" anchor="ctr"/>
          <a:lstStyle/>
          <a:p>
            <a:pPr indent="0" marL="0">
              <a:buNone/>
            </a:pPr>
            <a:r>
              <a:rPr lang="en-US" sz="1200" b="1" spc="250" kern="0" dirty="0">
                <a:solidFill>
                  <a:srgbClr val="15B8A6"/>
                </a:solidFill>
                <a:latin typeface="Calibri" pitchFamily="34" charset="0"/>
                <a:ea typeface="Calibri" pitchFamily="34" charset="-122"/>
                <a:cs typeface="Calibri" pitchFamily="34" charset="-120"/>
              </a:rPr>
              <a:t>YOUR TURN  ·  ~4 MIN · PAIRS</a:t>
            </a:r>
            <a:endParaRPr lang="en-US" sz="1200" dirty="0"/>
          </a:p>
        </p:txBody>
      </p:sp>
      <p:sp>
        <p:nvSpPr>
          <p:cNvPr id="4" name="Text 2"/>
          <p:cNvSpPr/>
          <p:nvPr/>
        </p:nvSpPr>
        <p:spPr>
          <a:xfrm>
            <a:off x="548640" y="1097280"/>
            <a:ext cx="10789920" cy="914400"/>
          </a:xfrm>
          <a:prstGeom prst="rect">
            <a:avLst/>
          </a:prstGeom>
          <a:noFill/>
          <a:ln/>
        </p:spPr>
        <p:txBody>
          <a:bodyPr wrap="square" lIns="0" tIns="0" rIns="0" bIns="0" rtlCol="0" anchor="ctr"/>
          <a:lstStyle/>
          <a:p>
            <a:pPr indent="0" marL="0">
              <a:buNone/>
            </a:pPr>
            <a:r>
              <a:rPr lang="en-US" sz="3600" b="1" spc="-50" kern="0" dirty="0">
                <a:solidFill>
                  <a:srgbClr val="FFFFFF"/>
                </a:solidFill>
                <a:latin typeface="Calibri" pitchFamily="34" charset="0"/>
                <a:ea typeface="Calibri" pitchFamily="34" charset="-122"/>
                <a:cs typeface="Calibri" pitchFamily="34" charset="-120"/>
              </a:rPr>
              <a:t>Design your pipeline's gates</a:t>
            </a:r>
            <a:endParaRPr lang="en-US" sz="3600" dirty="0"/>
          </a:p>
        </p:txBody>
      </p:sp>
      <p:sp>
        <p:nvSpPr>
          <p:cNvPr id="5" name="Text 3"/>
          <p:cNvSpPr/>
          <p:nvPr/>
        </p:nvSpPr>
        <p:spPr>
          <a:xfrm>
            <a:off x="548640" y="2148840"/>
            <a:ext cx="10424160" cy="1280160"/>
          </a:xfrm>
          <a:prstGeom prst="rect">
            <a:avLst/>
          </a:prstGeom>
          <a:noFill/>
          <a:ln/>
        </p:spPr>
        <p:txBody>
          <a:bodyPr wrap="square" rtlCol="0" anchor="t"/>
          <a:lstStyle/>
          <a:p>
            <a:pPr indent="0" marL="0">
              <a:lnSpc>
                <a:spcPts val="2500"/>
              </a:lnSpc>
              <a:buNone/>
            </a:pPr>
            <a:r>
              <a:rPr lang="en-US" sz="1700" dirty="0">
                <a:solidFill>
                  <a:srgbClr val="EAD9CE"/>
                </a:solidFill>
                <a:latin typeface="Calibri" pitchFamily="34" charset="0"/>
                <a:ea typeface="Calibri" pitchFamily="34" charset="-122"/>
                <a:cs typeface="Calibri" pitchFamily="34" charset="-120"/>
              </a:rPr>
              <a:t>Be specific enough that someone else could implement them.</a:t>
            </a:r>
            <a:endParaRPr lang="en-US" sz="1700" dirty="0"/>
          </a:p>
        </p:txBody>
      </p:sp>
      <p:sp>
        <p:nvSpPr>
          <p:cNvPr id="6" name="Text 4"/>
          <p:cNvSpPr/>
          <p:nvPr/>
        </p:nvSpPr>
        <p:spPr>
          <a:xfrm>
            <a:off x="548640" y="3840480"/>
            <a:ext cx="10058400" cy="274320"/>
          </a:xfrm>
          <a:prstGeom prst="rect">
            <a:avLst/>
          </a:prstGeom>
          <a:noFill/>
          <a:ln/>
        </p:spPr>
        <p:txBody>
          <a:bodyPr wrap="square" lIns="0" tIns="0" rIns="0" bIns="0" rtlCol="0" anchor="ctr"/>
          <a:lstStyle/>
          <a:p>
            <a:pPr indent="0" marL="0">
              <a:buNone/>
            </a:pPr>
            <a:r>
              <a:rPr lang="en-US" sz="1200" b="1" spc="200" kern="0" dirty="0">
                <a:solidFill>
                  <a:srgbClr val="15B8A6"/>
                </a:solidFill>
                <a:latin typeface="Calibri" pitchFamily="34" charset="0"/>
                <a:ea typeface="Calibri" pitchFamily="34" charset="-122"/>
                <a:cs typeface="Calibri" pitchFamily="34" charset="-120"/>
              </a:rPr>
              <a:t>ON THE SITE</a:t>
            </a:r>
            <a:endParaRPr lang="en-US" sz="1200" dirty="0"/>
          </a:p>
        </p:txBody>
      </p:sp>
      <p:sp>
        <p:nvSpPr>
          <p:cNvPr id="7" name="Text 5"/>
          <p:cNvSpPr/>
          <p:nvPr/>
        </p:nvSpPr>
        <p:spPr>
          <a:xfrm>
            <a:off x="548640" y="4160520"/>
            <a:ext cx="10424160" cy="1828800"/>
          </a:xfrm>
          <a:prstGeom prst="rect">
            <a:avLst/>
          </a:prstGeom>
          <a:noFill/>
          <a:ln/>
        </p:spPr>
        <p:txBody>
          <a:bodyPr wrap="square" rtlCol="0" anchor="t"/>
          <a:lstStyle/>
          <a:p>
            <a:pPr marL="177800" indent="-177800">
              <a:lnSpc>
                <a:spcPts val="2000"/>
              </a:lnSpc>
              <a:spcAft>
                <a:spcPts val="700"/>
              </a:spcAft>
              <a:buSzPct val="100000"/>
              <a:buChar char="•"/>
            </a:pPr>
            <a:r>
              <a:rPr lang="en-US" sz="1500" dirty="0">
                <a:solidFill>
                  <a:srgbClr val="F5EAE2"/>
                </a:solidFill>
                <a:latin typeface="Calibri" pitchFamily="34" charset="0"/>
                <a:ea typeface="Calibri" pitchFamily="34" charset="-122"/>
                <a:cs typeface="Calibri" pitchFamily="34" charset="-120"/>
              </a:rPr>
              <a:t>One DATA check — which columns, what valid range?</a:t>
            </a:r>
            <a:endParaRPr lang="en-US" sz="1500" dirty="0"/>
          </a:p>
          <a:p>
            <a:pPr marL="177800" indent="-177800">
              <a:lnSpc>
                <a:spcPts val="2000"/>
              </a:lnSpc>
              <a:spcAft>
                <a:spcPts val="700"/>
              </a:spcAft>
              <a:buSzPct val="100000"/>
              <a:buChar char="•"/>
            </a:pPr>
            <a:r>
              <a:rPr lang="en-US" sz="1500" dirty="0">
                <a:solidFill>
                  <a:srgbClr val="F5EAE2"/>
                </a:solidFill>
                <a:latin typeface="Calibri" pitchFamily="34" charset="0"/>
                <a:ea typeface="Calibri" pitchFamily="34" charset="-122"/>
                <a:cs typeface="Calibri" pitchFamily="34" charset="-120"/>
              </a:rPr>
              <a:t>One MODEL gate — which metric, threshold, dataset? Justify the number</a:t>
            </a:r>
            <a:endParaRPr lang="en-US" sz="1500" dirty="0"/>
          </a:p>
          <a:p>
            <a:pPr marL="177800" indent="-177800">
              <a:lnSpc>
                <a:spcPts val="2000"/>
              </a:lnSpc>
              <a:spcAft>
                <a:spcPts val="700"/>
              </a:spcAft>
              <a:buSzPct val="100000"/>
              <a:buChar char="•"/>
            </a:pPr>
            <a:r>
              <a:rPr lang="en-US" sz="1500" dirty="0">
                <a:solidFill>
                  <a:srgbClr val="F5EAE2"/>
                </a:solidFill>
                <a:latin typeface="Calibri" pitchFamily="34" charset="0"/>
                <a:ea typeface="Calibri" pitchFamily="34" charset="-122"/>
                <a:cs typeface="Calibri" pitchFamily="34" charset="-120"/>
              </a:rPr>
              <a:t>One BEHAVIOURAL test — e.g. higher income must never increase default risk</a:t>
            </a:r>
            <a:endParaRPr lang="en-US" sz="1500" dirty="0"/>
          </a:p>
          <a:p>
            <a:pPr marL="177800" indent="-177800">
              <a:lnSpc>
                <a:spcPts val="2000"/>
              </a:lnSpc>
              <a:spcAft>
                <a:spcPts val="700"/>
              </a:spcAft>
              <a:buSzPct val="100000"/>
              <a:buChar char="•"/>
            </a:pPr>
            <a:r>
              <a:rPr lang="en-US" sz="1500" dirty="0">
                <a:solidFill>
                  <a:srgbClr val="F5EAE2"/>
                </a:solidFill>
                <a:latin typeface="Calibri" pitchFamily="34" charset="0"/>
                <a:ea typeface="Calibri" pitchFamily="34" charset="-122"/>
                <a:cs typeface="Calibri" pitchFamily="34" charset="-120"/>
              </a:rPr>
              <a:t>The hard one: if the gate fails at 5:40pm Friday, who may override it — and how is that recorded?</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A1A20"/>
        </a:solidFill>
      </p:bgPr>
    </p:bg>
    <p:spTree>
      <p:nvGrpSpPr>
        <p:cNvPr id="1" name=""/>
        <p:cNvGrpSpPr/>
        <p:nvPr/>
      </p:nvGrpSpPr>
      <p:grpSpPr>
        <a:xfrm>
          <a:off x="0" y="0"/>
          <a:ext cx="0" cy="0"/>
          <a:chOff x="0" y="0"/>
          <a:chExt cx="0" cy="0"/>
        </a:xfrm>
      </p:grpSpPr>
      <p:sp>
        <p:nvSpPr>
          <p:cNvPr id="2" name="Shape 0"/>
          <p:cNvSpPr/>
          <p:nvPr/>
        </p:nvSpPr>
        <p:spPr>
          <a:xfrm>
            <a:off x="8686800" y="-1828800"/>
            <a:ext cx="5029200" cy="5029200"/>
          </a:xfrm>
          <a:prstGeom prst="ellipse">
            <a:avLst/>
          </a:prstGeom>
          <a:solidFill>
            <a:srgbClr val="EE5A3A">
              <a:alpha val="24000"/>
            </a:srgbClr>
          </a:solidFill>
          <a:ln/>
        </p:spPr>
      </p:sp>
      <p:sp>
        <p:nvSpPr>
          <p:cNvPr id="3" name="Text 1"/>
          <p:cNvSpPr/>
          <p:nvPr/>
        </p:nvSpPr>
        <p:spPr>
          <a:xfrm>
            <a:off x="548640" y="1005840"/>
            <a:ext cx="10058400" cy="274320"/>
          </a:xfrm>
          <a:prstGeom prst="rect">
            <a:avLst/>
          </a:prstGeom>
          <a:noFill/>
          <a:ln/>
        </p:spPr>
        <p:txBody>
          <a:bodyPr wrap="square" lIns="0" tIns="0" rIns="0" bIns="0" rtlCol="0" anchor="ctr"/>
          <a:lstStyle/>
          <a:p>
            <a:pPr indent="0" marL="0">
              <a:buNone/>
            </a:pPr>
            <a:r>
              <a:rPr lang="en-US" sz="1200" b="1" spc="250" kern="0" dirty="0">
                <a:solidFill>
                  <a:srgbClr val="15B8A6"/>
                </a:solidFill>
                <a:latin typeface="Calibri" pitchFamily="34" charset="0"/>
                <a:ea typeface="Calibri" pitchFamily="34" charset="-122"/>
                <a:cs typeface="Calibri" pitchFamily="34" charset="-120"/>
              </a:rPr>
              <a:t>BEFORE YOU DEPLOY ANYTHING</a:t>
            </a:r>
            <a:endParaRPr lang="en-US" sz="1200" dirty="0"/>
          </a:p>
        </p:txBody>
      </p:sp>
      <p:sp>
        <p:nvSpPr>
          <p:cNvPr id="4" name="Text 2"/>
          <p:cNvSpPr/>
          <p:nvPr/>
        </p:nvSpPr>
        <p:spPr>
          <a:xfrm>
            <a:off x="548640" y="1554480"/>
            <a:ext cx="10789920" cy="2926080"/>
          </a:xfrm>
          <a:prstGeom prst="rect">
            <a:avLst/>
          </a:prstGeom>
          <a:noFill/>
          <a:ln/>
        </p:spPr>
        <p:txBody>
          <a:bodyPr wrap="square" rtlCol="0" anchor="t"/>
          <a:lstStyle/>
          <a:p>
            <a:pPr indent="0" marL="0">
              <a:lnSpc>
                <a:spcPts val="4400"/>
              </a:lnSpc>
              <a:buNone/>
            </a:pPr>
            <a:r>
              <a:rPr lang="en-US" sz="3400" b="1" spc="-50" kern="0" dirty="0">
                <a:solidFill>
                  <a:srgbClr val="FFFFFF"/>
                </a:solidFill>
                <a:latin typeface="Calibri" pitchFamily="34" charset="0"/>
                <a:ea typeface="Calibri" pitchFamily="34" charset="-122"/>
                <a:cs typeface="Calibri" pitchFamily="34" charset="-120"/>
              </a:rPr>
              <a:t>A secret committed to git</a:t>
            </a:r>
            <a:endParaRPr lang="en-US" sz="3400" dirty="0"/>
          </a:p>
          <a:p>
            <a:pPr indent="0" marL="0">
              <a:lnSpc>
                <a:spcPts val="4400"/>
              </a:lnSpc>
              <a:buNone/>
            </a:pPr>
            <a:r>
              <a:rPr lang="en-US" sz="3400" b="1" spc="-50" kern="0" dirty="0">
                <a:solidFill>
                  <a:srgbClr val="FFFFFF"/>
                </a:solidFill>
                <a:latin typeface="Calibri" pitchFamily="34" charset="0"/>
                <a:ea typeface="Calibri" pitchFamily="34" charset="-122"/>
                <a:cs typeface="Calibri" pitchFamily="34" charset="-120"/>
              </a:rPr>
              <a:t>is in the history forever.</a:t>
            </a:r>
            <a:endParaRPr lang="en-US" sz="3400" dirty="0"/>
          </a:p>
        </p:txBody>
      </p:sp>
      <p:sp>
        <p:nvSpPr>
          <p:cNvPr id="5" name="Text 3"/>
          <p:cNvSpPr/>
          <p:nvPr/>
        </p:nvSpPr>
        <p:spPr>
          <a:xfrm>
            <a:off x="548640" y="4937760"/>
            <a:ext cx="10515600" cy="548640"/>
          </a:xfrm>
          <a:prstGeom prst="rect">
            <a:avLst/>
          </a:prstGeom>
          <a:noFill/>
          <a:ln/>
        </p:spPr>
        <p:txBody>
          <a:bodyPr wrap="square" rtlCol="0" anchor="ctr"/>
          <a:lstStyle/>
          <a:p>
            <a:pPr indent="0" marL="0">
              <a:buNone/>
            </a:pPr>
            <a:r>
              <a:rPr lang="en-US" sz="1400" i="1" dirty="0">
                <a:solidFill>
                  <a:srgbClr val="B8A69B"/>
                </a:solidFill>
                <a:latin typeface="Calibri" pitchFamily="34" charset="0"/>
                <a:ea typeface="Calibri" pitchFamily="34" charset="-122"/>
                <a:cs typeface="Calibri" pitchFamily="34" charset="-120"/>
              </a:rPr>
              <a:t>Deleting the line does not remove it. Rotate the key instead.</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EE5A3A"/>
                </a:solidFill>
                <a:latin typeface="Calibri" pitchFamily="34" charset="0"/>
                <a:ea typeface="Calibri" pitchFamily="34" charset="-122"/>
                <a:cs typeface="Calibri" pitchFamily="34" charset="-120"/>
              </a:rPr>
              <a:t>DEPLOY</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100" b="1" spc="-50" kern="0" dirty="0">
                <a:solidFill>
                  <a:srgbClr val="2A1A20"/>
                </a:solidFill>
                <a:latin typeface="Calibri" pitchFamily="34" charset="0"/>
                <a:ea typeface="Calibri" pitchFamily="34" charset="-122"/>
                <a:cs typeface="Calibri" pitchFamily="34" charset="-120"/>
              </a:rPr>
              <a:t>You already built the deployable</a:t>
            </a:r>
            <a:endParaRPr lang="en-US" sz="3100" dirty="0"/>
          </a:p>
        </p:txBody>
      </p:sp>
      <p:sp>
        <p:nvSpPr>
          <p:cNvPr id="4" name="Text 2"/>
          <p:cNvSpPr/>
          <p:nvPr/>
        </p:nvSpPr>
        <p:spPr>
          <a:xfrm>
            <a:off x="548640" y="1737360"/>
            <a:ext cx="6537960" cy="4572000"/>
          </a:xfrm>
          <a:prstGeom prst="rect">
            <a:avLst/>
          </a:prstGeom>
          <a:noFill/>
          <a:ln/>
        </p:spPr>
        <p:txBody>
          <a:bodyPr wrap="square" lIns="0" tIns="0" rIns="0" bIns="0" rtlCol="0" anchor="t"/>
          <a:lstStyle/>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Same image, no code changes</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You hand over a container; the platform runs it. This is the payoff for doing yesterday properly.</a:t>
            </a:r>
            <a:endParaRPr lang="en-US" sz="1550" dirty="0"/>
          </a:p>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The host dictates the port</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Hugging Face Spaces expects 7860. Our CMD reads $PORT — so the image is unchanged.</a:t>
            </a:r>
            <a:endParaRPr lang="en-US" sz="1550" dirty="0"/>
          </a:p>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Expect a cold start</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Free tiers sleep when idle. The first request wakes the container AND loads the model — several seconds.</a:t>
            </a:r>
            <a:endParaRPr lang="en-US" sz="1550" dirty="0"/>
          </a:p>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Health check earns its keep</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The platform polls /health to decide whether to route traffic to you or restart you.</a:t>
            </a:r>
            <a:endParaRPr lang="en-US" sz="1550" dirty="0"/>
          </a:p>
        </p:txBody>
      </p:sp>
      <p:sp>
        <p:nvSpPr>
          <p:cNvPr id="5" name="Shape 3"/>
          <p:cNvSpPr/>
          <p:nvPr/>
        </p:nvSpPr>
        <p:spPr>
          <a:xfrm>
            <a:off x="7452360" y="1737360"/>
            <a:ext cx="4160520" cy="4572000"/>
          </a:xfrm>
          <a:prstGeom prst="roundRect">
            <a:avLst>
              <a:gd name="adj" fmla="val 2198"/>
            </a:avLst>
          </a:prstGeom>
          <a:solidFill>
            <a:srgbClr val="FDECE4"/>
          </a:solidFill>
          <a:ln/>
          <a:effectLst>
            <a:outerShdw sx="100000" sy="100000" kx="0" ky="0" algn="bl" rotWithShape="0" blurRad="101600" dist="38100" dir="5400000">
              <a:srgbClr val="2A1A20">
                <a:alpha val="12000"/>
              </a:srgbClr>
            </a:outerShdw>
          </a:effectLst>
        </p:spPr>
      </p:sp>
      <p:sp>
        <p:nvSpPr>
          <p:cNvPr id="6" name="Shape 4"/>
          <p:cNvSpPr/>
          <p:nvPr/>
        </p:nvSpPr>
        <p:spPr>
          <a:xfrm>
            <a:off x="7726680" y="2011680"/>
            <a:ext cx="420624" cy="420624"/>
          </a:xfrm>
          <a:prstGeom prst="ellipse">
            <a:avLst/>
          </a:prstGeom>
          <a:solidFill>
            <a:srgbClr val="EE5A3A"/>
          </a:solidFill>
          <a:ln/>
        </p:spPr>
      </p:sp>
      <p:sp>
        <p:nvSpPr>
          <p:cNvPr id="7" name="Text 5"/>
          <p:cNvSpPr/>
          <p:nvPr/>
        </p:nvSpPr>
        <p:spPr>
          <a:xfrm>
            <a:off x="7726680" y="1993392"/>
            <a:ext cx="420624" cy="420624"/>
          </a:xfrm>
          <a:prstGeom prst="rect">
            <a:avLst/>
          </a:prstGeom>
          <a:noFill/>
          <a:ln/>
        </p:spPr>
        <p:txBody>
          <a:bodyPr wrap="square" rtlCol="0" anchor="ctr"/>
          <a:lstStyle/>
          <a:p>
            <a:pPr algn="ctr" indent="0" marL="0">
              <a:buNone/>
            </a:pPr>
            <a:r>
              <a:rPr lang="en-US" sz="1700" b="1" i="1" dirty="0">
                <a:solidFill>
                  <a:srgbClr val="FFFFFF"/>
                </a:solidFill>
                <a:latin typeface="Calibri" pitchFamily="34" charset="0"/>
                <a:ea typeface="Calibri" pitchFamily="34" charset="-122"/>
                <a:cs typeface="Calibri" pitchFamily="34" charset="-120"/>
              </a:rPr>
              <a:t>i</a:t>
            </a:r>
            <a:endParaRPr lang="en-US" sz="1700" dirty="0"/>
          </a:p>
        </p:txBody>
      </p:sp>
      <p:sp>
        <p:nvSpPr>
          <p:cNvPr id="8" name="Text 6"/>
          <p:cNvSpPr/>
          <p:nvPr/>
        </p:nvSpPr>
        <p:spPr>
          <a:xfrm>
            <a:off x="8275320" y="2011680"/>
            <a:ext cx="3108960" cy="420624"/>
          </a:xfrm>
          <a:prstGeom prst="rect">
            <a:avLst/>
          </a:prstGeom>
          <a:noFill/>
          <a:ln/>
        </p:spPr>
        <p:txBody>
          <a:bodyPr wrap="square" lIns="0" tIns="0" rIns="0" bIns="0" rtlCol="0" anchor="ctr"/>
          <a:lstStyle/>
          <a:p>
            <a:pPr indent="0" marL="0">
              <a:buNone/>
            </a:pPr>
            <a:r>
              <a:rPr lang="en-US" sz="1200" b="1" spc="120" kern="0" dirty="0">
                <a:solidFill>
                  <a:srgbClr val="D5472B"/>
                </a:solidFill>
                <a:latin typeface="Calibri" pitchFamily="34" charset="0"/>
                <a:ea typeface="Calibri" pitchFamily="34" charset="-122"/>
                <a:cs typeface="Calibri" pitchFamily="34" charset="-120"/>
              </a:rPr>
              <a:t>SAY THIS BEFORE THE DEMO</a:t>
            </a:r>
            <a:endParaRPr lang="en-US" sz="1200" dirty="0"/>
          </a:p>
        </p:txBody>
      </p:sp>
      <p:sp>
        <p:nvSpPr>
          <p:cNvPr id="9" name="Text 7"/>
          <p:cNvSpPr/>
          <p:nvPr/>
        </p:nvSpPr>
        <p:spPr>
          <a:xfrm>
            <a:off x="7744968" y="2633472"/>
            <a:ext cx="3593592" cy="3520440"/>
          </a:xfrm>
          <a:prstGeom prst="rect">
            <a:avLst/>
          </a:prstGeom>
          <a:noFill/>
          <a:ln/>
        </p:spPr>
        <p:txBody>
          <a:bodyPr wrap="square" lIns="0" tIns="0" rIns="0" bIns="0" rtlCol="0" anchor="t"/>
          <a:lstStyle/>
          <a:p>
            <a:pPr indent="0" marL="0">
              <a:lnSpc>
                <a:spcPts val="1800"/>
              </a:lnSpc>
              <a:buNone/>
            </a:pPr>
            <a:r>
              <a:rPr lang="en-US" sz="1300" dirty="0">
                <a:solidFill>
                  <a:srgbClr val="2A1A20"/>
                </a:solidFill>
                <a:latin typeface="Calibri" pitchFamily="34" charset="0"/>
                <a:ea typeface="Calibri" pitchFamily="34" charset="-122"/>
                <a:cs typeface="Calibri" pitchFamily="34" charset="-120"/>
              </a:rPr>
              <a:t>'Hit your URL thirty seconds before you present.' A cold start in front of an audience looks like a broken deploy — and it is the most common own-goal on demo day.</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A1A20"/>
        </a:solidFill>
      </p:bgPr>
    </p:bg>
    <p:spTree>
      <p:nvGrpSpPr>
        <p:cNvPr id="1" name=""/>
        <p:cNvGrpSpPr/>
        <p:nvPr/>
      </p:nvGrpSpPr>
      <p:grpSpPr>
        <a:xfrm>
          <a:off x="0" y="0"/>
          <a:ext cx="0" cy="0"/>
          <a:chOff x="0" y="0"/>
          <a:chExt cx="0" cy="0"/>
        </a:xfrm>
      </p:grpSpPr>
      <p:sp>
        <p:nvSpPr>
          <p:cNvPr id="2" name="Shape 0"/>
          <p:cNvSpPr/>
          <p:nvPr/>
        </p:nvSpPr>
        <p:spPr>
          <a:xfrm>
            <a:off x="8961120" y="3291840"/>
            <a:ext cx="5486400" cy="5486400"/>
          </a:xfrm>
          <a:prstGeom prst="ellipse">
            <a:avLst/>
          </a:prstGeom>
          <a:solidFill>
            <a:srgbClr val="15B8A6">
              <a:alpha val="26000"/>
            </a:srgbClr>
          </a:solidFill>
          <a:ln/>
        </p:spPr>
      </p:sp>
      <p:sp>
        <p:nvSpPr>
          <p:cNvPr id="3" name="Text 1"/>
          <p:cNvSpPr/>
          <p:nvPr/>
        </p:nvSpPr>
        <p:spPr>
          <a:xfrm>
            <a:off x="548640" y="777240"/>
            <a:ext cx="10058400" cy="274320"/>
          </a:xfrm>
          <a:prstGeom prst="rect">
            <a:avLst/>
          </a:prstGeom>
          <a:noFill/>
          <a:ln/>
        </p:spPr>
        <p:txBody>
          <a:bodyPr wrap="square" lIns="0" tIns="0" rIns="0" bIns="0" rtlCol="0" anchor="ctr"/>
          <a:lstStyle/>
          <a:p>
            <a:pPr indent="0" marL="0">
              <a:buNone/>
            </a:pPr>
            <a:r>
              <a:rPr lang="en-US" sz="1200" b="1" spc="250" kern="0" dirty="0">
                <a:solidFill>
                  <a:srgbClr val="15B8A6"/>
                </a:solidFill>
                <a:latin typeface="Calibri" pitchFamily="34" charset="0"/>
                <a:ea typeface="Calibri" pitchFamily="34" charset="-122"/>
                <a:cs typeface="Calibri" pitchFamily="34" charset="-120"/>
              </a:rPr>
              <a:t>YOUR TURN  ·  ~105 MIN TOTAL</a:t>
            </a:r>
            <a:endParaRPr lang="en-US" sz="1200" dirty="0"/>
          </a:p>
        </p:txBody>
      </p:sp>
      <p:sp>
        <p:nvSpPr>
          <p:cNvPr id="4" name="Text 2"/>
          <p:cNvSpPr/>
          <p:nvPr/>
        </p:nvSpPr>
        <p:spPr>
          <a:xfrm>
            <a:off x="548640" y="1097280"/>
            <a:ext cx="10789920" cy="914400"/>
          </a:xfrm>
          <a:prstGeom prst="rect">
            <a:avLst/>
          </a:prstGeom>
          <a:noFill/>
          <a:ln/>
        </p:spPr>
        <p:txBody>
          <a:bodyPr wrap="square" lIns="0" tIns="0" rIns="0" bIns="0" rtlCol="0" anchor="ctr"/>
          <a:lstStyle/>
          <a:p>
            <a:pPr indent="0" marL="0">
              <a:buNone/>
            </a:pPr>
            <a:r>
              <a:rPr lang="en-US" sz="3600" b="1" spc="-50" kern="0" dirty="0">
                <a:solidFill>
                  <a:srgbClr val="FFFFFF"/>
                </a:solidFill>
                <a:latin typeface="Calibri" pitchFamily="34" charset="0"/>
                <a:ea typeface="Calibri" pitchFamily="34" charset="-122"/>
                <a:cs typeface="Calibri" pitchFamily="34" charset="-120"/>
              </a:rPr>
              <a:t>Lab 4 then Lab 5 — automate, then ship</a:t>
            </a:r>
            <a:endParaRPr lang="en-US" sz="3600" dirty="0"/>
          </a:p>
        </p:txBody>
      </p:sp>
      <p:sp>
        <p:nvSpPr>
          <p:cNvPr id="5" name="Text 3"/>
          <p:cNvSpPr/>
          <p:nvPr/>
        </p:nvSpPr>
        <p:spPr>
          <a:xfrm>
            <a:off x="548640" y="2148840"/>
            <a:ext cx="10424160" cy="1280160"/>
          </a:xfrm>
          <a:prstGeom prst="rect">
            <a:avLst/>
          </a:prstGeom>
          <a:noFill/>
          <a:ln/>
        </p:spPr>
        <p:txBody>
          <a:bodyPr wrap="square" rtlCol="0" anchor="t"/>
          <a:lstStyle/>
          <a:p>
            <a:pPr indent="0" marL="0">
              <a:lnSpc>
                <a:spcPts val="2500"/>
              </a:lnSpc>
              <a:buNone/>
            </a:pPr>
            <a:r>
              <a:rPr lang="en-US" sz="1700" dirty="0">
                <a:solidFill>
                  <a:srgbClr val="EAD9CE"/>
                </a:solidFill>
                <a:latin typeface="Calibri" pitchFamily="34" charset="0"/>
                <a:ea typeface="Calibri" pitchFamily="34" charset="-122"/>
                <a:cs typeface="Calibri" pitchFamily="34" charset="-120"/>
              </a:rPr>
              <a:t>Two labs back to back. The second one ends with your model on the internet.</a:t>
            </a:r>
            <a:endParaRPr lang="en-US" sz="1700" dirty="0"/>
          </a:p>
        </p:txBody>
      </p:sp>
      <p:sp>
        <p:nvSpPr>
          <p:cNvPr id="6" name="Text 4"/>
          <p:cNvSpPr/>
          <p:nvPr/>
        </p:nvSpPr>
        <p:spPr>
          <a:xfrm>
            <a:off x="548640" y="3840480"/>
            <a:ext cx="10058400" cy="274320"/>
          </a:xfrm>
          <a:prstGeom prst="rect">
            <a:avLst/>
          </a:prstGeom>
          <a:noFill/>
          <a:ln/>
        </p:spPr>
        <p:txBody>
          <a:bodyPr wrap="square" lIns="0" tIns="0" rIns="0" bIns="0" rtlCol="0" anchor="ctr"/>
          <a:lstStyle/>
          <a:p>
            <a:pPr indent="0" marL="0">
              <a:buNone/>
            </a:pPr>
            <a:r>
              <a:rPr lang="en-US" sz="1200" b="1" spc="200" kern="0" dirty="0">
                <a:solidFill>
                  <a:srgbClr val="15B8A6"/>
                </a:solidFill>
                <a:latin typeface="Calibri" pitchFamily="34" charset="0"/>
                <a:ea typeface="Calibri" pitchFamily="34" charset="-122"/>
                <a:cs typeface="Calibri" pitchFamily="34" charset="-120"/>
              </a:rPr>
              <a:t>ON THE SITE</a:t>
            </a:r>
            <a:endParaRPr lang="en-US" sz="1200" dirty="0"/>
          </a:p>
        </p:txBody>
      </p:sp>
      <p:sp>
        <p:nvSpPr>
          <p:cNvPr id="7" name="Text 5"/>
          <p:cNvSpPr/>
          <p:nvPr/>
        </p:nvSpPr>
        <p:spPr>
          <a:xfrm>
            <a:off x="548640" y="4160520"/>
            <a:ext cx="10424160" cy="1828800"/>
          </a:xfrm>
          <a:prstGeom prst="rect">
            <a:avLst/>
          </a:prstGeom>
          <a:noFill/>
          <a:ln/>
        </p:spPr>
        <p:txBody>
          <a:bodyPr wrap="square" rtlCol="0" anchor="t"/>
          <a:lstStyle/>
          <a:p>
            <a:pPr marL="177800" indent="-177800">
              <a:lnSpc>
                <a:spcPts val="2000"/>
              </a:lnSpc>
              <a:spcAft>
                <a:spcPts val="700"/>
              </a:spcAft>
              <a:buSzPct val="100000"/>
              <a:buChar char="•"/>
            </a:pPr>
            <a:r>
              <a:rPr lang="en-US" sz="1500" dirty="0">
                <a:solidFill>
                  <a:srgbClr val="F5EAE2"/>
                </a:solidFill>
                <a:latin typeface="Calibri" pitchFamily="34" charset="0"/>
                <a:ea typeface="Calibri" pitchFamily="34" charset="-122"/>
                <a:cs typeface="Calibri" pitchFamily="34" charset="-120"/>
              </a:rPr>
              <a:t>Lab 4: workflow that lints, tests, builds — plus the accuracy gate</a:t>
            </a:r>
            <a:endParaRPr lang="en-US" sz="1500" dirty="0"/>
          </a:p>
          <a:p>
            <a:pPr marL="177800" indent="-177800">
              <a:lnSpc>
                <a:spcPts val="2000"/>
              </a:lnSpc>
              <a:spcAft>
                <a:spcPts val="700"/>
              </a:spcAft>
              <a:buSzPct val="100000"/>
              <a:buChar char="•"/>
            </a:pPr>
            <a:r>
              <a:rPr lang="en-US" sz="1500" dirty="0">
                <a:solidFill>
                  <a:srgbClr val="F5EAE2"/>
                </a:solidFill>
                <a:latin typeface="Calibri" pitchFamily="34" charset="0"/>
                <a:ea typeface="Calibri" pitchFamily="34" charset="-122"/>
                <a:cs typeface="Calibri" pitchFamily="34" charset="-120"/>
              </a:rPr>
              <a:t>Lab 4 break-it: fail a test on purpose, watch it block you, fix it back to green</a:t>
            </a:r>
            <a:endParaRPr lang="en-US" sz="1500" dirty="0"/>
          </a:p>
          <a:p>
            <a:pPr marL="177800" indent="-177800">
              <a:lnSpc>
                <a:spcPts val="2000"/>
              </a:lnSpc>
              <a:spcAft>
                <a:spcPts val="700"/>
              </a:spcAft>
              <a:buSzPct val="100000"/>
              <a:buChar char="•"/>
            </a:pPr>
            <a:r>
              <a:rPr lang="en-US" sz="1500" dirty="0">
                <a:solidFill>
                  <a:srgbClr val="F5EAE2"/>
                </a:solidFill>
                <a:latin typeface="Calibri" pitchFamily="34" charset="0"/>
                <a:ea typeface="Calibri" pitchFamily="34" charset="-122"/>
                <a:cs typeface="Calibri" pitchFamily="34" charset="-120"/>
              </a:rPr>
              <a:t>Lab 5: deploy the container to a Hugging Face Docker Space</a:t>
            </a:r>
            <a:endParaRPr lang="en-US" sz="1500" dirty="0"/>
          </a:p>
          <a:p>
            <a:pPr marL="177800" indent="-177800">
              <a:lnSpc>
                <a:spcPts val="2000"/>
              </a:lnSpc>
              <a:spcAft>
                <a:spcPts val="700"/>
              </a:spcAft>
              <a:buSzPct val="100000"/>
              <a:buChar char="•"/>
            </a:pPr>
            <a:r>
              <a:rPr lang="en-US" sz="1500" dirty="0">
                <a:solidFill>
                  <a:srgbClr val="F5EAE2"/>
                </a:solidFill>
                <a:latin typeface="Calibri" pitchFamily="34" charset="0"/>
                <a:ea typeface="Calibri" pitchFamily="34" charset="-122"/>
                <a:cs typeface="Calibri" pitchFamily="34" charset="-120"/>
              </a:rPr>
              <a:t>Lab 5: call it FROM YOUR PHONE, then put your link on the class wall</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A1A20"/>
        </a:solidFill>
      </p:bgPr>
    </p:bg>
    <p:spTree>
      <p:nvGrpSpPr>
        <p:cNvPr id="1" name=""/>
        <p:cNvGrpSpPr/>
        <p:nvPr/>
      </p:nvGrpSpPr>
      <p:grpSpPr>
        <a:xfrm>
          <a:off x="0" y="0"/>
          <a:ext cx="0" cy="0"/>
          <a:chOff x="0" y="0"/>
          <a:chExt cx="0" cy="0"/>
        </a:xfrm>
      </p:grpSpPr>
      <p:sp>
        <p:nvSpPr>
          <p:cNvPr id="2" name="Shape 0"/>
          <p:cNvSpPr/>
          <p:nvPr/>
        </p:nvSpPr>
        <p:spPr>
          <a:xfrm>
            <a:off x="-1828800" y="-1828800"/>
            <a:ext cx="5029200" cy="5029200"/>
          </a:xfrm>
          <a:prstGeom prst="ellipse">
            <a:avLst/>
          </a:prstGeom>
          <a:solidFill>
            <a:srgbClr val="EE5A3A">
              <a:alpha val="24000"/>
            </a:srgbClr>
          </a:solidFill>
          <a:ln/>
        </p:spPr>
      </p:sp>
      <p:sp>
        <p:nvSpPr>
          <p:cNvPr id="3" name="Shape 1"/>
          <p:cNvSpPr/>
          <p:nvPr/>
        </p:nvSpPr>
        <p:spPr>
          <a:xfrm>
            <a:off x="548640" y="640080"/>
            <a:ext cx="548640" cy="548640"/>
          </a:xfrm>
          <a:prstGeom prst="roundRect">
            <a:avLst>
              <a:gd name="adj" fmla="val 22000"/>
            </a:avLst>
          </a:prstGeom>
          <a:solidFill>
            <a:srgbClr val="EE5A3A"/>
          </a:solidFill>
          <a:ln/>
        </p:spPr>
      </p:sp>
      <p:sp>
        <p:nvSpPr>
          <p:cNvPr id="4" name="Text 2"/>
          <p:cNvSpPr/>
          <p:nvPr/>
        </p:nvSpPr>
        <p:spPr>
          <a:xfrm>
            <a:off x="548640" y="640080"/>
            <a:ext cx="548640" cy="548640"/>
          </a:xfrm>
          <a:prstGeom prst="rect">
            <a:avLst/>
          </a:prstGeom>
          <a:noFill/>
          <a:ln/>
        </p:spPr>
        <p:txBody>
          <a:bodyPr wrap="square" rtlCol="0" anchor="ctr"/>
          <a:lstStyle/>
          <a:p>
            <a:pPr algn="ctr" indent="0" marL="0">
              <a:buNone/>
            </a:pPr>
            <a:r>
              <a:rPr lang="en-US" sz="2280" b="1" dirty="0">
                <a:solidFill>
                  <a:srgbClr val="FFFFFF"/>
                </a:solidFill>
                <a:latin typeface="Calibri" pitchFamily="34" charset="0"/>
                <a:ea typeface="Calibri" pitchFamily="34" charset="-122"/>
                <a:cs typeface="Calibri" pitchFamily="34" charset="-120"/>
              </a:rPr>
              <a:t>VL</a:t>
            </a:r>
            <a:endParaRPr lang="en-US" sz="2280" dirty="0"/>
          </a:p>
        </p:txBody>
      </p:sp>
      <p:sp>
        <p:nvSpPr>
          <p:cNvPr id="5" name="Text 3"/>
          <p:cNvSpPr/>
          <p:nvPr/>
        </p:nvSpPr>
        <p:spPr>
          <a:xfrm>
            <a:off x="548640" y="1600200"/>
            <a:ext cx="10058400" cy="274320"/>
          </a:xfrm>
          <a:prstGeom prst="rect">
            <a:avLst/>
          </a:prstGeom>
          <a:noFill/>
          <a:ln/>
        </p:spPr>
        <p:txBody>
          <a:bodyPr wrap="square" lIns="0" tIns="0" rIns="0" bIns="0" rtlCol="0" anchor="ctr"/>
          <a:lstStyle/>
          <a:p>
            <a:pPr indent="0" marL="0">
              <a:buNone/>
            </a:pPr>
            <a:r>
              <a:rPr lang="en-US" sz="1200" b="1" spc="250" kern="0" dirty="0">
                <a:solidFill>
                  <a:srgbClr val="15B8A6"/>
                </a:solidFill>
                <a:latin typeface="Calibri" pitchFamily="34" charset="0"/>
                <a:ea typeface="Calibri" pitchFamily="34" charset="-122"/>
                <a:cs typeface="Calibri" pitchFamily="34" charset="-120"/>
              </a:rPr>
              <a:t>RECAP</a:t>
            </a:r>
            <a:endParaRPr lang="en-US" sz="1200" dirty="0"/>
          </a:p>
        </p:txBody>
      </p:sp>
      <p:sp>
        <p:nvSpPr>
          <p:cNvPr id="6" name="Text 4"/>
          <p:cNvSpPr/>
          <p:nvPr/>
        </p:nvSpPr>
        <p:spPr>
          <a:xfrm>
            <a:off x="548640" y="1874520"/>
            <a:ext cx="10607040" cy="822960"/>
          </a:xfrm>
          <a:prstGeom prst="rect">
            <a:avLst/>
          </a:prstGeom>
          <a:noFill/>
          <a:ln/>
        </p:spPr>
        <p:txBody>
          <a:bodyPr wrap="square" lIns="0" tIns="0" rIns="0" bIns="0" rtlCol="0" anchor="ctr"/>
          <a:lstStyle/>
          <a:p>
            <a:pPr indent="0" marL="0">
              <a:buNone/>
            </a:pPr>
            <a:r>
              <a:rPr lang="en-US" sz="3000" b="1" spc="-50" kern="0" dirty="0">
                <a:solidFill>
                  <a:srgbClr val="FFFFFF"/>
                </a:solidFill>
                <a:latin typeface="Calibri" pitchFamily="34" charset="0"/>
                <a:ea typeface="Calibri" pitchFamily="34" charset="-122"/>
                <a:cs typeface="Calibri" pitchFamily="34" charset="-120"/>
              </a:rPr>
              <a:t>Module 5 in five lines</a:t>
            </a:r>
            <a:endParaRPr lang="en-US" sz="3000" dirty="0"/>
          </a:p>
        </p:txBody>
      </p:sp>
      <p:sp>
        <p:nvSpPr>
          <p:cNvPr id="7" name="Text 5"/>
          <p:cNvSpPr/>
          <p:nvPr/>
        </p:nvSpPr>
        <p:spPr>
          <a:xfrm>
            <a:off x="548640" y="2834640"/>
            <a:ext cx="10607040" cy="3383280"/>
          </a:xfrm>
          <a:prstGeom prst="rect">
            <a:avLst/>
          </a:prstGeom>
          <a:noFill/>
          <a:ln/>
        </p:spPr>
        <p:txBody>
          <a:bodyPr wrap="square" rtlCol="0" anchor="t"/>
          <a:lstStyle/>
          <a:p>
            <a:pPr marL="203200" indent="-203200">
              <a:lnSpc>
                <a:spcPts val="2100"/>
              </a:lnSpc>
              <a:spcAft>
                <a:spcPts val="1000"/>
              </a:spcAft>
              <a:buSzPct val="100000"/>
              <a:buChar char="•"/>
            </a:pPr>
            <a:r>
              <a:rPr lang="en-US" sz="1600" dirty="0">
                <a:solidFill>
                  <a:srgbClr val="F5EAE2"/>
                </a:solidFill>
                <a:latin typeface="Calibri" pitchFamily="34" charset="0"/>
                <a:ea typeface="Calibri" pitchFamily="34" charset="-122"/>
                <a:cs typeface="Calibri" pitchFamily="34" charset="-120"/>
              </a:rPr>
              <a:t>CI/CD = same checks, same order, clean machine, every push — failure blocks the change</a:t>
            </a:r>
            <a:endParaRPr lang="en-US" sz="1600" dirty="0"/>
          </a:p>
          <a:p>
            <a:pPr marL="203200" indent="-203200">
              <a:lnSpc>
                <a:spcPts val="2100"/>
              </a:lnSpc>
              <a:spcAft>
                <a:spcPts val="1000"/>
              </a:spcAft>
              <a:buSzPct val="100000"/>
              <a:buChar char="•"/>
            </a:pPr>
            <a:r>
              <a:rPr lang="en-US" sz="1600" dirty="0">
                <a:solidFill>
                  <a:srgbClr val="F5EAE2"/>
                </a:solidFill>
                <a:latin typeface="Calibri" pitchFamily="34" charset="0"/>
                <a:ea typeface="Calibri" pitchFamily="34" charset="-122"/>
                <a:cs typeface="Calibri" pitchFamily="34" charset="-120"/>
              </a:rPr>
              <a:t>ML CI adds two questions: is the data sane, and is the model still good enough?</a:t>
            </a:r>
            <a:endParaRPr lang="en-US" sz="1600" dirty="0"/>
          </a:p>
          <a:p>
            <a:pPr marL="203200" indent="-203200">
              <a:lnSpc>
                <a:spcPts val="2100"/>
              </a:lnSpc>
              <a:spcAft>
                <a:spcPts val="1000"/>
              </a:spcAft>
              <a:buSzPct val="100000"/>
              <a:buChar char="•"/>
            </a:pPr>
            <a:r>
              <a:rPr lang="en-US" sz="1600" dirty="0">
                <a:solidFill>
                  <a:srgbClr val="F5EAE2"/>
                </a:solidFill>
                <a:latin typeface="Calibri" pitchFamily="34" charset="0"/>
                <a:ea typeface="Calibri" pitchFamily="34" charset="-122"/>
                <a:cs typeface="Calibri" pitchFamily="34" charset="-120"/>
              </a:rPr>
              <a:t>The accuracy gate makes 'check the score' impossible to skip</a:t>
            </a:r>
            <a:endParaRPr lang="en-US" sz="1600" dirty="0"/>
          </a:p>
          <a:p>
            <a:pPr marL="203200" indent="-203200">
              <a:lnSpc>
                <a:spcPts val="2100"/>
              </a:lnSpc>
              <a:spcAft>
                <a:spcPts val="1000"/>
              </a:spcAft>
              <a:buSzPct val="100000"/>
              <a:buChar char="•"/>
            </a:pPr>
            <a:r>
              <a:rPr lang="en-US" sz="1600" dirty="0">
                <a:solidFill>
                  <a:srgbClr val="F5EAE2"/>
                </a:solidFill>
                <a:latin typeface="Calibri" pitchFamily="34" charset="0"/>
                <a:ea typeface="Calibri" pitchFamily="34" charset="-122"/>
                <a:cs typeface="Calibri" pitchFamily="34" charset="-120"/>
              </a:rPr>
              <a:t>Secrets live in the environment — never in source, the image, or logs</a:t>
            </a:r>
            <a:endParaRPr lang="en-US" sz="1600" dirty="0"/>
          </a:p>
          <a:p>
            <a:pPr marL="203200" indent="-203200">
              <a:lnSpc>
                <a:spcPts val="2100"/>
              </a:lnSpc>
              <a:spcAft>
                <a:spcPts val="1000"/>
              </a:spcAft>
              <a:buSzPct val="100000"/>
              <a:buChar char="•"/>
            </a:pPr>
            <a:r>
              <a:rPr lang="en-US" sz="1600" dirty="0">
                <a:solidFill>
                  <a:srgbClr val="F5EAE2"/>
                </a:solidFill>
                <a:latin typeface="Calibri" pitchFamily="34" charset="0"/>
                <a:ea typeface="Calibri" pitchFamily="34" charset="-122"/>
                <a:cs typeface="Calibri" pitchFamily="34" charset="-120"/>
              </a:rPr>
              <a:t>Deploy is a copy-paste BECAUSE you containerized properly. Read $PORT, expect a cold start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2026-08-05T09:29:52Z</dcterms:created>
  <dcterms:modified xsi:type="dcterms:W3CDTF">2026-08-05T09:29:52Z</dcterms:modified>
</cp:coreProperties>
</file>