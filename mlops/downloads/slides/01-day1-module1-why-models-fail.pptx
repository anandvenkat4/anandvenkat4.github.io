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start with me, and don't start with a definition. Start with the slide after this one — the story. Say only this: 'Before I tell you what MLOps is, let me tell you what happens when a company doesn't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slowly. Pause after the number. Then: 'Zillow used a machine-learning model to decide what to pay for homes — and then bought them, with real money. In late 2021 they shut it down, wrote down about three hundred and four million dollars of houses, and cut a quarter of their staff.' Pause. 'Here's the part I want you to sit with: nobody shipped a bad model. They shipped a good model, and let the world drift out from under it.' Then ask the room: 'What do you think went wrong?' Take two or three answers. Somebody will say 'the data changed' — build on that, and you're into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framing for the whole three days. In your degree, a project ends when the notebook prints an accuracy score. In industry, that's roughly where the work begins. A model isn't a result — it's a running system that has to keep being right next week, on data nobody has seen yet, while other people change the code around it. Point at the middle number: eight stages, and only ONE of them is the bit you already know. Point at the zero: this is the cruel part — when a model goes wrong, you get no error message. It keeps answering, confidently, and it's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perspective slide. In 2015 a team at Google published a paper called Hidden Technical Debt in Machine Learning Systems, and its most-copied figure shows a production ML system as a diagram of boxes — where the box labelled 'ML code' is tiny, and everything around it is enormous: data collection, feature extraction, data verification, serving infrastructure, monitoring, configuration. Their line was that ML systems are a high-interest credit card of technical debt — you borrow speed today and pay interest forever in maintenance. So here's my answer to 'what is MLOps': it's everything in the big boxes. Now switch to the site, open the animated version, and press the button so they watch the model box shrink. Then say the line in the panel: your degree teaches the orange box; employers pay for the other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Killer number one is drift. Your model learned a snapshot; reality keeps going. Two flavours, and the difference matters because you detect them differently. Data drift is when the inputs shift — salaries inflate, a new customer segment shows up, someone recalibrates a sensor. The good news: you can detect that without any labels, just by watching the inputs, and on day three you'll write exactly that check. Concept drift is nastier: the inputs look normal but the relationship between input and correct answer has changed — the same applicant who was safe in 2019 is risky now. That usually needs outcomes, which arrive late. Now, one thing to kill early: this is NOT overfitting. Overfitting is train-versus-test and you see it at training time. Drift is production-versus-training and it shows up later, on a model that tested perfectly. Now go to the site and drag the drift slider slowly — and say the line: the model file never changed, I'm only moving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Killer number two, and it's the one that turns a small problem into an expensive one: nobody is watching. Read the left column out loud, slowly, one line at a time: two hundred OK. A confident prediction. Normal latency. No error in any log. No alert anywhere. Then say: 'That is what a broken model looks like. It looks exactly like a working one.' There is no crash, no stack trace, no red light — which is precisely why it survives for months. And the cost is on the right: weeks of wrong decisions, you find out from a customer instead of a dashboard, and nobody can even say when it started, because nothing was being measured. Then run the twelve-week animation on the site — once with monitoring on, once off. The 'off' run is the one that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Killer number three isn't the model or the world — it's the code and data around the model. And the 2015 paper gave these traps names, which is useful, because you will meet all four in your careers. CACE: changing anything changes everything — tweak one input feature and every learned weight can move, because ML systems have no clean module boundaries. Glue code and pipeline jungles: the pile of scripts that stitch your data together, which grows until nobody can trace how a feature is actually built. Hidden feedback loops — my favourite, and the most subtle: the model's own output changes the data it later trains on. A recommender changes what people click, and those clicks become tomorrow's training data, so the model teaches itself its own bias. And configuration debt: untracked thresholds and magic numbers, so 'which threshold was live last month' has no answer. Tomorrow you'll fix the most common one of these — train/serve skew — with a single shared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they work. Send them to Module 1 on the site, the exercise called 'Triage six real failures'. Read the framing: you're the on-call ML engineer, and for each incident you decide whether the root cause is drift, plumbing, or nobody watching. Tell them why it matters: the fix is completely different in each case — for drift you retrain, for plumbing you fix code, for monitoring you add an alarm. So the triage reflex is most of incident response. Give them six minutes, ask them to work in pairs, and tell them to argue about the ones they disagree on. Walk the room. Then ask the room which one was most contested — usually number six, the one where accuracy is fine but nobody knows which dataset trained the model. That's governance, and it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concept: maturity. Google's framing grades how automated your process is, and I want to be clear it's descriptive, not a judgement — everyone starts at zero. Level zero is manual: notebooks, a model emailed as a file, a human deploying on a Friday afternoon and hoping. That's most student projects and a surprising number of companies. Level one adds an automated training pipeline — new data arrives, retraining kicks off by itself. Level two is full CI/CD for the whole ML system, with quality gates on the model, not just the code. Our three days walk you from zero toward two. And now the second exercise: on the site there's a seven-question self-assessment. Be honest — nobody sees it — and it'll tell you your level and the single next thing worth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exercise, four minutes. Seven yes/no questions about a project they've actually built — can someone else reproduce it, do they know which data trained the deployed model, are runs logged automatically, do tests run on push, does a pipeline deploy, does retraining trigger itself, does anything alert them when quality drops. Stress: be honest, nobody sees this. Most of the room will land at Level 0, and that's the point — it makes the next three days feel personally useful rather than abstract. Ask for a show of hands: who got Level 0? Let them see they're not alone. Then say: by Friday evening, you'll have moved a real project up this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but worth saying, because they're all job-hunting. MLOps is where four roles meet: the data scientist who builds the model, the ML engineer who turns it into a service, the data engineer who makes sure the data arrives reliably, and the SRE or platform engineer who keeps it running. Here's the career point, and say it plainly: most graduates can do a slice of one of these. The person who can speak all four languages — who can train a model AND ship it AND watch it — is the person who gets hired and is hard to replace. That's what these three days are pointed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exercise, five minutes, in pairs — and this one is quietly the most valuable thing in Module 1. Take the Zillow story from the start of the session and write four lines. One: what happened, in one sentence, with no blame — we describe the system, not people. Two: the root cause — drift, plumbing, or no monitoring — pick one and defend it. Three, and this is the important one: what signal would have caught it early, and at what threshold. Force them to be specific: not 'monitor the model' but 'compare the median sale price of incoming listings to the training set weekly, and alert if it moves more than five percent.' Four: the fix, and whether it's a patch or a pipeline change. Tell them to keep this paper — on day three they will implement line three for their own model as a real drift check. That's the through-line of the whole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five lines, and then check they've got it. Read them out. Then ask three questions to the room and actually wait: someone tell me the difference between data drift and concept drift. Someone else — why is a failing model harder to notice than a failing web server? And third: which drift can you detect without labels? If those three come back cleanly, you're ready for Module 2, where we start fixing the plumbing — reproducibility, train/serve skew, and your first real tool, MLflow. Take a five-minute break first; they've been thinking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MODULE 1 · DAY 1</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Why Models Fail in Production</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You know how to train a model. This is about everything that happens after — where the job actually is.</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MLOps &amp; Model Deployment · Vel Tech · Dr. Venkateshwaran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A REAL ONE</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A company used a model to decide what to pay for houses.</a:t>
            </a:r>
            <a:endParaRPr lang="en-US" sz="3400" dirty="0"/>
          </a:p>
          <a:p>
            <a:pPr indent="0" marL="0">
              <a:lnSpc>
                <a:spcPts val="4400"/>
              </a:lnSpc>
              <a:buNone/>
            </a:pP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It wrote down about $304 million and shut the programme down.</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Zillow, November 2021 — widely reported. The model was fine. The market moved.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FRAMING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Training is the easy 20%</a:t>
            </a:r>
            <a:endParaRPr lang="en-US" sz="3100" dirty="0"/>
          </a:p>
        </p:txBody>
      </p:sp>
      <p:sp>
        <p:nvSpPr>
          <p:cNvPr id="4" name="Shape 2"/>
          <p:cNvSpPr/>
          <p:nvPr/>
        </p:nvSpPr>
        <p:spPr>
          <a:xfrm>
            <a:off x="548640" y="2103120"/>
            <a:ext cx="3505200" cy="2743200"/>
          </a:xfrm>
          <a:prstGeom prst="roundRect">
            <a:avLst>
              <a:gd name="adj" fmla="val 4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Text 3"/>
          <p:cNvSpPr/>
          <p:nvPr/>
        </p:nvSpPr>
        <p:spPr>
          <a:xfrm>
            <a:off x="685800" y="2468880"/>
            <a:ext cx="3230880" cy="1097280"/>
          </a:xfrm>
          <a:prstGeom prst="rect">
            <a:avLst/>
          </a:prstGeom>
          <a:noFill/>
          <a:ln/>
        </p:spPr>
        <p:txBody>
          <a:bodyPr wrap="square" lIns="0" tIns="0" rIns="0" bIns="0" rtlCol="0" anchor="ctr"/>
          <a:lstStyle/>
          <a:p>
            <a:pPr algn="ctr" indent="0" marL="0">
              <a:buNone/>
            </a:pPr>
            <a:r>
              <a:rPr lang="en-US" sz="4400" b="1" dirty="0">
                <a:solidFill>
                  <a:srgbClr val="EE5A3A"/>
                </a:solidFill>
                <a:latin typeface="Calibri" pitchFamily="34" charset="0"/>
                <a:ea typeface="Calibri" pitchFamily="34" charset="-122"/>
                <a:cs typeface="Calibri" pitchFamily="34" charset="-120"/>
              </a:rPr>
              <a:t>20%</a:t>
            </a:r>
            <a:endParaRPr lang="en-US" sz="4400" dirty="0"/>
          </a:p>
        </p:txBody>
      </p:sp>
      <p:sp>
        <p:nvSpPr>
          <p:cNvPr id="6" name="Text 4"/>
          <p:cNvSpPr/>
          <p:nvPr/>
        </p:nvSpPr>
        <p:spPr>
          <a:xfrm>
            <a:off x="777240" y="3657600"/>
            <a:ext cx="3048000" cy="1005840"/>
          </a:xfrm>
          <a:prstGeom prst="rect">
            <a:avLst/>
          </a:prstGeom>
          <a:noFill/>
          <a:ln/>
        </p:spPr>
        <p:txBody>
          <a:bodyPr wrap="square" lIns="0" tIns="0" rIns="0" bIns="0" rtlCol="0" anchor="t"/>
          <a:lstStyle/>
          <a:p>
            <a:pPr algn="ctr" indent="0" marL="0">
              <a:lnSpc>
                <a:spcPts val="1700"/>
              </a:lnSpc>
              <a:buNone/>
            </a:pPr>
            <a:r>
              <a:rPr lang="en-US" sz="1300" dirty="0">
                <a:solidFill>
                  <a:srgbClr val="574047"/>
                </a:solidFill>
                <a:latin typeface="Calibri" pitchFamily="34" charset="0"/>
                <a:ea typeface="Calibri" pitchFamily="34" charset="-122"/>
                <a:cs typeface="Calibri" pitchFamily="34" charset="-120"/>
              </a:rPr>
              <a:t>of the work is training the model</a:t>
            </a:r>
            <a:endParaRPr lang="en-US" sz="1300" dirty="0"/>
          </a:p>
        </p:txBody>
      </p:sp>
      <p:sp>
        <p:nvSpPr>
          <p:cNvPr id="7" name="Shape 5"/>
          <p:cNvSpPr/>
          <p:nvPr/>
        </p:nvSpPr>
        <p:spPr>
          <a:xfrm>
            <a:off x="4328160" y="2103120"/>
            <a:ext cx="3505200" cy="2743200"/>
          </a:xfrm>
          <a:prstGeom prst="roundRect">
            <a:avLst>
              <a:gd name="adj" fmla="val 4000"/>
            </a:avLst>
          </a:prstGeom>
          <a:solidFill>
            <a:srgbClr val="2A1A20"/>
          </a:solidFill>
          <a:ln/>
          <a:effectLst>
            <a:outerShdw sx="100000" sy="100000" kx="0" ky="0" algn="bl" rotWithShape="0" blurRad="101600" dist="38100" dir="5400000">
              <a:srgbClr val="2A1A20">
                <a:alpha val="12000"/>
              </a:srgbClr>
            </a:outerShdw>
          </a:effectLst>
        </p:spPr>
      </p:sp>
      <p:sp>
        <p:nvSpPr>
          <p:cNvPr id="8" name="Text 6"/>
          <p:cNvSpPr/>
          <p:nvPr/>
        </p:nvSpPr>
        <p:spPr>
          <a:xfrm>
            <a:off x="4465320" y="2468880"/>
            <a:ext cx="323088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8</a:t>
            </a:r>
            <a:endParaRPr lang="en-US" sz="4400" dirty="0"/>
          </a:p>
        </p:txBody>
      </p:sp>
      <p:sp>
        <p:nvSpPr>
          <p:cNvPr id="9" name="Text 7"/>
          <p:cNvSpPr/>
          <p:nvPr/>
        </p:nvSpPr>
        <p:spPr>
          <a:xfrm>
            <a:off x="4556760" y="3657600"/>
            <a:ext cx="3048000" cy="1005840"/>
          </a:xfrm>
          <a:prstGeom prst="rect">
            <a:avLst/>
          </a:prstGeom>
          <a:noFill/>
          <a:ln/>
        </p:spPr>
        <p:txBody>
          <a:bodyPr wrap="square" lIns="0" tIns="0" rIns="0" bIns="0" rtlCol="0" anchor="t"/>
          <a:lstStyle/>
          <a:p>
            <a:pPr algn="ctr" indent="0" marL="0">
              <a:lnSpc>
                <a:spcPts val="1700"/>
              </a:lnSpc>
              <a:buNone/>
            </a:pPr>
            <a:r>
              <a:rPr lang="en-US" sz="1300" dirty="0">
                <a:solidFill>
                  <a:srgbClr val="EAD9CE"/>
                </a:solidFill>
                <a:latin typeface="Calibri" pitchFamily="34" charset="0"/>
                <a:ea typeface="Calibri" pitchFamily="34" charset="-122"/>
                <a:cs typeface="Calibri" pitchFamily="34" charset="-120"/>
              </a:rPr>
              <a:t>stages in the pipeline — one of them is 'train'</a:t>
            </a:r>
            <a:endParaRPr lang="en-US" sz="1300" dirty="0"/>
          </a:p>
        </p:txBody>
      </p:sp>
      <p:sp>
        <p:nvSpPr>
          <p:cNvPr id="10" name="Shape 8"/>
          <p:cNvSpPr/>
          <p:nvPr/>
        </p:nvSpPr>
        <p:spPr>
          <a:xfrm>
            <a:off x="8107680" y="2103120"/>
            <a:ext cx="3505200" cy="2743200"/>
          </a:xfrm>
          <a:prstGeom prst="roundRect">
            <a:avLst>
              <a:gd name="adj" fmla="val 4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1" name="Text 9"/>
          <p:cNvSpPr/>
          <p:nvPr/>
        </p:nvSpPr>
        <p:spPr>
          <a:xfrm>
            <a:off x="8244840" y="2468880"/>
            <a:ext cx="3230880" cy="1097280"/>
          </a:xfrm>
          <a:prstGeom prst="rect">
            <a:avLst/>
          </a:prstGeom>
          <a:noFill/>
          <a:ln/>
        </p:spPr>
        <p:txBody>
          <a:bodyPr wrap="square" lIns="0" tIns="0" rIns="0" bIns="0" rtlCol="0" anchor="ctr"/>
          <a:lstStyle/>
          <a:p>
            <a:pPr algn="ctr" indent="0" marL="0">
              <a:buNone/>
            </a:pPr>
            <a:r>
              <a:rPr lang="en-US" sz="4400" b="1" dirty="0">
                <a:solidFill>
                  <a:srgbClr val="EE5A3A"/>
                </a:solidFill>
                <a:latin typeface="Calibri" pitchFamily="34" charset="0"/>
                <a:ea typeface="Calibri" pitchFamily="34" charset="-122"/>
                <a:cs typeface="Calibri" pitchFamily="34" charset="-120"/>
              </a:rPr>
              <a:t>0</a:t>
            </a:r>
            <a:endParaRPr lang="en-US" sz="4400" dirty="0"/>
          </a:p>
        </p:txBody>
      </p:sp>
      <p:sp>
        <p:nvSpPr>
          <p:cNvPr id="12" name="Text 10"/>
          <p:cNvSpPr/>
          <p:nvPr/>
        </p:nvSpPr>
        <p:spPr>
          <a:xfrm>
            <a:off x="8336280" y="3657600"/>
            <a:ext cx="3048000" cy="1005840"/>
          </a:xfrm>
          <a:prstGeom prst="rect">
            <a:avLst/>
          </a:prstGeom>
          <a:noFill/>
          <a:ln/>
        </p:spPr>
        <p:txBody>
          <a:bodyPr wrap="square" lIns="0" tIns="0" rIns="0" bIns="0" rtlCol="0" anchor="t"/>
          <a:lstStyle/>
          <a:p>
            <a:pPr algn="ctr" indent="0" marL="0">
              <a:lnSpc>
                <a:spcPts val="1700"/>
              </a:lnSpc>
              <a:buNone/>
            </a:pPr>
            <a:r>
              <a:rPr lang="en-US" sz="1300" dirty="0">
                <a:solidFill>
                  <a:srgbClr val="574047"/>
                </a:solidFill>
                <a:latin typeface="Calibri" pitchFamily="34" charset="0"/>
                <a:ea typeface="Calibri" pitchFamily="34" charset="-122"/>
                <a:cs typeface="Calibri" pitchFamily="34" charset="-120"/>
              </a:rPr>
              <a:t>error messages when a model quietly goes wrong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PERSPECTIVE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How little of an ML system is 'the model'</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 famous picture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2015 Google paper drew a production ML system as a diagram: a tiny box labelled 'ML code' surrounded by huge boxes — data collection, verification, serving infrastructure, monitoring, configuration.</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They called it a credit card</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'ML systems are a high-interest credit card of technical debt.' You borrow speed now and pay interest forever, in maintenance.</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So what is MLOps?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Everything in the big boxes. The practices that keep the small box useful.</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SAY THIS OUT LOUD</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'Your degree teaches the orange box. Employers pay for the other nine.' Then open the animated version on the site and press the button — let them see the box shrink.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KILLER #1</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Drift — the world moves, your model doesn't</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Data drift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 INPUTS shift: salaries inflate, a new customer segment appears, a sensor is recalibrated. Detectable WITHOUT labels — just watch the inputs.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Concept drift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The RELATIONSHIP changes: the same applicant profile that was safe in 2019 is risky now. Usually needs outcomes to see.</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Not overfitting</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Overfitting is train-vs-test, visible at training time. Drift is production-vs-training, and it only appears later — on a model that tested perfectly.</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DO THIS NOW</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Open the drift simulator and drag the slider slowly. Say: 'The model file never changed. I am only moving the data.' Let the accuracy fall off a cliff in silence before you speak again.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KILLER #2</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Nobody is watching</a:t>
            </a:r>
            <a:endParaRPr lang="en-US" sz="31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15B8A6"/>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A FAILING MODEL LOOKS LIKE</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HTTP 200 OK</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A confident prediction</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Normal latency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No error in any log</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No alert anywhere</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EE5A3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THAT COSTS YOU</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Weeks of silently wrong decisions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You hear it from a customer, not a dashboard</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Nobody can say when it started</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...because nothing was being measured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KILLER #3</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The plumbing breaks — silently</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C</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CACE principle</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'Changing Anything Changes Everything.' Tweak one feature and every learned weight can shift. ML has no clean module boundaries.</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Glue code &amp; pipeline jungles</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mass of scripts stitching data together. Grows organically until nobody can trace how a feature is built.</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Hidden feedback loops</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model's own output shapes the data it later trains on. Recommendations change what people click — which becomes tomorrow's training set.</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Configuration debt</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Untracked config and magic numbers. 'Which threshold was in production last month?' has no answer.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~6 MIN</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Triage six real failures</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You're the on-call ML engineer. For each incident, decide the root cause: drift, plumbing/skew, or no monitoring. The fix is completely different in each case — this reflex IS incident response.</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Six incidents, three buttons each</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It scores you out of 6 instantly</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Discuss the ones you get wrong with your pair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MATURITY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A ladder, not a badge</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0</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Level 0 — Manual</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Notebooks, models handed over as files, a human deploys. Every step manual. Where most student projects — and plenty of companies — sit.</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Level 1 — Automated training</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 pipeline retrains automatically when new data arrives (continuous training). Deploy may still be manual.</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Level 2 — Full CI/CD</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Build, test and deploy of the whole ML system are automated, with quality gates on the model itself.</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Our three days</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You'll walk your own project from Level 0 to roughly Level 2 — and you'll self-assess on the site in a moment.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~4 MIN</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Where is YOUR project right now?</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Seven honest questions about a project you've actually built. You get your maturity level and the one next thing worth fixing.</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Tick only what is genuinely true today</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It names your level: 0, 0→1, 1, or 2</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Note the 'next fix' — that's your takeaway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TEAM</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Who actually does this work</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DS</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Data scientist</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Frames the problem, builds features, trains and evaluates the model.</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ML</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ML engineer</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Turns the model into a service: packaging, APIs, pipelines, performance.</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DE</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Data engineer</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Owns the data getting there reliably — ingestion, quality, versioning.</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SRE</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SRE / platform</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Keeps it running: deployment, scaling, monitoring, incidents.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~5 MIN · PAIRS</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Write the one-paragraph postmortem</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Take the Zillow story. With your pair, write four lines: what happened, root cause, the signal that would have caught it early, and the fix.</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No blame — describe the system, not people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Pick ONE root cause and defend it</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Be specific about the signal AND the threshold</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Keep this — you'll implement it on Day 3</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1 in five lines</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Training is the easy 20% — keeping a model correct is the job</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Models rot from drift, broken plumbing, and nobody watching</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A degrading model looks exactly like a healthy one — silence is not success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ML systems carry heavy debt: CACE, glue code, feedback loops, config</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Maturity 0 → 1 → 2 is the road we walk over three days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2026-08-03T05:42:33Z</dcterms:created>
  <dcterms:modified xsi:type="dcterms:W3CDTF">2026-08-03T05:42:33Z</dcterms:modified>
</cp:coreProperties>
</file>