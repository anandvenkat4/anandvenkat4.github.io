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3 — Advanced Techniques. Everything so far has been about a single, well-crafted prompt. Now we look at what to do when one prompt just isn't enough, and the answer is: spend more compute to buy more accuracy. Three techniques today — decomposition, ensembling or self-consistency, and self-criticism. And I want you to notice a theme running through all of them: a trade-off. Each of these multiplies your calls, your tokens, and your latency. So the real skill isn't the technique — it's the judgement of when the extra cost is worth it. We'll finish with Lab 5. Let's dig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what you'll be able to do by the end of this module. You'll decompose hard problems using least-to-most and plan-and-solve prompting. You'll ensemble answers with self-consistency — sampling several times and voting. You'll apply self-criticism, having the model critique and improve its own work. And — the one I care most about — you'll be able to weigh the cost. These techniques are not free wins; they're purchases. A fraud check on a payment might well justify five model calls. A throwaway summary does not. So keep coming back to that cost-versus-accuracy question the whole way 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are the three techniques, plus that trade-off card so we never lose sight of cost. Let me give you an analogy for each, because they all mirror how a careful human works. Decomposition is like solving a problem on paper, step by step, instead of doing it all in your head. Ensembling is like asking five people for directions and going with the majority answer. And self-criticism is like proofreading your own draft before you hand it in. That's genuinely why these help — they force the model into the habits of a conscientious person. And the fourth card is my refrain for the module: each one multiplies your calls, tokens, and latency, so spend that compute where accuracy actually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start with decomposition. The idea is to turn one hard task into a series of easy ones. The main pattern is least-to-most: you first ask the model to list the sub-questions it needs to answer, then you have it answer them in order, and each earlier answer becomes context for the next — until it reaches the final answer. There's a lighter cousin called plan-and-solve: ask the model to write a plan first, then execute that plan. Just separating the planning from the doing dramatically reduces skipped steps. Why does this work? Because each sub-step is easy, and its answer feeds the next one, so the model never has to leap the entire gap in a single bound. Here's the insight I want you to take away: decomposition converts one unreliable long-reasoning call into several reliable short ones. A model is far more accurate over three small hops than one giant leap — it's the same reason mathematicians break a big proof into small lemmas. One caution: decomposition adds latency and can over-complicate simple tasks, so use it when you see a single prompt visibly stumbling on multi-step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the structure of a least-to-most prompt. Notice it forces three distinct phases: first, enumerate the sub-questions; then, answer them in order; then, conclude. And here's a benefit that goes beyond accuracy — you can stop and inspect those sub-answers. If the final answer turns out wrong, you can look at the working and see exactly which sub-step failed. That observability is a genuine engineering advantage, not just a clever accuracy trick. When you're debugging a flaky prompt in the real world, being able to see the intermediate reasoning is worth a great deal.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technique — self-consistency, which is ensembling applied to reasoning. Here's the idea. A single chain-of-thought run can take a wrong turn — you saw that in the last module. So instead of trusting one run, you run the same chain-of-thought prompt several times at a nonzero temperature, collect all the final answers, and take the majority vote. Look at the example — four runs say 36, one says 34, so the vote is 36. Here's the intuition, and it's beautiful: wrong answers tend to scatter in different directions, but the right answer keeps showing up. Now, notice something that surprises people — we're deliberately raising the temperature here to help accuracy. That's because we WANT diverse reasoning chains to vote across. And of course, mind the cost: this is five calls for one answer, so reserve it for genuinely high-value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third technique is self-refine, and it mimics the way a good writer drafts and then edits. It's two passes. In the first pass, you just have the model answer the task normally — don't over-think it, just get a draft down. In the second pass, you have the model critique its own work with specifics, and then rewrite. And here's the trick that makes it actually work: force concrete criticism. Ask it to 'list three specific flaws in the answer above,' not just to 'improve this' — because 'improve this' usually just reshuffles the words without fixing anything. Then ask it to rewrite, fixing each flaw. Cap the loop — after a couple of rounds the gains vanish, and the model can even start second-guessing answers that were already correct. This is brilliant for prose, for code, and for plans. It's much less useful for a single factual lookup — you can't refine your way to a fact you never knew.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me consolidate this into a simple decision aid you can actually use. Facing a multi-step problem? Reach for decomposition — make the hidden steps explicit. Need one high-stakes answer to be right? Use self-consistency — vote away the random errors. Have a draft that needs to be polished? Use self-refine — critique, then rewrite. And here's the framing that ties it all together: ask yourself what a careful human would do with this task. Would they work it out on paper? Ask a few colleagues? Proofread it twice? Then make the model do exactly that. The technique you need is almost always just the human habit the task deserves. One more thing — you can combine these. Decompose, then vote on the hardest sub-step, then refine the final write-up. But remember, every combination multiplies your cost, so combine deliberately, not by reflex.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Onto Lab 5, where you'll feel both the benefit and the cost of these techniques. Three parts. First, take a multi-step problem and solve it with a least-to-most decomposition prompt. Second — and this is the fun coding bit — you'll write a small self-consistency script that loops the same prompt five times against your local Ollama model and tallies up the answers. Third, build a draft-critique-refine loop and capture a before-and-after. As you go, I want you to actually measure: did the voting change the answer, or was the first run already right? Did the refine step genuinely improve things, or just churn the words? You have about fifty-five minutes. 'Done' means the three artifacts plus a note on whether the extra compute was worth it for your task. That last note is the whole point of the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recap Module 3, with cost front and centre where it belongs. Decomposition turns hard tasks into easy, inspectable steps. Self-consistency votes away the random errors in reasoning. Self-criticism catches the flaws the first pass missed. And the golden rule: spend the extra compute only where accuracy really matters. Let me test that judgement with two quick scenarios. For a real-time chatbot that has to reply in half a second — which of these can you afford? Right, basically none, because of latency. Now, for an overnight batch job that flags risky contracts for a lawyer to review — which can you afford? All of them. That judgement is the entire module. Next up, Module 4, where we make any of these outputs reliably machine-readable.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4F46E5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754880"/>
            <a:ext cx="5029200" cy="502920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40080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</a:t>
            </a:r>
            <a:endParaRPr lang="en-US" sz="2736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6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Techniques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prompt isn't enough: break problems down, sample many answers, and let the model check its own work.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Venkat Loganathan  ·  Prompt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033272"/>
          </a:xfrm>
          <a:prstGeom prst="roundRect">
            <a:avLst>
              <a:gd name="adj" fmla="val 79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79676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796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737360"/>
            <a:ext cx="96926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problems 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least-to-most and plan-and-solve prompting.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916936"/>
            <a:ext cx="11064240" cy="1033272"/>
          </a:xfrm>
          <a:prstGeom prst="roundRect">
            <a:avLst>
              <a:gd name="adj" fmla="val 79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2" y="3159252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31592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916936"/>
            <a:ext cx="96926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answers 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self-consistency by sample-and-vote.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096512"/>
            <a:ext cx="11064240" cy="1033272"/>
          </a:xfrm>
          <a:prstGeom prst="roundRect">
            <a:avLst>
              <a:gd name="adj" fmla="val 79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" y="4338828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43388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45920" y="4096512"/>
            <a:ext cx="96926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self-criticism 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draft, critique, then refine.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48640" y="5276088"/>
            <a:ext cx="11064240" cy="1033272"/>
          </a:xfrm>
          <a:prstGeom prst="roundRect">
            <a:avLst>
              <a:gd name="adj" fmla="val 79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5518404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55184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45920" y="5276088"/>
            <a:ext cx="96926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 the cost 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know when the extra calls are worth it.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POWER TECHNIQUES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compute, better answers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2157984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93392"/>
            <a:ext cx="365760" cy="365760"/>
          </a:xfrm>
          <a:prstGeom prst="ellipse">
            <a:avLst/>
          </a:prstGeom>
          <a:solidFill>
            <a:srgbClr val="EEF0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93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975104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41248" y="2487168"/>
            <a:ext cx="482803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 hard task into ordered sub-steps and solve each in turn (least-to-most, plan-and-solve).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394960" cy="2157984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993392"/>
            <a:ext cx="365760" cy="365760"/>
          </a:xfrm>
          <a:prstGeom prst="ellipse">
            <a:avLst/>
          </a:prstGeom>
          <a:solidFill>
            <a:srgbClr val="EEF0F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93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∑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95160" y="1975104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Ensembling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10528" y="2487168"/>
            <a:ext cx="482803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several answers at higher temperature and take the majority vote (self-consistency).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51376"/>
            <a:ext cx="5394960" cy="2157984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407408"/>
            <a:ext cx="365760" cy="365760"/>
          </a:xfrm>
          <a:prstGeom prst="ellipse">
            <a:avLst/>
          </a:prstGeom>
          <a:solidFill>
            <a:srgbClr val="EEF0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407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438912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Self-criticism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41248" y="4901184"/>
            <a:ext cx="482803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the model critique its own draft, then produce an improved version (self-refine).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4151376"/>
            <a:ext cx="5394960" cy="2157984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407408"/>
            <a:ext cx="365760" cy="365760"/>
          </a:xfrm>
          <a:prstGeom prst="ellipse">
            <a:avLst/>
          </a:prstGeom>
          <a:solidFill>
            <a:srgbClr val="EEF0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407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95160" y="438912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510528" y="4901184"/>
            <a:ext cx="482803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multiplies calls, tokens and latency. Spend it where accuracy matters most.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one hard task into easy steps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537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spcAft>
                <a:spcPts val="200"/>
              </a:spcAft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Least-to-most</a:t>
            </a:r>
            <a:endParaRPr lang="en-US" sz="1550" dirty="0"/>
          </a:p>
          <a:p>
            <a:pPr indent="0" marL="0">
              <a:lnSpc>
                <a:spcPts val="17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ask the model to list the sub-questions, then answer them in order, using earlier answers to reach the final one.</a:t>
            </a:r>
            <a:endParaRPr lang="en-US" sz="1550" dirty="0"/>
          </a:p>
          <a:p>
            <a:pPr indent="0" marL="0">
              <a:lnSpc>
                <a:spcPts val="1700"/>
              </a:lnSpc>
              <a:spcAft>
                <a:spcPts val="200"/>
              </a:spcAft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Plan-and-solve</a:t>
            </a:r>
            <a:endParaRPr lang="en-US" sz="1550" dirty="0"/>
          </a:p>
          <a:p>
            <a:pPr indent="0" marL="0">
              <a:lnSpc>
                <a:spcPts val="17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 plan first, then execute the plan. Separating planning from doing reduces skipped steps.</a:t>
            </a:r>
            <a:endParaRPr lang="en-US" sz="1550" dirty="0"/>
          </a:p>
          <a:p>
            <a:pPr indent="0" marL="0">
              <a:lnSpc>
                <a:spcPts val="1700"/>
              </a:lnSpc>
              <a:spcAft>
                <a:spcPts val="200"/>
              </a:spcAft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550" dirty="0"/>
          </a:p>
          <a:p>
            <a:pPr indent="0" marL="0">
              <a:lnSpc>
                <a:spcPts val="17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sub-step is easy and its answer becomes context for the next — the model never has to leap the whole gap at once.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452360" y="1737360"/>
            <a:ext cx="4160520" cy="4572000"/>
          </a:xfrm>
          <a:prstGeom prst="roundRect">
            <a:avLst>
              <a:gd name="adj" fmla="val 2198"/>
            </a:avLst>
          </a:prstGeom>
          <a:solidFill>
            <a:srgbClr val="EEF0FF"/>
          </a:solidFill>
          <a:ln/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26680" y="2011680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7726680" y="19933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75320" y="201168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INSIGHT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44968" y="2633472"/>
            <a:ext cx="3593592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converts one unreliable long-reasoning call into several reliable short ones. The model is far more accurate over three small hops than one giant jump — the same reason we break a proof into lemmas.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LEAST-TO-MOST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Sub-questions first, then the answer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3852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22960" y="2304288"/>
            <a:ext cx="4800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list the sub-questions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needed to answer this, then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them in order, then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 the final answer.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Q: &lt;multi-step question&gt;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93852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37960" y="2304288"/>
            <a:ext cx="4800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Sub-questions: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1) ... 2) ... 3) ...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1) ... 2) ... 3) ...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answer: ...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1996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the easy parts first gives the model the scaffolding it needs to reach the hard answer.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many, then vote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3852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22960" y="2304288"/>
            <a:ext cx="4800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(Run the same CoT prompt 5x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temperature 0.7, collect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final answers, and take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most common one.)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93852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37960" y="2304288"/>
            <a:ext cx="4800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Run1 -&gt; 36  Run2 -&gt; 36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Run3 -&gt; 34  Run4 -&gt; 36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Run5 -&gt; 36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Majority vote -&gt; 36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1996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noisy reasoning chain can slip. The majority across several rarely does — errors are random, truth is consistent.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two-pass loop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11680"/>
            <a:ext cx="4764024" cy="438912"/>
          </a:xfrm>
          <a:prstGeom prst="roundRect">
            <a:avLst>
              <a:gd name="adj" fmla="val 16667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011680"/>
            <a:ext cx="4764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1 — draft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46177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task normally</a:t>
            </a:r>
            <a:endParaRPr lang="en-US" sz="13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over-think the first try</a:t>
            </a:r>
            <a:endParaRPr lang="en-US" sz="13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getting something down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56248" y="2011680"/>
            <a:ext cx="4764024" cy="438912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6556248" y="2011680"/>
            <a:ext cx="4764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2 — critique &amp; fix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400" y="2651760"/>
            <a:ext cx="46177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'List 3 concrete flaws in the answer above'</a:t>
            </a:r>
            <a:endParaRPr lang="en-US" sz="13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'Now rewrite, fixing each flaw'</a:t>
            </a:r>
            <a:endParaRPr lang="en-US" sz="13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when critiques turn trivial</a:t>
            </a:r>
            <a:endParaRPr lang="en-US" sz="13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for writing, code and plans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technique, and when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537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spcAft>
                <a:spcPts val="200"/>
              </a:spcAft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problem?</a:t>
            </a:r>
            <a:endParaRPr lang="en-US" sz="1550" dirty="0"/>
          </a:p>
          <a:p>
            <a:pPr indent="0" marL="0">
              <a:lnSpc>
                <a:spcPts val="17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decomposition — make the hidden steps explicit.</a:t>
            </a:r>
            <a:endParaRPr lang="en-US" sz="1550" dirty="0"/>
          </a:p>
          <a:p>
            <a:pPr indent="0" marL="0">
              <a:lnSpc>
                <a:spcPts val="1700"/>
              </a:lnSpc>
              <a:spcAft>
                <a:spcPts val="200"/>
              </a:spcAft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High-stakes single answer?</a:t>
            </a:r>
            <a:endParaRPr lang="en-US" sz="1550" dirty="0"/>
          </a:p>
          <a:p>
            <a:pPr indent="0" marL="0">
              <a:lnSpc>
                <a:spcPts val="17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self-consistency — vote away the random errors.</a:t>
            </a:r>
            <a:endParaRPr lang="en-US" sz="1550" dirty="0"/>
          </a:p>
          <a:p>
            <a:pPr indent="0" marL="0">
              <a:lnSpc>
                <a:spcPts val="1700"/>
              </a:lnSpc>
              <a:spcAft>
                <a:spcPts val="200"/>
              </a:spcAft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that must be polished?</a:t>
            </a:r>
            <a:endParaRPr lang="en-US" sz="1550" dirty="0"/>
          </a:p>
          <a:p>
            <a:pPr indent="0" marL="0">
              <a:lnSpc>
                <a:spcPts val="17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self-refine — critique then rewrite.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452360" y="1737360"/>
            <a:ext cx="4160520" cy="4572000"/>
          </a:xfrm>
          <a:prstGeom prst="roundRect">
            <a:avLst>
              <a:gd name="adj" fmla="val 2198"/>
            </a:avLst>
          </a:prstGeom>
          <a:solidFill>
            <a:srgbClr val="EEF0FF"/>
          </a:solidFill>
          <a:ln/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26680" y="2011680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7726680" y="19933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75320" y="201168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THIS IN CLASS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44968" y="2633472"/>
            <a:ext cx="3593592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yourself what a careful human would do: work it out on paper, ask a few colleagues, or proofread. Then make the model do that. The technique you need is usually the human habit the task deserves.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291840"/>
            <a:ext cx="5486400" cy="5486400"/>
          </a:xfrm>
          <a:prstGeom prst="ellipse">
            <a:avLst/>
          </a:prstGeom>
          <a:solidFill>
            <a:srgbClr val="4F46E5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77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 ·  ~60% OF THIS MODULE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 · Decompose &amp; Self-Consistency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a problem with least-to-most decomposition, run a sample-and-vote self-consistency script, and build a draft → critique → refine loop.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PRODUCE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decomposed solution to a multi-step task</a:t>
            </a:r>
            <a:endParaRPr lang="en-US" sz="1500" dirty="0"/>
          </a:p>
          <a:p>
            <a:pPr marL="177800" indent="-1778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self-consistency voting script and its result</a:t>
            </a:r>
            <a:endParaRPr lang="en-US" sz="1500" dirty="0"/>
          </a:p>
          <a:p>
            <a:pPr marL="177800" indent="-1778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before/after from your self-refine loop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029200" cy="5029200"/>
          </a:xfrm>
          <a:prstGeom prst="ellipse">
            <a:avLst/>
          </a:prstGeom>
          <a:solidFill>
            <a:srgbClr val="4F46E5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</a:t>
            </a:r>
            <a:endParaRPr lang="en-US" sz="228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recap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10607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turns hard tasks into easy, inspectable steps</a:t>
            </a:r>
            <a:endParaRPr lang="en-US" sz="16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 votes away random reasoning errors</a:t>
            </a:r>
            <a:endParaRPr lang="en-US" sz="16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Self-criticism catches flaws the first pass missed</a:t>
            </a:r>
            <a:endParaRPr lang="en-US" sz="16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the extra compute only where accuracy matters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2026-07-16T17:51:48Z</dcterms:created>
  <dcterms:modified xsi:type="dcterms:W3CDTF">2026-07-16T17:51:48Z</dcterms:modified>
</cp:coreProperties>
</file>