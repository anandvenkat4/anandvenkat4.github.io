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and welcome. This is Prompt Engineering — a one-credit course that we'll run over two full days. My name is Venkat Loganathan and I'll be your instructor. Before we dive in, let me set your expectations. This is not a course where I talk for fifteen hours and you take notes. This is a workshop. For most of our time together, you will have your laptop open and you will be building things, breaking things, and fixing them. My promise to you is simple: by the end of these two days, getting good, reliable work out of an AI model will stop feeling like luck and start feeling like a skill you control. Let's get started.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is prompt engineering, actually? Let me clear up a myth first. It is not about finding secret magic words that unlock the model. People share these so-called 'power prompts' online, and honestly, most of that is noise. Prompt engineering is a discipline — it's about designing the input to a model so that it reliably gives you what you need. Here's why this matters to you specifically as data science and AI students: these models are now part of everyday technical work. You'll use them to write SQL, clean messy data, draft code, summarize documents. And here's the reassuring part — the models will keep changing, but the way you think about instructions, examples, structure, and testing will stay valuable for years. If you remember one line from today, make it the one on the right: you are not asking a question and hoping; you are engineering the conditions under which the right answer becomes the most likely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give you the shape of the course in four numbers. Fifteen hours, across two days of seven and a half hours each. That's short, so we move quickly and we learn by doing. About sixty percent of our time is hands-on — that number is a design choice, not an accident. For every idea I teach, you'll immediately try it yourself. We'll use three platforms: ChatGPT, Claude, and a local open-source model running on your own laptop through a tool called Ollama. I want you comparing them, because that's how you learn what's a real technique versus a quirk of one model. And there are nine labs, building on each other, leading up to a team capstone at the very end. One request: bring a laptop each day, and if you can, install Ollama before tomorrow — there's a link in your materials.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Officially, this course has two outcomes, and everything we do maps to one of them. The first, CO1, is the craft — designing and optimizing prompts that actually work across different tasks. The second, CO2, is the discipline — assessing and evaluating your prompts: are they secure, are they well-behaved, and can you prove they perform? Let me be blunt about why the second one matters. Anyone can write a prompt that looks impressive once. What separates a professional from a hobbyist is that the professional measures it and stress-tests it. Day one leans heavily on CO1 — building the craft. Day two brings in CO2 — proving and protecting your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six modules that make up the syllabus. Quick note on the order — you'll see the numbers jump around a little. On day one we cover modules one, two, and then four, Answer Engineering, because getting structured output is a foundational skill you'll reuse in almost every later module. Day two is the heavier material: modules three, five, and six. And here's something worth knowing — this isn't just my personal list of topics. This structure follows 'The Prompt Report', a large 2024 academic survey of the field. So the vocabulary you learn here is the shared vocabulary of the whole field, not one instructor's opinions. You'll be able to read a research paper or a company's engineering blog and recognize the terms.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your map for the two days, so you always know where we are. Day one is all about one goal: getting reliable output from a single prompt. We'll set up tools, then work through the foundations, text techniques, answer engineering, a patterns clinic, and an applied data-engineering session. Day two is about doing more — reasoning, tools, retrieval — and doing it responsibly. Notice that every block ends in a lab. One important logistics note: I'll hand out the take-home assignment at the end of day one, so you have time to let it percolate. It's due ten days after we finish. And yes — lunch and short breaks are built into each day. This is a marathon, so pace yourself and stay hydrated.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set a few ground rules for how we'll work together, because the way you show up changes how much you get out of this. First — laptops open, hands on the keys. You will not learn prompting by watching me do it; you learn it by typing your own prompts and seeing what comes back. Second — experiment out loud. When a model does something weird or surprising, say so. Those surprises are exactly where the real learning happens, and the whole room benefits. Third — pair up when you're stuck, especially on setup issues. I don't want anyone sitting blocked and quiet for ten minutes; turn to your neighbour. And fourth, the classic one — there are no silly questions here. If you're wondering something, I promise at least three other people are wondering the same thing. So please,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get everyone set up right now, because we'll use all three of these in the very first lab. Take two minutes and do this with me. One — go to chat dot openai dot com and make a free account. The free tier is all we need; you will not spend any money in this course. Two — do the same at claude dot ai. We'll be putting ChatGPT and Claude side by side to compare their answers. Three — this is the important one — install Ollama from ollama dot com. Once it's installed, open a terminal and pull two models: llama3.2 and mistral. That download takes a few minutes, so start it now. Four — test it with the command on screen; if the model says hello back, you're ready to go. If you're stuck on any of these, raise your hand and let's fix it before we start module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talk about grading, because I know you want to know. There is no written, sit-down exam in this course — it's a skills course, so I assess your skills. Here's the breakdown. Forty percent is your labs. These are formative, which means I care that you attempt them and iterate, not that everything is perfect the first time. Thirty-five percent is the take-home assignment, where you'll show both outcomes together on a problem you choose yourself. And twenty-five percent is the capstone plus a short individual viva. The viva is nothing to be nervous about — it's a quick, friendly conversation where I ask you to explain one prompt decision you made and why. The reason for it is simple: I want to know each of you understands the work, not just the team as a whole.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 you actually walk away with? Three things. First, you'll be able to write reliable prompts that behave consistently, and not just on ChatGPT — on any model. Second, you'll have a real toolkit: few-shot prompting, chain-of-thought, decomposition, reusable patterns, tool use, retrieval — and just as importantly, the judgement to know which one a given problem needs. Third, and this is what makes you employable in this space, you'll be able to build systems that are grounded in real data, that resist attacks, and that come with evidence they actually work. Here's the way I'd put it: by the end of day two, you should be able to sit down with any model, any task, and get a dependable result — and prove it's dependable. That's the whole difference between using AI and engineering with it. Alright — let's begin. Module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close this introduction by returning to the promise, because I want it fixed in your mind before we start. By the end of these two days, prompting stops being trial-and-error and becomes a repeatable engineering skill you own. We have two goals — design prompts that work, and prove that they work. We get there by doing, not just listening: sixty percent hands-on, nine labs, one capstone. And everything runs on free tools, so the only things I need from you are a laptop and a bit of curiosity. If your Ollama download is still running in the background, that's fine — leave it going. Everyone ready? Let's open module one, Introduction to Prompts.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8778240" y="-2011680"/>
            <a:ext cx="5486400" cy="5486400"/>
          </a:xfrm>
          <a:prstGeom prst="ellipse">
            <a:avLst/>
          </a:prstGeom>
          <a:solidFill>
            <a:srgbClr val="4F46E5">
              <a:alpha val="22000"/>
            </a:srgbClr>
          </a:solidFill>
          <a:ln/>
        </p:spPr>
      </p:sp>
      <p:sp>
        <p:nvSpPr>
          <p:cNvPr id="3" name="Shape 1"/>
          <p:cNvSpPr/>
          <p:nvPr/>
        </p:nvSpPr>
        <p:spPr>
          <a:xfrm>
            <a:off x="-2194560" y="4754880"/>
            <a:ext cx="5029200" cy="5029200"/>
          </a:xfrm>
          <a:prstGeom prst="ellipse">
            <a:avLst/>
          </a:prstGeom>
          <a:solidFill>
            <a:srgbClr val="22D3EE">
              <a:alpha val="12000"/>
            </a:srgbClr>
          </a:solidFill>
          <a:ln/>
        </p:spPr>
      </p:sp>
      <p:sp>
        <p:nvSpPr>
          <p:cNvPr id="4" name="Shape 2"/>
          <p:cNvSpPr/>
          <p:nvPr/>
        </p:nvSpPr>
        <p:spPr>
          <a:xfrm>
            <a:off x="548640" y="640080"/>
            <a:ext cx="658368" cy="658368"/>
          </a:xfrm>
          <a:prstGeom prst="roundRect">
            <a:avLst>
              <a:gd name="adj" fmla="val 22000"/>
            </a:avLst>
          </a:prstGeom>
          <a:solidFill>
            <a:srgbClr val="4F46E5"/>
          </a:solidFill>
          <a:ln/>
        </p:spPr>
      </p:sp>
      <p:sp>
        <p:nvSpPr>
          <p:cNvPr id="5" name="Text 3"/>
          <p:cNvSpPr/>
          <p:nvPr/>
        </p:nvSpPr>
        <p:spPr>
          <a:xfrm>
            <a:off x="548640" y="640080"/>
            <a:ext cx="658368" cy="658368"/>
          </a:xfrm>
          <a:prstGeom prst="rect">
            <a:avLst/>
          </a:prstGeom>
          <a:noFill/>
          <a:ln/>
        </p:spPr>
        <p:txBody>
          <a:bodyPr wrap="square" rtlCol="0" anchor="ctr"/>
          <a:lstStyle/>
          <a:p>
            <a:pPr algn="ctr" indent="0" marL="0">
              <a:buNone/>
            </a:pPr>
            <a:r>
              <a:rPr lang="en-US" sz="2736" b="1" dirty="0">
                <a:solidFill>
                  <a:srgbClr val="FFFFFF"/>
                </a:solidFill>
                <a:latin typeface="Calibri" pitchFamily="34" charset="0"/>
                <a:ea typeface="Calibri" pitchFamily="34" charset="-122"/>
                <a:cs typeface="Calibri" pitchFamily="34" charset="-120"/>
              </a:rPr>
              <a:t>VL</a:t>
            </a:r>
            <a:endParaRPr lang="en-US" sz="2736" dirty="0"/>
          </a:p>
        </p:txBody>
      </p:sp>
      <p:sp>
        <p:nvSpPr>
          <p:cNvPr id="6" name="Text 4"/>
          <p:cNvSpPr/>
          <p:nvPr/>
        </p:nvSpPr>
        <p:spPr>
          <a:xfrm>
            <a:off x="548640" y="2331720"/>
            <a:ext cx="10058400" cy="274320"/>
          </a:xfrm>
          <a:prstGeom prst="rect">
            <a:avLst/>
          </a:prstGeom>
          <a:noFill/>
          <a:ln/>
        </p:spPr>
        <p:txBody>
          <a:bodyPr wrap="square" lIns="0" tIns="0" rIns="0" bIns="0" rtlCol="0" anchor="ctr"/>
          <a:lstStyle/>
          <a:p>
            <a:pPr indent="0" marL="0">
              <a:buNone/>
            </a:pPr>
            <a:r>
              <a:rPr lang="en-US" sz="1200" b="1" spc="250" kern="0" dirty="0">
                <a:solidFill>
                  <a:srgbClr val="22D3EE"/>
                </a:solidFill>
                <a:latin typeface="Calibri" pitchFamily="34" charset="0"/>
                <a:ea typeface="Calibri" pitchFamily="34" charset="-122"/>
                <a:cs typeface="Calibri" pitchFamily="34" charset="-120"/>
              </a:rPr>
              <a:t>ONE-CREDIT COURSE · 15 HOURS · 2 DAYS</a:t>
            </a:r>
            <a:endParaRPr lang="en-US" sz="1200" dirty="0"/>
          </a:p>
        </p:txBody>
      </p:sp>
      <p:sp>
        <p:nvSpPr>
          <p:cNvPr id="7" name="Text 5"/>
          <p:cNvSpPr/>
          <p:nvPr/>
        </p:nvSpPr>
        <p:spPr>
          <a:xfrm>
            <a:off x="548640" y="2606040"/>
            <a:ext cx="10881360" cy="1737360"/>
          </a:xfrm>
          <a:prstGeom prst="rect">
            <a:avLst/>
          </a:prstGeom>
          <a:noFill/>
          <a:ln/>
        </p:spPr>
        <p:txBody>
          <a:bodyPr wrap="square" rtlCol="0" anchor="ctr"/>
          <a:lstStyle/>
          <a:p>
            <a:pPr indent="0" marL="0">
              <a:lnSpc>
                <a:spcPts val="4800"/>
              </a:lnSpc>
              <a:buNone/>
            </a:pPr>
            <a:r>
              <a:rPr lang="en-US" sz="4600" b="1" spc="-50" kern="0" dirty="0">
                <a:solidFill>
                  <a:srgbClr val="FFFFFF"/>
                </a:solidFill>
                <a:latin typeface="Calibri" pitchFamily="34" charset="0"/>
                <a:ea typeface="Calibri" pitchFamily="34" charset="-122"/>
                <a:cs typeface="Calibri" pitchFamily="34" charset="-120"/>
              </a:rPr>
              <a:t>Prompt Engineering</a:t>
            </a:r>
            <a:endParaRPr lang="en-US" sz="4600" dirty="0"/>
          </a:p>
        </p:txBody>
      </p:sp>
      <p:sp>
        <p:nvSpPr>
          <p:cNvPr id="8" name="Text 6"/>
          <p:cNvSpPr/>
          <p:nvPr/>
        </p:nvSpPr>
        <p:spPr>
          <a:xfrm>
            <a:off x="548640" y="4434840"/>
            <a:ext cx="9875520" cy="1097280"/>
          </a:xfrm>
          <a:prstGeom prst="rect">
            <a:avLst/>
          </a:prstGeom>
          <a:noFill/>
          <a:ln/>
        </p:spPr>
        <p:txBody>
          <a:bodyPr wrap="square" rtlCol="0" anchor="ctr"/>
          <a:lstStyle/>
          <a:p>
            <a:pPr indent="0" marL="0">
              <a:lnSpc>
                <a:spcPts val="2500"/>
              </a:lnSpc>
              <a:buNone/>
            </a:pPr>
            <a:r>
              <a:rPr lang="en-US" sz="1800" dirty="0">
                <a:solidFill>
                  <a:srgbClr val="CBD5E1"/>
                </a:solidFill>
                <a:latin typeface="Calibri" pitchFamily="34" charset="0"/>
                <a:ea typeface="Calibri" pitchFamily="34" charset="-122"/>
                <a:cs typeface="Calibri" pitchFamily="34" charset="-120"/>
              </a:rPr>
              <a:t>Design better prompts. A hands-on, skills-first course for postgraduate Data Science &amp; AI.</a:t>
            </a:r>
            <a:endParaRPr lang="en-US" sz="1800" dirty="0"/>
          </a:p>
        </p:txBody>
      </p:sp>
      <p:sp>
        <p:nvSpPr>
          <p:cNvPr id="9" name="Text 7"/>
          <p:cNvSpPr/>
          <p:nvPr/>
        </p:nvSpPr>
        <p:spPr>
          <a:xfrm>
            <a:off x="548640" y="6263640"/>
            <a:ext cx="10972800" cy="32004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23DS1D0 · M.Sc (Data Science), TCE · Instructor: Venkat Loganathan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4F46E5"/>
                </a:solidFill>
                <a:latin typeface="Calibri" pitchFamily="34" charset="0"/>
                <a:ea typeface="Calibri" pitchFamily="34" charset="-122"/>
                <a:cs typeface="Calibri" pitchFamily="34" charset="-120"/>
              </a:rPr>
              <a:t>FRAMING</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200" b="1" spc="-50" kern="0" dirty="0">
                <a:solidFill>
                  <a:srgbClr val="0F172A"/>
                </a:solidFill>
                <a:latin typeface="Calibri" pitchFamily="34" charset="0"/>
                <a:ea typeface="Calibri" pitchFamily="34" charset="-122"/>
                <a:cs typeface="Calibri" pitchFamily="34" charset="-120"/>
              </a:rPr>
              <a:t>What is prompt engineering, really?</a:t>
            </a:r>
            <a:endParaRPr lang="en-US" sz="3200" dirty="0"/>
          </a:p>
        </p:txBody>
      </p:sp>
      <p:sp>
        <p:nvSpPr>
          <p:cNvPr id="4" name="Text 2"/>
          <p:cNvSpPr/>
          <p:nvPr/>
        </p:nvSpPr>
        <p:spPr>
          <a:xfrm>
            <a:off x="548640" y="1737360"/>
            <a:ext cx="6537960" cy="4572000"/>
          </a:xfrm>
          <a:prstGeom prst="rect">
            <a:avLst/>
          </a:prstGeom>
          <a:noFill/>
          <a:ln/>
        </p:spPr>
        <p:txBody>
          <a:bodyPr wrap="square" lIns="0" tIns="0" rIns="0" bIns="0" rtlCol="0" anchor="t"/>
          <a:lstStyle/>
          <a:p>
            <a:pPr indent="0" marL="0">
              <a:lnSpc>
                <a:spcPts val="1700"/>
              </a:lnSpc>
              <a:spcAft>
                <a:spcPts val="200"/>
              </a:spcAft>
              <a:buNone/>
            </a:pPr>
            <a:r>
              <a:rPr lang="en-US" sz="1550" b="1" dirty="0">
                <a:solidFill>
                  <a:srgbClr val="0F172A"/>
                </a:solidFill>
                <a:latin typeface="Calibri" pitchFamily="34" charset="0"/>
                <a:ea typeface="Calibri" pitchFamily="34" charset="-122"/>
                <a:cs typeface="Calibri" pitchFamily="34" charset="-120"/>
              </a:rPr>
              <a:t>It's not about magic words</a:t>
            </a:r>
            <a:endParaRPr lang="en-US" sz="1550" dirty="0"/>
          </a:p>
          <a:p>
            <a:pPr indent="0" marL="0">
              <a:lnSpc>
                <a:spcPts val="1700"/>
              </a:lnSpc>
              <a:spcAft>
                <a:spcPts val="1300"/>
              </a:spcAft>
              <a:buNone/>
            </a:pPr>
            <a:r>
              <a:rPr lang="en-US" sz="1300" dirty="0">
                <a:solidFill>
                  <a:srgbClr val="475569"/>
                </a:solidFill>
                <a:latin typeface="Calibri" pitchFamily="34" charset="0"/>
                <a:ea typeface="Calibri" pitchFamily="34" charset="-122"/>
                <a:cs typeface="Calibri" pitchFamily="34" charset="-120"/>
              </a:rPr>
              <a:t>There's no secret phrase. It's the discipline of designing the input so the model reliably produces what you need.</a:t>
            </a:r>
            <a:endParaRPr lang="en-US" sz="1550" dirty="0"/>
          </a:p>
          <a:p>
            <a:pPr indent="0" marL="0">
              <a:lnSpc>
                <a:spcPts val="1700"/>
              </a:lnSpc>
              <a:spcAft>
                <a:spcPts val="200"/>
              </a:spcAft>
              <a:buNone/>
            </a:pPr>
            <a:r>
              <a:rPr lang="en-US" sz="1550" b="1" dirty="0">
                <a:solidFill>
                  <a:srgbClr val="0F172A"/>
                </a:solidFill>
                <a:latin typeface="Calibri" pitchFamily="34" charset="0"/>
                <a:ea typeface="Calibri" pitchFamily="34" charset="-122"/>
                <a:cs typeface="Calibri" pitchFamily="34" charset="-120"/>
              </a:rPr>
              <a:t>It's a durable skill</a:t>
            </a:r>
            <a:endParaRPr lang="en-US" sz="1550" dirty="0"/>
          </a:p>
          <a:p>
            <a:pPr indent="0" marL="0">
              <a:lnSpc>
                <a:spcPts val="1700"/>
              </a:lnSpc>
              <a:spcAft>
                <a:spcPts val="1300"/>
              </a:spcAft>
              <a:buNone/>
            </a:pPr>
            <a:r>
              <a:rPr lang="en-US" sz="1300" dirty="0">
                <a:solidFill>
                  <a:srgbClr val="475569"/>
                </a:solidFill>
                <a:latin typeface="Calibri" pitchFamily="34" charset="0"/>
                <a:ea typeface="Calibri" pitchFamily="34" charset="-122"/>
                <a:cs typeface="Calibri" pitchFamily="34" charset="-120"/>
              </a:rPr>
              <a:t>Models change every few months. How you reason about instructions, examples, structure and evaluation does not.</a:t>
            </a:r>
            <a:endParaRPr lang="en-US" sz="1550" dirty="0"/>
          </a:p>
          <a:p>
            <a:pPr indent="0" marL="0">
              <a:lnSpc>
                <a:spcPts val="1700"/>
              </a:lnSpc>
              <a:spcAft>
                <a:spcPts val="200"/>
              </a:spcAft>
              <a:buNone/>
            </a:pPr>
            <a:r>
              <a:rPr lang="en-US" sz="1550" b="1" dirty="0">
                <a:solidFill>
                  <a:srgbClr val="0F172A"/>
                </a:solidFill>
                <a:latin typeface="Calibri" pitchFamily="34" charset="0"/>
                <a:ea typeface="Calibri" pitchFamily="34" charset="-122"/>
                <a:cs typeface="Calibri" pitchFamily="34" charset="-120"/>
              </a:rPr>
              <a:t>It's now core to data &amp; AI work</a:t>
            </a:r>
            <a:endParaRPr lang="en-US" sz="1550" dirty="0"/>
          </a:p>
          <a:p>
            <a:pPr indent="0" marL="0">
              <a:lnSpc>
                <a:spcPts val="1700"/>
              </a:lnSpc>
              <a:spcAft>
                <a:spcPts val="1300"/>
              </a:spcAft>
              <a:buNone/>
            </a:pPr>
            <a:r>
              <a:rPr lang="en-US" sz="1300" dirty="0">
                <a:solidFill>
                  <a:srgbClr val="475569"/>
                </a:solidFill>
                <a:latin typeface="Calibri" pitchFamily="34" charset="0"/>
                <a:ea typeface="Calibri" pitchFamily="34" charset="-122"/>
                <a:cs typeface="Calibri" pitchFamily="34" charset="-120"/>
              </a:rPr>
              <a:t>Whether you're cleaning data, writing SQL, or building an app, you'll be steering these models daily.</a:t>
            </a:r>
            <a:endParaRPr lang="en-US" sz="1550" dirty="0"/>
          </a:p>
        </p:txBody>
      </p:sp>
      <p:sp>
        <p:nvSpPr>
          <p:cNvPr id="5" name="Shape 3"/>
          <p:cNvSpPr/>
          <p:nvPr/>
        </p:nvSpPr>
        <p:spPr>
          <a:xfrm>
            <a:off x="7452360" y="1737360"/>
            <a:ext cx="4160520" cy="4572000"/>
          </a:xfrm>
          <a:prstGeom prst="roundRect">
            <a:avLst>
              <a:gd name="adj" fmla="val 2198"/>
            </a:avLst>
          </a:prstGeom>
          <a:solidFill>
            <a:srgbClr val="EEF0FF"/>
          </a:solidFill>
          <a:ln/>
          <a:effectLst>
            <a:outerShdw sx="100000" sy="100000" kx="0" ky="0" algn="bl" rotWithShape="0" blurRad="101600" dist="38100" dir="5400000">
              <a:srgbClr val="0F172A">
                <a:alpha val="10000"/>
              </a:srgbClr>
            </a:outerShdw>
          </a:effectLst>
        </p:spPr>
      </p:sp>
      <p:sp>
        <p:nvSpPr>
          <p:cNvPr id="6" name="Shape 4"/>
          <p:cNvSpPr/>
          <p:nvPr/>
        </p:nvSpPr>
        <p:spPr>
          <a:xfrm>
            <a:off x="7726680" y="2011680"/>
            <a:ext cx="420624" cy="420624"/>
          </a:xfrm>
          <a:prstGeom prst="ellipse">
            <a:avLst/>
          </a:prstGeom>
          <a:solidFill>
            <a:srgbClr val="4F46E5"/>
          </a:solidFill>
          <a:ln/>
        </p:spPr>
      </p:sp>
      <p:sp>
        <p:nvSpPr>
          <p:cNvPr id="7" name="Text 5"/>
          <p:cNvSpPr/>
          <p:nvPr/>
        </p:nvSpPr>
        <p:spPr>
          <a:xfrm>
            <a:off x="7726680" y="1993392"/>
            <a:ext cx="420624" cy="420624"/>
          </a:xfrm>
          <a:prstGeom prst="rect">
            <a:avLst/>
          </a:prstGeom>
          <a:noFill/>
          <a:ln/>
        </p:spPr>
        <p:txBody>
          <a:bodyPr wrap="square" rtlCol="0" anchor="ctr"/>
          <a:lstStyle/>
          <a:p>
            <a:pPr algn="ctr" indent="0" marL="0">
              <a:buNone/>
            </a:pPr>
            <a:r>
              <a:rPr lang="en-US" sz="1700" b="1" i="1" dirty="0">
                <a:solidFill>
                  <a:srgbClr val="FFFFFF"/>
                </a:solidFill>
                <a:latin typeface="Calibri" pitchFamily="34" charset="0"/>
                <a:ea typeface="Calibri" pitchFamily="34" charset="-122"/>
                <a:cs typeface="Calibri" pitchFamily="34" charset="-120"/>
              </a:rPr>
              <a:t>i</a:t>
            </a:r>
            <a:endParaRPr lang="en-US" sz="1700" dirty="0"/>
          </a:p>
        </p:txBody>
      </p:sp>
      <p:sp>
        <p:nvSpPr>
          <p:cNvPr id="8" name="Text 6"/>
          <p:cNvSpPr/>
          <p:nvPr/>
        </p:nvSpPr>
        <p:spPr>
          <a:xfrm>
            <a:off x="8275320" y="2011680"/>
            <a:ext cx="3108960" cy="420624"/>
          </a:xfrm>
          <a:prstGeom prst="rect">
            <a:avLst/>
          </a:prstGeom>
          <a:noFill/>
          <a:ln/>
        </p:spPr>
        <p:txBody>
          <a:bodyPr wrap="square" lIns="0" tIns="0" rIns="0" bIns="0" rtlCol="0" anchor="ctr"/>
          <a:lstStyle/>
          <a:p>
            <a:pPr indent="0" marL="0">
              <a:buNone/>
            </a:pPr>
            <a:r>
              <a:rPr lang="en-US" sz="1200" b="1" spc="150" kern="0" dirty="0">
                <a:solidFill>
                  <a:srgbClr val="4338CA"/>
                </a:solidFill>
                <a:latin typeface="Calibri" pitchFamily="34" charset="0"/>
                <a:ea typeface="Calibri" pitchFamily="34" charset="-122"/>
                <a:cs typeface="Calibri" pitchFamily="34" charset="-120"/>
              </a:rPr>
              <a:t>THE BIG IDEA</a:t>
            </a:r>
            <a:endParaRPr lang="en-US" sz="1200" dirty="0"/>
          </a:p>
        </p:txBody>
      </p:sp>
      <p:sp>
        <p:nvSpPr>
          <p:cNvPr id="9" name="Text 7"/>
          <p:cNvSpPr/>
          <p:nvPr/>
        </p:nvSpPr>
        <p:spPr>
          <a:xfrm>
            <a:off x="7744968" y="2633472"/>
            <a:ext cx="3593592" cy="3520440"/>
          </a:xfrm>
          <a:prstGeom prst="rect">
            <a:avLst/>
          </a:prstGeom>
          <a:noFill/>
          <a:ln/>
        </p:spPr>
        <p:txBody>
          <a:bodyPr wrap="square" lIns="0" tIns="0" rIns="0" bIns="0" rtlCol="0" anchor="t"/>
          <a:lstStyle/>
          <a:p>
            <a:pPr indent="0" marL="0">
              <a:lnSpc>
                <a:spcPts val="1800"/>
              </a:lnSpc>
              <a:buNone/>
            </a:pPr>
            <a:r>
              <a:rPr lang="en-US" sz="1300" dirty="0">
                <a:solidFill>
                  <a:srgbClr val="0F172A"/>
                </a:solidFill>
                <a:latin typeface="Calibri" pitchFamily="34" charset="0"/>
                <a:ea typeface="Calibri" pitchFamily="34" charset="-122"/>
                <a:cs typeface="Calibri" pitchFamily="34" charset="-120"/>
              </a:rPr>
              <a:t>You are not asking a question and hoping. You are engineering the conditions under which the right answer is the most probable next text. Hold on to that sentence — it's the spine of the whole course.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4F46E5"/>
                </a:solidFill>
                <a:latin typeface="Calibri" pitchFamily="34" charset="0"/>
                <a:ea typeface="Calibri" pitchFamily="34" charset="-122"/>
                <a:cs typeface="Calibri" pitchFamily="34" charset="-120"/>
              </a:rPr>
              <a:t>AT A GLANCE</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200" b="1" spc="-50" kern="0" dirty="0">
                <a:solidFill>
                  <a:srgbClr val="0F172A"/>
                </a:solidFill>
                <a:latin typeface="Calibri" pitchFamily="34" charset="0"/>
                <a:ea typeface="Calibri" pitchFamily="34" charset="-122"/>
                <a:cs typeface="Calibri" pitchFamily="34" charset="-120"/>
              </a:rPr>
              <a:t>The course in numbers</a:t>
            </a:r>
            <a:endParaRPr lang="en-US" sz="3200" dirty="0"/>
          </a:p>
        </p:txBody>
      </p:sp>
      <p:sp>
        <p:nvSpPr>
          <p:cNvPr id="4" name="Shape 2"/>
          <p:cNvSpPr/>
          <p:nvPr/>
        </p:nvSpPr>
        <p:spPr>
          <a:xfrm>
            <a:off x="548640" y="2011680"/>
            <a:ext cx="2560320" cy="2834640"/>
          </a:xfrm>
          <a:prstGeom prst="roundRect">
            <a:avLst>
              <a:gd name="adj" fmla="val 4286"/>
            </a:avLst>
          </a:prstGeom>
          <a:solidFill>
            <a:srgbClr val="F8FAFC"/>
          </a:solidFill>
          <a:ln w="12700">
            <a:solidFill>
              <a:srgbClr val="E2E8F0"/>
            </a:solidFill>
            <a:prstDash val="solid"/>
          </a:ln>
          <a:effectLst>
            <a:outerShdw sx="100000" sy="100000" kx="0" ky="0" algn="bl" rotWithShape="0" blurRad="101600" dist="38100" dir="5400000">
              <a:srgbClr val="0F172A">
                <a:alpha val="10000"/>
              </a:srgbClr>
            </a:outerShdw>
          </a:effectLst>
        </p:spPr>
      </p:sp>
      <p:sp>
        <p:nvSpPr>
          <p:cNvPr id="5" name="Text 3"/>
          <p:cNvSpPr/>
          <p:nvPr/>
        </p:nvSpPr>
        <p:spPr>
          <a:xfrm>
            <a:off x="548640" y="2468880"/>
            <a:ext cx="2560320" cy="1188720"/>
          </a:xfrm>
          <a:prstGeom prst="rect">
            <a:avLst/>
          </a:prstGeom>
          <a:noFill/>
          <a:ln/>
        </p:spPr>
        <p:txBody>
          <a:bodyPr wrap="square" lIns="0" tIns="0" rIns="0" bIns="0" rtlCol="0" anchor="ctr"/>
          <a:lstStyle/>
          <a:p>
            <a:pPr algn="ctr" indent="0" marL="0">
              <a:buNone/>
            </a:pPr>
            <a:r>
              <a:rPr lang="en-US" sz="5000" b="1" dirty="0">
                <a:solidFill>
                  <a:srgbClr val="4F46E5"/>
                </a:solidFill>
                <a:latin typeface="Calibri" pitchFamily="34" charset="0"/>
                <a:ea typeface="Calibri" pitchFamily="34" charset="-122"/>
                <a:cs typeface="Calibri" pitchFamily="34" charset="-120"/>
              </a:rPr>
              <a:t>15h</a:t>
            </a:r>
            <a:endParaRPr lang="en-US" sz="5000" dirty="0"/>
          </a:p>
        </p:txBody>
      </p:sp>
      <p:sp>
        <p:nvSpPr>
          <p:cNvPr id="6" name="Text 4"/>
          <p:cNvSpPr/>
          <p:nvPr/>
        </p:nvSpPr>
        <p:spPr>
          <a:xfrm>
            <a:off x="777240" y="3749040"/>
            <a:ext cx="2103120" cy="914400"/>
          </a:xfrm>
          <a:prstGeom prst="rect">
            <a:avLst/>
          </a:prstGeom>
          <a:noFill/>
          <a:ln/>
        </p:spPr>
        <p:txBody>
          <a:bodyPr wrap="square" lIns="0" tIns="0" rIns="0" bIns="0" rtlCol="0" anchor="t"/>
          <a:lstStyle/>
          <a:p>
            <a:pPr algn="ctr" indent="0" marL="0">
              <a:lnSpc>
                <a:spcPts val="1700"/>
              </a:lnSpc>
              <a:buNone/>
            </a:pPr>
            <a:r>
              <a:rPr lang="en-US" sz="1350" dirty="0">
                <a:solidFill>
                  <a:srgbClr val="475569"/>
                </a:solidFill>
                <a:latin typeface="Calibri" pitchFamily="34" charset="0"/>
                <a:ea typeface="Calibri" pitchFamily="34" charset="-122"/>
                <a:cs typeface="Calibri" pitchFamily="34" charset="-120"/>
              </a:rPr>
              <a:t>contact hours over two 7.5-hour days</a:t>
            </a:r>
            <a:endParaRPr lang="en-US" sz="1350" dirty="0"/>
          </a:p>
        </p:txBody>
      </p:sp>
      <p:sp>
        <p:nvSpPr>
          <p:cNvPr id="7" name="Shape 5"/>
          <p:cNvSpPr/>
          <p:nvPr/>
        </p:nvSpPr>
        <p:spPr>
          <a:xfrm>
            <a:off x="3383280" y="2011680"/>
            <a:ext cx="2560320" cy="2834640"/>
          </a:xfrm>
          <a:prstGeom prst="roundRect">
            <a:avLst>
              <a:gd name="adj" fmla="val 4286"/>
            </a:avLst>
          </a:prstGeom>
          <a:solidFill>
            <a:srgbClr val="0F172A"/>
          </a:solidFill>
          <a:ln/>
          <a:effectLst>
            <a:outerShdw sx="100000" sy="100000" kx="0" ky="0" algn="bl" rotWithShape="0" blurRad="101600" dist="38100" dir="5400000">
              <a:srgbClr val="0F172A">
                <a:alpha val="10000"/>
              </a:srgbClr>
            </a:outerShdw>
          </a:effectLst>
        </p:spPr>
      </p:sp>
      <p:sp>
        <p:nvSpPr>
          <p:cNvPr id="8" name="Text 6"/>
          <p:cNvSpPr/>
          <p:nvPr/>
        </p:nvSpPr>
        <p:spPr>
          <a:xfrm>
            <a:off x="3383280" y="2468880"/>
            <a:ext cx="2560320" cy="1188720"/>
          </a:xfrm>
          <a:prstGeom prst="rect">
            <a:avLst/>
          </a:prstGeom>
          <a:noFill/>
          <a:ln/>
        </p:spPr>
        <p:txBody>
          <a:bodyPr wrap="square" lIns="0" tIns="0" rIns="0" bIns="0" rtlCol="0" anchor="ctr"/>
          <a:lstStyle/>
          <a:p>
            <a:pPr algn="ctr" indent="0" marL="0">
              <a:buNone/>
            </a:pPr>
            <a:r>
              <a:rPr lang="en-US" sz="5000" b="1" dirty="0">
                <a:solidFill>
                  <a:srgbClr val="FFFFFF"/>
                </a:solidFill>
                <a:latin typeface="Calibri" pitchFamily="34" charset="0"/>
                <a:ea typeface="Calibri" pitchFamily="34" charset="-122"/>
                <a:cs typeface="Calibri" pitchFamily="34" charset="-120"/>
              </a:rPr>
              <a:t>60%</a:t>
            </a:r>
            <a:endParaRPr lang="en-US" sz="5000" dirty="0"/>
          </a:p>
        </p:txBody>
      </p:sp>
      <p:sp>
        <p:nvSpPr>
          <p:cNvPr id="9" name="Text 7"/>
          <p:cNvSpPr/>
          <p:nvPr/>
        </p:nvSpPr>
        <p:spPr>
          <a:xfrm>
            <a:off x="3611880" y="3749040"/>
            <a:ext cx="2103120" cy="914400"/>
          </a:xfrm>
          <a:prstGeom prst="rect">
            <a:avLst/>
          </a:prstGeom>
          <a:noFill/>
          <a:ln/>
        </p:spPr>
        <p:txBody>
          <a:bodyPr wrap="square" lIns="0" tIns="0" rIns="0" bIns="0" rtlCol="0" anchor="t"/>
          <a:lstStyle/>
          <a:p>
            <a:pPr algn="ctr" indent="0" marL="0">
              <a:lnSpc>
                <a:spcPts val="1700"/>
              </a:lnSpc>
              <a:buNone/>
            </a:pPr>
            <a:r>
              <a:rPr lang="en-US" sz="1350" dirty="0">
                <a:solidFill>
                  <a:srgbClr val="CBD5E1"/>
                </a:solidFill>
                <a:latin typeface="Calibri" pitchFamily="34" charset="0"/>
                <a:ea typeface="Calibri" pitchFamily="34" charset="-122"/>
                <a:cs typeface="Calibri" pitchFamily="34" charset="-120"/>
              </a:rPr>
              <a:t>time spent hands-on, building &amp; testing</a:t>
            </a:r>
            <a:endParaRPr lang="en-US" sz="1350" dirty="0"/>
          </a:p>
        </p:txBody>
      </p:sp>
      <p:sp>
        <p:nvSpPr>
          <p:cNvPr id="10" name="Shape 8"/>
          <p:cNvSpPr/>
          <p:nvPr/>
        </p:nvSpPr>
        <p:spPr>
          <a:xfrm>
            <a:off x="6217920" y="2011680"/>
            <a:ext cx="2560320" cy="2834640"/>
          </a:xfrm>
          <a:prstGeom prst="roundRect">
            <a:avLst>
              <a:gd name="adj" fmla="val 4286"/>
            </a:avLst>
          </a:prstGeom>
          <a:solidFill>
            <a:srgbClr val="F8FAFC"/>
          </a:solidFill>
          <a:ln w="12700">
            <a:solidFill>
              <a:srgbClr val="E2E8F0"/>
            </a:solidFill>
            <a:prstDash val="solid"/>
          </a:ln>
          <a:effectLst>
            <a:outerShdw sx="100000" sy="100000" kx="0" ky="0" algn="bl" rotWithShape="0" blurRad="101600" dist="38100" dir="5400000">
              <a:srgbClr val="0F172A">
                <a:alpha val="10000"/>
              </a:srgbClr>
            </a:outerShdw>
          </a:effectLst>
        </p:spPr>
      </p:sp>
      <p:sp>
        <p:nvSpPr>
          <p:cNvPr id="11" name="Text 9"/>
          <p:cNvSpPr/>
          <p:nvPr/>
        </p:nvSpPr>
        <p:spPr>
          <a:xfrm>
            <a:off x="6217920" y="2468880"/>
            <a:ext cx="2560320" cy="1188720"/>
          </a:xfrm>
          <a:prstGeom prst="rect">
            <a:avLst/>
          </a:prstGeom>
          <a:noFill/>
          <a:ln/>
        </p:spPr>
        <p:txBody>
          <a:bodyPr wrap="square" lIns="0" tIns="0" rIns="0" bIns="0" rtlCol="0" anchor="ctr"/>
          <a:lstStyle/>
          <a:p>
            <a:pPr algn="ctr" indent="0" marL="0">
              <a:buNone/>
            </a:pPr>
            <a:r>
              <a:rPr lang="en-US" sz="5000" b="1" dirty="0">
                <a:solidFill>
                  <a:srgbClr val="4F46E5"/>
                </a:solidFill>
                <a:latin typeface="Calibri" pitchFamily="34" charset="0"/>
                <a:ea typeface="Calibri" pitchFamily="34" charset="-122"/>
                <a:cs typeface="Calibri" pitchFamily="34" charset="-120"/>
              </a:rPr>
              <a:t>3</a:t>
            </a:r>
            <a:endParaRPr lang="en-US" sz="5000" dirty="0"/>
          </a:p>
        </p:txBody>
      </p:sp>
      <p:sp>
        <p:nvSpPr>
          <p:cNvPr id="12" name="Text 10"/>
          <p:cNvSpPr/>
          <p:nvPr/>
        </p:nvSpPr>
        <p:spPr>
          <a:xfrm>
            <a:off x="6446520" y="3749040"/>
            <a:ext cx="2103120" cy="914400"/>
          </a:xfrm>
          <a:prstGeom prst="rect">
            <a:avLst/>
          </a:prstGeom>
          <a:noFill/>
          <a:ln/>
        </p:spPr>
        <p:txBody>
          <a:bodyPr wrap="square" lIns="0" tIns="0" rIns="0" bIns="0" rtlCol="0" anchor="t"/>
          <a:lstStyle/>
          <a:p>
            <a:pPr algn="ctr" indent="0" marL="0">
              <a:lnSpc>
                <a:spcPts val="1700"/>
              </a:lnSpc>
              <a:buNone/>
            </a:pPr>
            <a:r>
              <a:rPr lang="en-US" sz="1350" dirty="0">
                <a:solidFill>
                  <a:srgbClr val="475569"/>
                </a:solidFill>
                <a:latin typeface="Calibri" pitchFamily="34" charset="0"/>
                <a:ea typeface="Calibri" pitchFamily="34" charset="-122"/>
                <a:cs typeface="Calibri" pitchFamily="34" charset="-120"/>
              </a:rPr>
              <a:t>platforms: ChatGPT, Claude &amp; local Ollama</a:t>
            </a:r>
            <a:endParaRPr lang="en-US" sz="1350" dirty="0"/>
          </a:p>
        </p:txBody>
      </p:sp>
      <p:sp>
        <p:nvSpPr>
          <p:cNvPr id="13" name="Shape 11"/>
          <p:cNvSpPr/>
          <p:nvPr/>
        </p:nvSpPr>
        <p:spPr>
          <a:xfrm>
            <a:off x="9052560" y="2011680"/>
            <a:ext cx="2560320" cy="2834640"/>
          </a:xfrm>
          <a:prstGeom prst="roundRect">
            <a:avLst>
              <a:gd name="adj" fmla="val 4286"/>
            </a:avLst>
          </a:prstGeom>
          <a:solidFill>
            <a:srgbClr val="0F172A"/>
          </a:solidFill>
          <a:ln/>
          <a:effectLst>
            <a:outerShdw sx="100000" sy="100000" kx="0" ky="0" algn="bl" rotWithShape="0" blurRad="101600" dist="38100" dir="5400000">
              <a:srgbClr val="0F172A">
                <a:alpha val="10000"/>
              </a:srgbClr>
            </a:outerShdw>
          </a:effectLst>
        </p:spPr>
      </p:sp>
      <p:sp>
        <p:nvSpPr>
          <p:cNvPr id="14" name="Text 12"/>
          <p:cNvSpPr/>
          <p:nvPr/>
        </p:nvSpPr>
        <p:spPr>
          <a:xfrm>
            <a:off x="9052560" y="2468880"/>
            <a:ext cx="2560320" cy="1188720"/>
          </a:xfrm>
          <a:prstGeom prst="rect">
            <a:avLst/>
          </a:prstGeom>
          <a:noFill/>
          <a:ln/>
        </p:spPr>
        <p:txBody>
          <a:bodyPr wrap="square" lIns="0" tIns="0" rIns="0" bIns="0" rtlCol="0" anchor="ctr"/>
          <a:lstStyle/>
          <a:p>
            <a:pPr algn="ctr" indent="0" marL="0">
              <a:buNone/>
            </a:pPr>
            <a:r>
              <a:rPr lang="en-US" sz="5000" b="1" dirty="0">
                <a:solidFill>
                  <a:srgbClr val="FFFFFF"/>
                </a:solidFill>
                <a:latin typeface="Calibri" pitchFamily="34" charset="0"/>
                <a:ea typeface="Calibri" pitchFamily="34" charset="-122"/>
                <a:cs typeface="Calibri" pitchFamily="34" charset="-120"/>
              </a:rPr>
              <a:t>9</a:t>
            </a:r>
            <a:endParaRPr lang="en-US" sz="5000" dirty="0"/>
          </a:p>
        </p:txBody>
      </p:sp>
      <p:sp>
        <p:nvSpPr>
          <p:cNvPr id="15" name="Text 13"/>
          <p:cNvSpPr/>
          <p:nvPr/>
        </p:nvSpPr>
        <p:spPr>
          <a:xfrm>
            <a:off x="9281160" y="3749040"/>
            <a:ext cx="2103120" cy="914400"/>
          </a:xfrm>
          <a:prstGeom prst="rect">
            <a:avLst/>
          </a:prstGeom>
          <a:noFill/>
          <a:ln/>
        </p:spPr>
        <p:txBody>
          <a:bodyPr wrap="square" lIns="0" tIns="0" rIns="0" bIns="0" rtlCol="0" anchor="t"/>
          <a:lstStyle/>
          <a:p>
            <a:pPr algn="ctr" indent="0" marL="0">
              <a:lnSpc>
                <a:spcPts val="1700"/>
              </a:lnSpc>
              <a:buNone/>
            </a:pPr>
            <a:r>
              <a:rPr lang="en-US" sz="1350" dirty="0">
                <a:solidFill>
                  <a:srgbClr val="CBD5E1"/>
                </a:solidFill>
                <a:latin typeface="Calibri" pitchFamily="34" charset="0"/>
                <a:ea typeface="Calibri" pitchFamily="34" charset="-122"/>
                <a:cs typeface="Calibri" pitchFamily="34" charset="-120"/>
              </a:rPr>
              <a:t>labs including a team capstone</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4F46E5"/>
                </a:solidFill>
                <a:latin typeface="Calibri" pitchFamily="34" charset="0"/>
                <a:ea typeface="Calibri" pitchFamily="34" charset="-122"/>
                <a:cs typeface="Calibri" pitchFamily="34" charset="-120"/>
              </a:rPr>
              <a:t>OUTCOMES</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200" b="1" spc="-50" kern="0" dirty="0">
                <a:solidFill>
                  <a:srgbClr val="0F172A"/>
                </a:solidFill>
                <a:latin typeface="Calibri" pitchFamily="34" charset="0"/>
                <a:ea typeface="Calibri" pitchFamily="34" charset="-122"/>
                <a:cs typeface="Calibri" pitchFamily="34" charset="-120"/>
              </a:rPr>
              <a:t>What you'll be able to do</a:t>
            </a:r>
            <a:endParaRPr lang="en-US" sz="3200" dirty="0"/>
          </a:p>
        </p:txBody>
      </p:sp>
      <p:sp>
        <p:nvSpPr>
          <p:cNvPr id="4" name="Shape 2"/>
          <p:cNvSpPr/>
          <p:nvPr/>
        </p:nvSpPr>
        <p:spPr>
          <a:xfrm>
            <a:off x="548640" y="1737360"/>
            <a:ext cx="5394960" cy="4572000"/>
          </a:xfrm>
          <a:prstGeom prst="roundRect">
            <a:avLst>
              <a:gd name="adj" fmla="val 2000"/>
            </a:avLst>
          </a:prstGeom>
          <a:solidFill>
            <a:srgbClr val="FFFFFF"/>
          </a:solidFill>
          <a:ln w="12700">
            <a:solidFill>
              <a:srgbClr val="E2E8F0"/>
            </a:solidFill>
            <a:prstDash val="solid"/>
          </a:ln>
          <a:effectLst>
            <a:outerShdw sx="100000" sy="100000" kx="0" ky="0" algn="bl" rotWithShape="0" blurRad="101600" dist="38100" dir="5400000">
              <a:srgbClr val="0F172A">
                <a:alpha val="10000"/>
              </a:srgbClr>
            </a:outerShdw>
          </a:effectLst>
        </p:spPr>
      </p:sp>
      <p:sp>
        <p:nvSpPr>
          <p:cNvPr id="5" name="Shape 3"/>
          <p:cNvSpPr/>
          <p:nvPr/>
        </p:nvSpPr>
        <p:spPr>
          <a:xfrm>
            <a:off x="822960" y="1993392"/>
            <a:ext cx="365760" cy="365760"/>
          </a:xfrm>
          <a:prstGeom prst="ellipse">
            <a:avLst/>
          </a:prstGeom>
          <a:solidFill>
            <a:srgbClr val="EEF0FF"/>
          </a:solidFill>
          <a:ln/>
        </p:spPr>
      </p:sp>
      <p:sp>
        <p:nvSpPr>
          <p:cNvPr id="6" name="Text 4"/>
          <p:cNvSpPr/>
          <p:nvPr/>
        </p:nvSpPr>
        <p:spPr>
          <a:xfrm>
            <a:off x="822960" y="1993392"/>
            <a:ext cx="365760" cy="365760"/>
          </a:xfrm>
          <a:prstGeom prst="rect">
            <a:avLst/>
          </a:prstGeom>
          <a:noFill/>
          <a:ln/>
        </p:spPr>
        <p:txBody>
          <a:bodyPr wrap="square" rtlCol="0" anchor="ctr"/>
          <a:lstStyle/>
          <a:p>
            <a:pPr algn="ctr" indent="0" marL="0">
              <a:buNone/>
            </a:pPr>
            <a:r>
              <a:rPr lang="en-US" sz="1500" b="1" dirty="0">
                <a:solidFill>
                  <a:srgbClr val="4F46E5"/>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325880" y="1975104"/>
            <a:ext cx="4434840" cy="411480"/>
          </a:xfrm>
          <a:prstGeom prst="rect">
            <a:avLst/>
          </a:prstGeom>
          <a:noFill/>
          <a:ln/>
        </p:spPr>
        <p:txBody>
          <a:bodyPr wrap="square" lIns="0" tIns="0" rIns="0" bIns="0" rtlCol="0" anchor="ctr"/>
          <a:lstStyle/>
          <a:p>
            <a:pPr indent="0" marL="0">
              <a:buNone/>
            </a:pPr>
            <a:r>
              <a:rPr lang="en-US" sz="1550" b="1" dirty="0">
                <a:solidFill>
                  <a:srgbClr val="0F172A"/>
                </a:solidFill>
                <a:latin typeface="Calibri" pitchFamily="34" charset="0"/>
                <a:ea typeface="Calibri" pitchFamily="34" charset="-122"/>
                <a:cs typeface="Calibri" pitchFamily="34" charset="-120"/>
              </a:rPr>
              <a:t>CO1 · Design &amp; optimize</a:t>
            </a:r>
            <a:endParaRPr lang="en-US" sz="1550" dirty="0"/>
          </a:p>
        </p:txBody>
      </p:sp>
      <p:sp>
        <p:nvSpPr>
          <p:cNvPr id="8" name="Text 6"/>
          <p:cNvSpPr/>
          <p:nvPr/>
        </p:nvSpPr>
        <p:spPr>
          <a:xfrm>
            <a:off x="841248" y="2487168"/>
            <a:ext cx="4828032" cy="3657600"/>
          </a:xfrm>
          <a:prstGeom prst="rect">
            <a:avLst/>
          </a:prstGeom>
          <a:noFill/>
          <a:ln/>
        </p:spPr>
        <p:txBody>
          <a:bodyPr wrap="square" lIns="0" tIns="0" rIns="0" bIns="0" rtlCol="0" anchor="t"/>
          <a:lstStyle/>
          <a:p>
            <a:pPr indent="0" marL="0">
              <a:lnSpc>
                <a:spcPts val="1600"/>
              </a:lnSpc>
              <a:buNone/>
            </a:pPr>
            <a:r>
              <a:rPr lang="en-US" sz="1250" dirty="0">
                <a:solidFill>
                  <a:srgbClr val="475569"/>
                </a:solidFill>
                <a:latin typeface="Calibri" pitchFamily="34" charset="0"/>
                <a:ea typeface="Calibri" pitchFamily="34" charset="-122"/>
                <a:cs typeface="Calibri" pitchFamily="34" charset="-120"/>
              </a:rPr>
              <a:t>Develop and implement effective prompting techniques to optimize AI model responses across various applications.</a:t>
            </a:r>
            <a:endParaRPr lang="en-US" sz="1250" dirty="0"/>
          </a:p>
        </p:txBody>
      </p:sp>
      <p:sp>
        <p:nvSpPr>
          <p:cNvPr id="9" name="Shape 7"/>
          <p:cNvSpPr/>
          <p:nvPr/>
        </p:nvSpPr>
        <p:spPr>
          <a:xfrm>
            <a:off x="6217920" y="1737360"/>
            <a:ext cx="5394960" cy="4572000"/>
          </a:xfrm>
          <a:prstGeom prst="roundRect">
            <a:avLst>
              <a:gd name="adj" fmla="val 2000"/>
            </a:avLst>
          </a:prstGeom>
          <a:solidFill>
            <a:srgbClr val="FFFFFF"/>
          </a:solidFill>
          <a:ln w="12700">
            <a:solidFill>
              <a:srgbClr val="E2E8F0"/>
            </a:solidFill>
            <a:prstDash val="solid"/>
          </a:ln>
          <a:effectLst>
            <a:outerShdw sx="100000" sy="100000" kx="0" ky="0" algn="bl" rotWithShape="0" blurRad="101600" dist="38100" dir="5400000">
              <a:srgbClr val="0F172A">
                <a:alpha val="10000"/>
              </a:srgbClr>
            </a:outerShdw>
          </a:effectLst>
        </p:spPr>
      </p:sp>
      <p:sp>
        <p:nvSpPr>
          <p:cNvPr id="10" name="Shape 8"/>
          <p:cNvSpPr/>
          <p:nvPr/>
        </p:nvSpPr>
        <p:spPr>
          <a:xfrm>
            <a:off x="6492240" y="1993392"/>
            <a:ext cx="365760" cy="365760"/>
          </a:xfrm>
          <a:prstGeom prst="ellipse">
            <a:avLst/>
          </a:prstGeom>
          <a:solidFill>
            <a:srgbClr val="EEF0FF"/>
          </a:solidFill>
          <a:ln/>
        </p:spPr>
      </p:sp>
      <p:sp>
        <p:nvSpPr>
          <p:cNvPr id="11" name="Text 9"/>
          <p:cNvSpPr/>
          <p:nvPr/>
        </p:nvSpPr>
        <p:spPr>
          <a:xfrm>
            <a:off x="6492240" y="1993392"/>
            <a:ext cx="365760" cy="365760"/>
          </a:xfrm>
          <a:prstGeom prst="rect">
            <a:avLst/>
          </a:prstGeom>
          <a:noFill/>
          <a:ln/>
        </p:spPr>
        <p:txBody>
          <a:bodyPr wrap="square" rtlCol="0" anchor="ctr"/>
          <a:lstStyle/>
          <a:p>
            <a:pPr algn="ctr" indent="0" marL="0">
              <a:buNone/>
            </a:pPr>
            <a:r>
              <a:rPr lang="en-US" sz="1500" b="1" dirty="0">
                <a:solidFill>
                  <a:srgbClr val="4F46E5"/>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6995160" y="1975104"/>
            <a:ext cx="4434840" cy="411480"/>
          </a:xfrm>
          <a:prstGeom prst="rect">
            <a:avLst/>
          </a:prstGeom>
          <a:noFill/>
          <a:ln/>
        </p:spPr>
        <p:txBody>
          <a:bodyPr wrap="square" lIns="0" tIns="0" rIns="0" bIns="0" rtlCol="0" anchor="ctr"/>
          <a:lstStyle/>
          <a:p>
            <a:pPr indent="0" marL="0">
              <a:buNone/>
            </a:pPr>
            <a:r>
              <a:rPr lang="en-US" sz="1550" b="1" dirty="0">
                <a:solidFill>
                  <a:srgbClr val="0F172A"/>
                </a:solidFill>
                <a:latin typeface="Calibri" pitchFamily="34" charset="0"/>
                <a:ea typeface="Calibri" pitchFamily="34" charset="-122"/>
                <a:cs typeface="Calibri" pitchFamily="34" charset="-120"/>
              </a:rPr>
              <a:t>CO2 · Assess &amp; evaluate</a:t>
            </a:r>
            <a:endParaRPr lang="en-US" sz="1550" dirty="0"/>
          </a:p>
        </p:txBody>
      </p:sp>
      <p:sp>
        <p:nvSpPr>
          <p:cNvPr id="13" name="Text 11"/>
          <p:cNvSpPr/>
          <p:nvPr/>
        </p:nvSpPr>
        <p:spPr>
          <a:xfrm>
            <a:off x="6510528" y="2487168"/>
            <a:ext cx="4828032" cy="3657600"/>
          </a:xfrm>
          <a:prstGeom prst="rect">
            <a:avLst/>
          </a:prstGeom>
          <a:noFill/>
          <a:ln/>
        </p:spPr>
        <p:txBody>
          <a:bodyPr wrap="square" lIns="0" tIns="0" rIns="0" bIns="0" rtlCol="0" anchor="t"/>
          <a:lstStyle/>
          <a:p>
            <a:pPr indent="0" marL="0">
              <a:lnSpc>
                <a:spcPts val="1600"/>
              </a:lnSpc>
              <a:buNone/>
            </a:pPr>
            <a:r>
              <a:rPr lang="en-US" sz="1250" dirty="0">
                <a:solidFill>
                  <a:srgbClr val="475569"/>
                </a:solidFill>
                <a:latin typeface="Calibri" pitchFamily="34" charset="0"/>
                <a:ea typeface="Calibri" pitchFamily="34" charset="-122"/>
                <a:cs typeface="Calibri" pitchFamily="34" charset="-120"/>
              </a:rPr>
              <a:t>Assess and evaluate the security, alignment, and performance of prompting strategies through case studies and benchmarking.</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4F46E5"/>
                </a:solidFill>
                <a:latin typeface="Calibri" pitchFamily="34" charset="0"/>
                <a:ea typeface="Calibri" pitchFamily="34" charset="-122"/>
                <a:cs typeface="Calibri" pitchFamily="34" charset="-120"/>
              </a:rPr>
              <a:t>CURRICULUM</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200" b="1" spc="-50" kern="0" dirty="0">
                <a:solidFill>
                  <a:srgbClr val="0F172A"/>
                </a:solidFill>
                <a:latin typeface="Calibri" pitchFamily="34" charset="0"/>
                <a:ea typeface="Calibri" pitchFamily="34" charset="-122"/>
                <a:cs typeface="Calibri" pitchFamily="34" charset="-120"/>
              </a:rPr>
              <a:t>Six modules</a:t>
            </a:r>
            <a:endParaRPr lang="en-US" sz="3200" dirty="0"/>
          </a:p>
        </p:txBody>
      </p:sp>
      <p:sp>
        <p:nvSpPr>
          <p:cNvPr id="4" name="Shape 2"/>
          <p:cNvSpPr/>
          <p:nvPr/>
        </p:nvSpPr>
        <p:spPr>
          <a:xfrm>
            <a:off x="548640" y="1737360"/>
            <a:ext cx="5394960" cy="1353312"/>
          </a:xfrm>
          <a:prstGeom prst="roundRect">
            <a:avLst>
              <a:gd name="adj" fmla="val 6757"/>
            </a:avLst>
          </a:prstGeom>
          <a:solidFill>
            <a:srgbClr val="FFFFFF"/>
          </a:solidFill>
          <a:ln w="12700">
            <a:solidFill>
              <a:srgbClr val="E2E8F0"/>
            </a:solidFill>
            <a:prstDash val="solid"/>
          </a:ln>
          <a:effectLst>
            <a:outerShdw sx="100000" sy="100000" kx="0" ky="0" algn="bl" rotWithShape="0" blurRad="101600" dist="38100" dir="5400000">
              <a:srgbClr val="0F172A">
                <a:alpha val="10000"/>
              </a:srgbClr>
            </a:outerShdw>
          </a:effectLst>
        </p:spPr>
      </p:sp>
      <p:sp>
        <p:nvSpPr>
          <p:cNvPr id="5" name="Shape 3"/>
          <p:cNvSpPr/>
          <p:nvPr/>
        </p:nvSpPr>
        <p:spPr>
          <a:xfrm>
            <a:off x="822960" y="1993392"/>
            <a:ext cx="365760" cy="365760"/>
          </a:xfrm>
          <a:prstGeom prst="ellipse">
            <a:avLst/>
          </a:prstGeom>
          <a:solidFill>
            <a:srgbClr val="EEF0FF"/>
          </a:solidFill>
          <a:ln/>
        </p:spPr>
      </p:sp>
      <p:sp>
        <p:nvSpPr>
          <p:cNvPr id="6" name="Text 4"/>
          <p:cNvSpPr/>
          <p:nvPr/>
        </p:nvSpPr>
        <p:spPr>
          <a:xfrm>
            <a:off x="822960" y="1993392"/>
            <a:ext cx="365760" cy="365760"/>
          </a:xfrm>
          <a:prstGeom prst="rect">
            <a:avLst/>
          </a:prstGeom>
          <a:noFill/>
          <a:ln/>
        </p:spPr>
        <p:txBody>
          <a:bodyPr wrap="square" rtlCol="0" anchor="ctr"/>
          <a:lstStyle/>
          <a:p>
            <a:pPr algn="ctr" indent="0" marL="0">
              <a:buNone/>
            </a:pPr>
            <a:r>
              <a:rPr lang="en-US" sz="1500" b="1" dirty="0">
                <a:solidFill>
                  <a:srgbClr val="4F46E5"/>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325880" y="1975104"/>
            <a:ext cx="4434840" cy="411480"/>
          </a:xfrm>
          <a:prstGeom prst="rect">
            <a:avLst/>
          </a:prstGeom>
          <a:noFill/>
          <a:ln/>
        </p:spPr>
        <p:txBody>
          <a:bodyPr wrap="square" lIns="0" tIns="0" rIns="0" bIns="0" rtlCol="0" anchor="ctr"/>
          <a:lstStyle/>
          <a:p>
            <a:pPr indent="0" marL="0">
              <a:buNone/>
            </a:pPr>
            <a:r>
              <a:rPr lang="en-US" sz="1550" b="1" dirty="0">
                <a:solidFill>
                  <a:srgbClr val="0F172A"/>
                </a:solidFill>
                <a:latin typeface="Calibri" pitchFamily="34" charset="0"/>
                <a:ea typeface="Calibri" pitchFamily="34" charset="-122"/>
                <a:cs typeface="Calibri" pitchFamily="34" charset="-120"/>
              </a:rPr>
              <a:t>Introduction to Prompts</a:t>
            </a:r>
            <a:endParaRPr lang="en-US" sz="1550" dirty="0"/>
          </a:p>
        </p:txBody>
      </p:sp>
      <p:sp>
        <p:nvSpPr>
          <p:cNvPr id="8" name="Text 6"/>
          <p:cNvSpPr/>
          <p:nvPr/>
        </p:nvSpPr>
        <p:spPr>
          <a:xfrm>
            <a:off x="841248" y="2487168"/>
            <a:ext cx="4828032" cy="438912"/>
          </a:xfrm>
          <a:prstGeom prst="rect">
            <a:avLst/>
          </a:prstGeom>
          <a:noFill/>
          <a:ln/>
        </p:spPr>
        <p:txBody>
          <a:bodyPr wrap="square" lIns="0" tIns="0" rIns="0" bIns="0" rtlCol="0" anchor="t"/>
          <a:lstStyle/>
          <a:p>
            <a:pPr indent="0" marL="0">
              <a:lnSpc>
                <a:spcPts val="1600"/>
              </a:lnSpc>
              <a:buNone/>
            </a:pPr>
            <a:r>
              <a:rPr lang="en-US" sz="1250" dirty="0">
                <a:solidFill>
                  <a:srgbClr val="475569"/>
                </a:solidFill>
                <a:latin typeface="Calibri" pitchFamily="34" charset="0"/>
                <a:ea typeface="Calibri" pitchFamily="34" charset="-122"/>
                <a:cs typeface="Calibri" pitchFamily="34" charset="-120"/>
              </a:rPr>
              <a:t>Terminology, components, history; how LLMs work — tokens, temperature, context window.</a:t>
            </a:r>
            <a:endParaRPr lang="en-US" sz="1250" dirty="0"/>
          </a:p>
        </p:txBody>
      </p:sp>
      <p:sp>
        <p:nvSpPr>
          <p:cNvPr id="9" name="Shape 7"/>
          <p:cNvSpPr/>
          <p:nvPr/>
        </p:nvSpPr>
        <p:spPr>
          <a:xfrm>
            <a:off x="6217920" y="1737360"/>
            <a:ext cx="5394960" cy="1353312"/>
          </a:xfrm>
          <a:prstGeom prst="roundRect">
            <a:avLst>
              <a:gd name="adj" fmla="val 6757"/>
            </a:avLst>
          </a:prstGeom>
          <a:solidFill>
            <a:srgbClr val="FFFFFF"/>
          </a:solidFill>
          <a:ln w="12700">
            <a:solidFill>
              <a:srgbClr val="E2E8F0"/>
            </a:solidFill>
            <a:prstDash val="solid"/>
          </a:ln>
          <a:effectLst>
            <a:outerShdw sx="100000" sy="100000" kx="0" ky="0" algn="bl" rotWithShape="0" blurRad="101600" dist="38100" dir="5400000">
              <a:srgbClr val="0F172A">
                <a:alpha val="10000"/>
              </a:srgbClr>
            </a:outerShdw>
          </a:effectLst>
        </p:spPr>
      </p:sp>
      <p:sp>
        <p:nvSpPr>
          <p:cNvPr id="10" name="Shape 8"/>
          <p:cNvSpPr/>
          <p:nvPr/>
        </p:nvSpPr>
        <p:spPr>
          <a:xfrm>
            <a:off x="6492240" y="1993392"/>
            <a:ext cx="365760" cy="365760"/>
          </a:xfrm>
          <a:prstGeom prst="ellipse">
            <a:avLst/>
          </a:prstGeom>
          <a:solidFill>
            <a:srgbClr val="EEF0FF"/>
          </a:solidFill>
          <a:ln/>
        </p:spPr>
      </p:sp>
      <p:sp>
        <p:nvSpPr>
          <p:cNvPr id="11" name="Text 9"/>
          <p:cNvSpPr/>
          <p:nvPr/>
        </p:nvSpPr>
        <p:spPr>
          <a:xfrm>
            <a:off x="6492240" y="1993392"/>
            <a:ext cx="365760" cy="365760"/>
          </a:xfrm>
          <a:prstGeom prst="rect">
            <a:avLst/>
          </a:prstGeom>
          <a:noFill/>
          <a:ln/>
        </p:spPr>
        <p:txBody>
          <a:bodyPr wrap="square" rtlCol="0" anchor="ctr"/>
          <a:lstStyle/>
          <a:p>
            <a:pPr algn="ctr" indent="0" marL="0">
              <a:buNone/>
            </a:pPr>
            <a:r>
              <a:rPr lang="en-US" sz="1500" b="1" dirty="0">
                <a:solidFill>
                  <a:srgbClr val="4F46E5"/>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6995160" y="1975104"/>
            <a:ext cx="4434840" cy="411480"/>
          </a:xfrm>
          <a:prstGeom prst="rect">
            <a:avLst/>
          </a:prstGeom>
          <a:noFill/>
          <a:ln/>
        </p:spPr>
        <p:txBody>
          <a:bodyPr wrap="square" lIns="0" tIns="0" rIns="0" bIns="0" rtlCol="0" anchor="ctr"/>
          <a:lstStyle/>
          <a:p>
            <a:pPr indent="0" marL="0">
              <a:buNone/>
            </a:pPr>
            <a:r>
              <a:rPr lang="en-US" sz="1550" b="1" dirty="0">
                <a:solidFill>
                  <a:srgbClr val="0F172A"/>
                </a:solidFill>
                <a:latin typeface="Calibri" pitchFamily="34" charset="0"/>
                <a:ea typeface="Calibri" pitchFamily="34" charset="-122"/>
                <a:cs typeface="Calibri" pitchFamily="34" charset="-120"/>
              </a:rPr>
              <a:t>Text-Based Techniques</a:t>
            </a:r>
            <a:endParaRPr lang="en-US" sz="1550" dirty="0"/>
          </a:p>
        </p:txBody>
      </p:sp>
      <p:sp>
        <p:nvSpPr>
          <p:cNvPr id="13" name="Text 11"/>
          <p:cNvSpPr/>
          <p:nvPr/>
        </p:nvSpPr>
        <p:spPr>
          <a:xfrm>
            <a:off x="6510528" y="2487168"/>
            <a:ext cx="4828032" cy="438912"/>
          </a:xfrm>
          <a:prstGeom prst="rect">
            <a:avLst/>
          </a:prstGeom>
          <a:noFill/>
          <a:ln/>
        </p:spPr>
        <p:txBody>
          <a:bodyPr wrap="square" lIns="0" tIns="0" rIns="0" bIns="0" rtlCol="0" anchor="t"/>
          <a:lstStyle/>
          <a:p>
            <a:pPr indent="0" marL="0">
              <a:lnSpc>
                <a:spcPts val="1600"/>
              </a:lnSpc>
              <a:buNone/>
            </a:pPr>
            <a:r>
              <a:rPr lang="en-US" sz="1250" dirty="0">
                <a:solidFill>
                  <a:srgbClr val="475569"/>
                </a:solidFill>
                <a:latin typeface="Calibri" pitchFamily="34" charset="0"/>
                <a:ea typeface="Calibri" pitchFamily="34" charset="-122"/>
                <a:cs typeface="Calibri" pitchFamily="34" charset="-120"/>
              </a:rPr>
              <a:t>In-context learning, zero-shot, few-shot, chain-of-thought.</a:t>
            </a:r>
            <a:endParaRPr lang="en-US" sz="1250" dirty="0"/>
          </a:p>
        </p:txBody>
      </p:sp>
      <p:sp>
        <p:nvSpPr>
          <p:cNvPr id="14" name="Shape 12"/>
          <p:cNvSpPr/>
          <p:nvPr/>
        </p:nvSpPr>
        <p:spPr>
          <a:xfrm>
            <a:off x="548640" y="3346704"/>
            <a:ext cx="5394960" cy="1353312"/>
          </a:xfrm>
          <a:prstGeom prst="roundRect">
            <a:avLst>
              <a:gd name="adj" fmla="val 6757"/>
            </a:avLst>
          </a:prstGeom>
          <a:solidFill>
            <a:srgbClr val="FFFFFF"/>
          </a:solidFill>
          <a:ln w="12700">
            <a:solidFill>
              <a:srgbClr val="E2E8F0"/>
            </a:solidFill>
            <a:prstDash val="solid"/>
          </a:ln>
          <a:effectLst>
            <a:outerShdw sx="100000" sy="100000" kx="0" ky="0" algn="bl" rotWithShape="0" blurRad="101600" dist="38100" dir="5400000">
              <a:srgbClr val="0F172A">
                <a:alpha val="10000"/>
              </a:srgbClr>
            </a:outerShdw>
          </a:effectLst>
        </p:spPr>
      </p:sp>
      <p:sp>
        <p:nvSpPr>
          <p:cNvPr id="15" name="Shape 13"/>
          <p:cNvSpPr/>
          <p:nvPr/>
        </p:nvSpPr>
        <p:spPr>
          <a:xfrm>
            <a:off x="822960" y="3602736"/>
            <a:ext cx="365760" cy="365760"/>
          </a:xfrm>
          <a:prstGeom prst="ellipse">
            <a:avLst/>
          </a:prstGeom>
          <a:solidFill>
            <a:srgbClr val="EEF0FF"/>
          </a:solidFill>
          <a:ln/>
        </p:spPr>
      </p:sp>
      <p:sp>
        <p:nvSpPr>
          <p:cNvPr id="16" name="Text 14"/>
          <p:cNvSpPr/>
          <p:nvPr/>
        </p:nvSpPr>
        <p:spPr>
          <a:xfrm>
            <a:off x="822960" y="3602736"/>
            <a:ext cx="365760" cy="365760"/>
          </a:xfrm>
          <a:prstGeom prst="rect">
            <a:avLst/>
          </a:prstGeom>
          <a:noFill/>
          <a:ln/>
        </p:spPr>
        <p:txBody>
          <a:bodyPr wrap="square" rtlCol="0" anchor="ctr"/>
          <a:lstStyle/>
          <a:p>
            <a:pPr algn="ctr" indent="0" marL="0">
              <a:buNone/>
            </a:pPr>
            <a:r>
              <a:rPr lang="en-US" sz="1500" b="1" dirty="0">
                <a:solidFill>
                  <a:srgbClr val="4F46E5"/>
                </a:solidFill>
                <a:latin typeface="Calibri" pitchFamily="34" charset="0"/>
                <a:ea typeface="Calibri" pitchFamily="34" charset="-122"/>
                <a:cs typeface="Calibri" pitchFamily="34" charset="-120"/>
              </a:rPr>
              <a:t>4</a:t>
            </a:r>
            <a:endParaRPr lang="en-US" sz="1500" dirty="0"/>
          </a:p>
        </p:txBody>
      </p:sp>
      <p:sp>
        <p:nvSpPr>
          <p:cNvPr id="17" name="Text 15"/>
          <p:cNvSpPr/>
          <p:nvPr/>
        </p:nvSpPr>
        <p:spPr>
          <a:xfrm>
            <a:off x="1325880" y="3584448"/>
            <a:ext cx="4434840" cy="411480"/>
          </a:xfrm>
          <a:prstGeom prst="rect">
            <a:avLst/>
          </a:prstGeom>
          <a:noFill/>
          <a:ln/>
        </p:spPr>
        <p:txBody>
          <a:bodyPr wrap="square" lIns="0" tIns="0" rIns="0" bIns="0" rtlCol="0" anchor="ctr"/>
          <a:lstStyle/>
          <a:p>
            <a:pPr indent="0" marL="0">
              <a:buNone/>
            </a:pPr>
            <a:r>
              <a:rPr lang="en-US" sz="1550" b="1" dirty="0">
                <a:solidFill>
                  <a:srgbClr val="0F172A"/>
                </a:solidFill>
                <a:latin typeface="Calibri" pitchFamily="34" charset="0"/>
                <a:ea typeface="Calibri" pitchFamily="34" charset="-122"/>
                <a:cs typeface="Calibri" pitchFamily="34" charset="-120"/>
              </a:rPr>
              <a:t>Answer Engineering</a:t>
            </a:r>
            <a:endParaRPr lang="en-US" sz="1550" dirty="0"/>
          </a:p>
        </p:txBody>
      </p:sp>
      <p:sp>
        <p:nvSpPr>
          <p:cNvPr id="18" name="Text 16"/>
          <p:cNvSpPr/>
          <p:nvPr/>
        </p:nvSpPr>
        <p:spPr>
          <a:xfrm>
            <a:off x="841248" y="4096512"/>
            <a:ext cx="4828032" cy="438912"/>
          </a:xfrm>
          <a:prstGeom prst="rect">
            <a:avLst/>
          </a:prstGeom>
          <a:noFill/>
          <a:ln/>
        </p:spPr>
        <p:txBody>
          <a:bodyPr wrap="square" lIns="0" tIns="0" rIns="0" bIns="0" rtlCol="0" anchor="t"/>
          <a:lstStyle/>
          <a:p>
            <a:pPr indent="0" marL="0">
              <a:lnSpc>
                <a:spcPts val="1600"/>
              </a:lnSpc>
              <a:buNone/>
            </a:pPr>
            <a:r>
              <a:rPr lang="en-US" sz="1250" dirty="0">
                <a:solidFill>
                  <a:srgbClr val="475569"/>
                </a:solidFill>
                <a:latin typeface="Calibri" pitchFamily="34" charset="0"/>
                <a:ea typeface="Calibri" pitchFamily="34" charset="-122"/>
                <a:cs typeface="Calibri" pitchFamily="34" charset="-120"/>
              </a:rPr>
              <a:t>Shape, space &amp; extraction; reliable structured / JSON output.</a:t>
            </a:r>
            <a:endParaRPr lang="en-US" sz="1250" dirty="0"/>
          </a:p>
        </p:txBody>
      </p:sp>
      <p:sp>
        <p:nvSpPr>
          <p:cNvPr id="19" name="Shape 17"/>
          <p:cNvSpPr/>
          <p:nvPr/>
        </p:nvSpPr>
        <p:spPr>
          <a:xfrm>
            <a:off x="6217920" y="3346704"/>
            <a:ext cx="5394960" cy="1353312"/>
          </a:xfrm>
          <a:prstGeom prst="roundRect">
            <a:avLst>
              <a:gd name="adj" fmla="val 6757"/>
            </a:avLst>
          </a:prstGeom>
          <a:solidFill>
            <a:srgbClr val="FFFFFF"/>
          </a:solidFill>
          <a:ln w="12700">
            <a:solidFill>
              <a:srgbClr val="E2E8F0"/>
            </a:solidFill>
            <a:prstDash val="solid"/>
          </a:ln>
          <a:effectLst>
            <a:outerShdw sx="100000" sy="100000" kx="0" ky="0" algn="bl" rotWithShape="0" blurRad="101600" dist="38100" dir="5400000">
              <a:srgbClr val="0F172A">
                <a:alpha val="10000"/>
              </a:srgbClr>
            </a:outerShdw>
          </a:effectLst>
        </p:spPr>
      </p:sp>
      <p:sp>
        <p:nvSpPr>
          <p:cNvPr id="20" name="Shape 18"/>
          <p:cNvSpPr/>
          <p:nvPr/>
        </p:nvSpPr>
        <p:spPr>
          <a:xfrm>
            <a:off x="6492240" y="3602736"/>
            <a:ext cx="365760" cy="365760"/>
          </a:xfrm>
          <a:prstGeom prst="ellipse">
            <a:avLst/>
          </a:prstGeom>
          <a:solidFill>
            <a:srgbClr val="EEF0FF"/>
          </a:solidFill>
          <a:ln/>
        </p:spPr>
      </p:sp>
      <p:sp>
        <p:nvSpPr>
          <p:cNvPr id="21" name="Text 19"/>
          <p:cNvSpPr/>
          <p:nvPr/>
        </p:nvSpPr>
        <p:spPr>
          <a:xfrm>
            <a:off x="6492240" y="3602736"/>
            <a:ext cx="365760" cy="365760"/>
          </a:xfrm>
          <a:prstGeom prst="rect">
            <a:avLst/>
          </a:prstGeom>
          <a:noFill/>
          <a:ln/>
        </p:spPr>
        <p:txBody>
          <a:bodyPr wrap="square" rtlCol="0" anchor="ctr"/>
          <a:lstStyle/>
          <a:p>
            <a:pPr algn="ctr" indent="0" marL="0">
              <a:buNone/>
            </a:pPr>
            <a:r>
              <a:rPr lang="en-US" sz="1500" b="1" dirty="0">
                <a:solidFill>
                  <a:srgbClr val="4F46E5"/>
                </a:solidFill>
                <a:latin typeface="Calibri" pitchFamily="34" charset="0"/>
                <a:ea typeface="Calibri" pitchFamily="34" charset="-122"/>
                <a:cs typeface="Calibri" pitchFamily="34" charset="-120"/>
              </a:rPr>
              <a:t>3</a:t>
            </a:r>
            <a:endParaRPr lang="en-US" sz="1500" dirty="0"/>
          </a:p>
        </p:txBody>
      </p:sp>
      <p:sp>
        <p:nvSpPr>
          <p:cNvPr id="22" name="Text 20"/>
          <p:cNvSpPr/>
          <p:nvPr/>
        </p:nvSpPr>
        <p:spPr>
          <a:xfrm>
            <a:off x="6995160" y="3584448"/>
            <a:ext cx="4434840" cy="411480"/>
          </a:xfrm>
          <a:prstGeom prst="rect">
            <a:avLst/>
          </a:prstGeom>
          <a:noFill/>
          <a:ln/>
        </p:spPr>
        <p:txBody>
          <a:bodyPr wrap="square" lIns="0" tIns="0" rIns="0" bIns="0" rtlCol="0" anchor="ctr"/>
          <a:lstStyle/>
          <a:p>
            <a:pPr indent="0" marL="0">
              <a:buNone/>
            </a:pPr>
            <a:r>
              <a:rPr lang="en-US" sz="1550" b="1" dirty="0">
                <a:solidFill>
                  <a:srgbClr val="0F172A"/>
                </a:solidFill>
                <a:latin typeface="Calibri" pitchFamily="34" charset="0"/>
                <a:ea typeface="Calibri" pitchFamily="34" charset="-122"/>
                <a:cs typeface="Calibri" pitchFamily="34" charset="-120"/>
              </a:rPr>
              <a:t>Advanced Techniques</a:t>
            </a:r>
            <a:endParaRPr lang="en-US" sz="1550" dirty="0"/>
          </a:p>
        </p:txBody>
      </p:sp>
      <p:sp>
        <p:nvSpPr>
          <p:cNvPr id="23" name="Text 21"/>
          <p:cNvSpPr/>
          <p:nvPr/>
        </p:nvSpPr>
        <p:spPr>
          <a:xfrm>
            <a:off x="6510528" y="4096512"/>
            <a:ext cx="4828032" cy="438912"/>
          </a:xfrm>
          <a:prstGeom prst="rect">
            <a:avLst/>
          </a:prstGeom>
          <a:noFill/>
          <a:ln/>
        </p:spPr>
        <p:txBody>
          <a:bodyPr wrap="square" lIns="0" tIns="0" rIns="0" bIns="0" rtlCol="0" anchor="t"/>
          <a:lstStyle/>
          <a:p>
            <a:pPr indent="0" marL="0">
              <a:lnSpc>
                <a:spcPts val="1600"/>
              </a:lnSpc>
              <a:buNone/>
            </a:pPr>
            <a:r>
              <a:rPr lang="en-US" sz="1250" dirty="0">
                <a:solidFill>
                  <a:srgbClr val="475569"/>
                </a:solidFill>
                <a:latin typeface="Calibri" pitchFamily="34" charset="0"/>
                <a:ea typeface="Calibri" pitchFamily="34" charset="-122"/>
                <a:cs typeface="Calibri" pitchFamily="34" charset="-120"/>
              </a:rPr>
              <a:t>Decomposition, ensembling, self-consistency, self-criticism.</a:t>
            </a:r>
            <a:endParaRPr lang="en-US" sz="1250" dirty="0"/>
          </a:p>
        </p:txBody>
      </p:sp>
      <p:sp>
        <p:nvSpPr>
          <p:cNvPr id="24" name="Shape 22"/>
          <p:cNvSpPr/>
          <p:nvPr/>
        </p:nvSpPr>
        <p:spPr>
          <a:xfrm>
            <a:off x="548640" y="4956048"/>
            <a:ext cx="5394960" cy="1353312"/>
          </a:xfrm>
          <a:prstGeom prst="roundRect">
            <a:avLst>
              <a:gd name="adj" fmla="val 6757"/>
            </a:avLst>
          </a:prstGeom>
          <a:solidFill>
            <a:srgbClr val="FFFFFF"/>
          </a:solidFill>
          <a:ln w="12700">
            <a:solidFill>
              <a:srgbClr val="E2E8F0"/>
            </a:solidFill>
            <a:prstDash val="solid"/>
          </a:ln>
          <a:effectLst>
            <a:outerShdw sx="100000" sy="100000" kx="0" ky="0" algn="bl" rotWithShape="0" blurRad="101600" dist="38100" dir="5400000">
              <a:srgbClr val="0F172A">
                <a:alpha val="10000"/>
              </a:srgbClr>
            </a:outerShdw>
          </a:effectLst>
        </p:spPr>
      </p:sp>
      <p:sp>
        <p:nvSpPr>
          <p:cNvPr id="25" name="Shape 23"/>
          <p:cNvSpPr/>
          <p:nvPr/>
        </p:nvSpPr>
        <p:spPr>
          <a:xfrm>
            <a:off x="822960" y="5212080"/>
            <a:ext cx="365760" cy="365760"/>
          </a:xfrm>
          <a:prstGeom prst="ellipse">
            <a:avLst/>
          </a:prstGeom>
          <a:solidFill>
            <a:srgbClr val="EEF0FF"/>
          </a:solidFill>
          <a:ln/>
        </p:spPr>
      </p:sp>
      <p:sp>
        <p:nvSpPr>
          <p:cNvPr id="26" name="Text 24"/>
          <p:cNvSpPr/>
          <p:nvPr/>
        </p:nvSpPr>
        <p:spPr>
          <a:xfrm>
            <a:off x="822960" y="5212080"/>
            <a:ext cx="365760" cy="365760"/>
          </a:xfrm>
          <a:prstGeom prst="rect">
            <a:avLst/>
          </a:prstGeom>
          <a:noFill/>
          <a:ln/>
        </p:spPr>
        <p:txBody>
          <a:bodyPr wrap="square" rtlCol="0" anchor="ctr"/>
          <a:lstStyle/>
          <a:p>
            <a:pPr algn="ctr" indent="0" marL="0">
              <a:buNone/>
            </a:pPr>
            <a:r>
              <a:rPr lang="en-US" sz="1500" b="1" dirty="0">
                <a:solidFill>
                  <a:srgbClr val="4F46E5"/>
                </a:solidFill>
                <a:latin typeface="Calibri" pitchFamily="34" charset="0"/>
                <a:ea typeface="Calibri" pitchFamily="34" charset="-122"/>
                <a:cs typeface="Calibri" pitchFamily="34" charset="-120"/>
              </a:rPr>
              <a:t>5</a:t>
            </a:r>
            <a:endParaRPr lang="en-US" sz="1500" dirty="0"/>
          </a:p>
        </p:txBody>
      </p:sp>
      <p:sp>
        <p:nvSpPr>
          <p:cNvPr id="27" name="Text 25"/>
          <p:cNvSpPr/>
          <p:nvPr/>
        </p:nvSpPr>
        <p:spPr>
          <a:xfrm>
            <a:off x="1325880" y="5193792"/>
            <a:ext cx="4434840" cy="411480"/>
          </a:xfrm>
          <a:prstGeom prst="rect">
            <a:avLst/>
          </a:prstGeom>
          <a:noFill/>
          <a:ln/>
        </p:spPr>
        <p:txBody>
          <a:bodyPr wrap="square" lIns="0" tIns="0" rIns="0" bIns="0" rtlCol="0" anchor="ctr"/>
          <a:lstStyle/>
          <a:p>
            <a:pPr indent="0" marL="0">
              <a:buNone/>
            </a:pPr>
            <a:r>
              <a:rPr lang="en-US" sz="1550" b="1" dirty="0">
                <a:solidFill>
                  <a:srgbClr val="0F172A"/>
                </a:solidFill>
                <a:latin typeface="Calibri" pitchFamily="34" charset="0"/>
                <a:ea typeface="Calibri" pitchFamily="34" charset="-122"/>
                <a:cs typeface="Calibri" pitchFamily="34" charset="-120"/>
              </a:rPr>
              <a:t>Multilingual &amp; Extensions</a:t>
            </a:r>
            <a:endParaRPr lang="en-US" sz="1550" dirty="0"/>
          </a:p>
        </p:txBody>
      </p:sp>
      <p:sp>
        <p:nvSpPr>
          <p:cNvPr id="28" name="Text 26"/>
          <p:cNvSpPr/>
          <p:nvPr/>
        </p:nvSpPr>
        <p:spPr>
          <a:xfrm>
            <a:off x="841248" y="5705856"/>
            <a:ext cx="4828032" cy="438912"/>
          </a:xfrm>
          <a:prstGeom prst="rect">
            <a:avLst/>
          </a:prstGeom>
          <a:noFill/>
          <a:ln/>
        </p:spPr>
        <p:txBody>
          <a:bodyPr wrap="square" lIns="0" tIns="0" rIns="0" bIns="0" rtlCol="0" anchor="t"/>
          <a:lstStyle/>
          <a:p>
            <a:pPr indent="0" marL="0">
              <a:lnSpc>
                <a:spcPts val="1600"/>
              </a:lnSpc>
              <a:buNone/>
            </a:pPr>
            <a:r>
              <a:rPr lang="en-US" sz="1250" dirty="0">
                <a:solidFill>
                  <a:srgbClr val="475569"/>
                </a:solidFill>
                <a:latin typeface="Calibri" pitchFamily="34" charset="0"/>
                <a:ea typeface="Calibri" pitchFamily="34" charset="-122"/>
                <a:cs typeface="Calibri" pitchFamily="34" charset="-120"/>
              </a:rPr>
              <a:t>Tool-use agents, code-generation agents, multilingual prompting.</a:t>
            </a:r>
            <a:endParaRPr lang="en-US" sz="1250" dirty="0"/>
          </a:p>
        </p:txBody>
      </p:sp>
      <p:sp>
        <p:nvSpPr>
          <p:cNvPr id="29" name="Shape 27"/>
          <p:cNvSpPr/>
          <p:nvPr/>
        </p:nvSpPr>
        <p:spPr>
          <a:xfrm>
            <a:off x="6217920" y="4956048"/>
            <a:ext cx="5394960" cy="1353312"/>
          </a:xfrm>
          <a:prstGeom prst="roundRect">
            <a:avLst>
              <a:gd name="adj" fmla="val 6757"/>
            </a:avLst>
          </a:prstGeom>
          <a:solidFill>
            <a:srgbClr val="FFFFFF"/>
          </a:solidFill>
          <a:ln w="12700">
            <a:solidFill>
              <a:srgbClr val="E2E8F0"/>
            </a:solidFill>
            <a:prstDash val="solid"/>
          </a:ln>
          <a:effectLst>
            <a:outerShdw sx="100000" sy="100000" kx="0" ky="0" algn="bl" rotWithShape="0" blurRad="101600" dist="38100" dir="5400000">
              <a:srgbClr val="0F172A">
                <a:alpha val="10000"/>
              </a:srgbClr>
            </a:outerShdw>
          </a:effectLst>
        </p:spPr>
      </p:sp>
      <p:sp>
        <p:nvSpPr>
          <p:cNvPr id="30" name="Shape 28"/>
          <p:cNvSpPr/>
          <p:nvPr/>
        </p:nvSpPr>
        <p:spPr>
          <a:xfrm>
            <a:off x="6492240" y="5212080"/>
            <a:ext cx="365760" cy="365760"/>
          </a:xfrm>
          <a:prstGeom prst="ellipse">
            <a:avLst/>
          </a:prstGeom>
          <a:solidFill>
            <a:srgbClr val="EEF0FF"/>
          </a:solidFill>
          <a:ln/>
        </p:spPr>
      </p:sp>
      <p:sp>
        <p:nvSpPr>
          <p:cNvPr id="31" name="Text 29"/>
          <p:cNvSpPr/>
          <p:nvPr/>
        </p:nvSpPr>
        <p:spPr>
          <a:xfrm>
            <a:off x="6492240" y="5212080"/>
            <a:ext cx="365760" cy="365760"/>
          </a:xfrm>
          <a:prstGeom prst="rect">
            <a:avLst/>
          </a:prstGeom>
          <a:noFill/>
          <a:ln/>
        </p:spPr>
        <p:txBody>
          <a:bodyPr wrap="square" rtlCol="0" anchor="ctr"/>
          <a:lstStyle/>
          <a:p>
            <a:pPr algn="ctr" indent="0" marL="0">
              <a:buNone/>
            </a:pPr>
            <a:r>
              <a:rPr lang="en-US" sz="1500" b="1" dirty="0">
                <a:solidFill>
                  <a:srgbClr val="4F46E5"/>
                </a:solidFill>
                <a:latin typeface="Calibri" pitchFamily="34" charset="0"/>
                <a:ea typeface="Calibri" pitchFamily="34" charset="-122"/>
                <a:cs typeface="Calibri" pitchFamily="34" charset="-120"/>
              </a:rPr>
              <a:t>6</a:t>
            </a:r>
            <a:endParaRPr lang="en-US" sz="1500" dirty="0"/>
          </a:p>
        </p:txBody>
      </p:sp>
      <p:sp>
        <p:nvSpPr>
          <p:cNvPr id="32" name="Text 30"/>
          <p:cNvSpPr/>
          <p:nvPr/>
        </p:nvSpPr>
        <p:spPr>
          <a:xfrm>
            <a:off x="6995160" y="5193792"/>
            <a:ext cx="4434840" cy="411480"/>
          </a:xfrm>
          <a:prstGeom prst="rect">
            <a:avLst/>
          </a:prstGeom>
          <a:noFill/>
          <a:ln/>
        </p:spPr>
        <p:txBody>
          <a:bodyPr wrap="square" lIns="0" tIns="0" rIns="0" bIns="0" rtlCol="0" anchor="ctr"/>
          <a:lstStyle/>
          <a:p>
            <a:pPr indent="0" marL="0">
              <a:buNone/>
            </a:pPr>
            <a:r>
              <a:rPr lang="en-US" sz="1550" b="1" dirty="0">
                <a:solidFill>
                  <a:srgbClr val="0F172A"/>
                </a:solidFill>
                <a:latin typeface="Calibri" pitchFamily="34" charset="0"/>
                <a:ea typeface="Calibri" pitchFamily="34" charset="-122"/>
                <a:cs typeface="Calibri" pitchFamily="34" charset="-120"/>
              </a:rPr>
              <a:t>RAG, Security &amp; Benchmarking</a:t>
            </a:r>
            <a:endParaRPr lang="en-US" sz="1550" dirty="0"/>
          </a:p>
        </p:txBody>
      </p:sp>
      <p:sp>
        <p:nvSpPr>
          <p:cNvPr id="33" name="Text 31"/>
          <p:cNvSpPr/>
          <p:nvPr/>
        </p:nvSpPr>
        <p:spPr>
          <a:xfrm>
            <a:off x="6510528" y="5705856"/>
            <a:ext cx="4828032" cy="438912"/>
          </a:xfrm>
          <a:prstGeom prst="rect">
            <a:avLst/>
          </a:prstGeom>
          <a:noFill/>
          <a:ln/>
        </p:spPr>
        <p:txBody>
          <a:bodyPr wrap="square" lIns="0" tIns="0" rIns="0" bIns="0" rtlCol="0" anchor="t"/>
          <a:lstStyle/>
          <a:p>
            <a:pPr indent="0" marL="0">
              <a:lnSpc>
                <a:spcPts val="1600"/>
              </a:lnSpc>
              <a:buNone/>
            </a:pPr>
            <a:r>
              <a:rPr lang="en-US" sz="1250" dirty="0">
                <a:solidFill>
                  <a:srgbClr val="475569"/>
                </a:solidFill>
                <a:latin typeface="Calibri" pitchFamily="34" charset="0"/>
                <a:ea typeface="Calibri" pitchFamily="34" charset="-122"/>
                <a:cs typeface="Calibri" pitchFamily="34" charset="-120"/>
              </a:rPr>
              <a:t>Grounding, prompt injection, alignment, evaluation.</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4F46E5"/>
                </a:solidFill>
                <a:latin typeface="Calibri" pitchFamily="34" charset="0"/>
                <a:ea typeface="Calibri" pitchFamily="34" charset="-122"/>
                <a:cs typeface="Calibri" pitchFamily="34" charset="-120"/>
              </a:rPr>
              <a:t>SCHEDULE</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200" b="1" spc="-50" kern="0" dirty="0">
                <a:solidFill>
                  <a:srgbClr val="0F172A"/>
                </a:solidFill>
                <a:latin typeface="Calibri" pitchFamily="34" charset="0"/>
                <a:ea typeface="Calibri" pitchFamily="34" charset="-122"/>
                <a:cs typeface="Calibri" pitchFamily="34" charset="-120"/>
              </a:rPr>
              <a:t>Two days, fifteen hours</a:t>
            </a:r>
            <a:endParaRPr lang="en-US" sz="3200" dirty="0"/>
          </a:p>
        </p:txBody>
      </p:sp>
      <p:sp>
        <p:nvSpPr>
          <p:cNvPr id="4" name="Shape 2"/>
          <p:cNvSpPr/>
          <p:nvPr/>
        </p:nvSpPr>
        <p:spPr>
          <a:xfrm>
            <a:off x="548640" y="1737360"/>
            <a:ext cx="5349240" cy="4572000"/>
          </a:xfrm>
          <a:prstGeom prst="roundRect">
            <a:avLst>
              <a:gd name="adj" fmla="val 2000"/>
            </a:avLst>
          </a:prstGeom>
          <a:solidFill>
            <a:srgbClr val="F8FAFC"/>
          </a:solidFill>
          <a:ln w="12700">
            <a:solidFill>
              <a:srgbClr val="E2E8F0"/>
            </a:solidFill>
            <a:prstDash val="solid"/>
          </a:ln>
          <a:effectLst>
            <a:outerShdw sx="100000" sy="100000" kx="0" ky="0" algn="bl" rotWithShape="0" blurRad="101600" dist="38100" dir="5400000">
              <a:srgbClr val="0F172A">
                <a:alpha val="10000"/>
              </a:srgbClr>
            </a:outerShdw>
          </a:effectLst>
        </p:spPr>
      </p:sp>
      <p:sp>
        <p:nvSpPr>
          <p:cNvPr id="5" name="Shape 3"/>
          <p:cNvSpPr/>
          <p:nvPr/>
        </p:nvSpPr>
        <p:spPr>
          <a:xfrm>
            <a:off x="841248" y="2011680"/>
            <a:ext cx="4764024" cy="438912"/>
          </a:xfrm>
          <a:prstGeom prst="roundRect">
            <a:avLst>
              <a:gd name="adj" fmla="val 16667"/>
            </a:avLst>
          </a:prstGeom>
          <a:solidFill>
            <a:srgbClr val="4F46E5"/>
          </a:solidFill>
          <a:ln/>
        </p:spPr>
      </p:sp>
      <p:sp>
        <p:nvSpPr>
          <p:cNvPr id="6" name="Text 4"/>
          <p:cNvSpPr/>
          <p:nvPr/>
        </p:nvSpPr>
        <p:spPr>
          <a:xfrm>
            <a:off x="841248" y="2011680"/>
            <a:ext cx="4764024"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DAY 1 — From Prompts to Reliable Outputs</a:t>
            </a:r>
            <a:endParaRPr lang="en-US" sz="1400" dirty="0"/>
          </a:p>
        </p:txBody>
      </p:sp>
      <p:sp>
        <p:nvSpPr>
          <p:cNvPr id="7" name="Text 5"/>
          <p:cNvSpPr/>
          <p:nvPr/>
        </p:nvSpPr>
        <p:spPr>
          <a:xfrm>
            <a:off x="914400" y="2651760"/>
            <a:ext cx="4617720" cy="3429000"/>
          </a:xfrm>
          <a:prstGeom prst="rect">
            <a:avLst/>
          </a:prstGeom>
          <a:noFill/>
          <a:ln/>
        </p:spPr>
        <p:txBody>
          <a:bodyPr wrap="square" rtlCol="0" anchor="t"/>
          <a:lstStyle/>
          <a:p>
            <a:pPr marL="177800" indent="-177800">
              <a:lnSpc>
                <a:spcPts val="1700"/>
              </a:lnSpc>
              <a:spcAft>
                <a:spcPts val="700"/>
              </a:spcAft>
              <a:buSzPct val="100000"/>
              <a:buChar char="•"/>
            </a:pPr>
            <a:r>
              <a:rPr lang="en-US" sz="1350" dirty="0">
                <a:solidFill>
                  <a:srgbClr val="475569"/>
                </a:solidFill>
                <a:latin typeface="Calibri" pitchFamily="34" charset="0"/>
                <a:ea typeface="Calibri" pitchFamily="34" charset="-122"/>
                <a:cs typeface="Calibri" pitchFamily="34" charset="-120"/>
              </a:rPr>
              <a:t>Kickoff &amp; tooling setup</a:t>
            </a:r>
            <a:endParaRPr lang="en-US" sz="1350" dirty="0"/>
          </a:p>
          <a:p>
            <a:pPr marL="177800" indent="-177800">
              <a:lnSpc>
                <a:spcPts val="1700"/>
              </a:lnSpc>
              <a:spcAft>
                <a:spcPts val="700"/>
              </a:spcAft>
              <a:buSzPct val="100000"/>
              <a:buChar char="•"/>
            </a:pPr>
            <a:r>
              <a:rPr lang="en-US" sz="1350" dirty="0">
                <a:solidFill>
                  <a:srgbClr val="475569"/>
                </a:solidFill>
                <a:latin typeface="Calibri" pitchFamily="34" charset="0"/>
                <a:ea typeface="Calibri" pitchFamily="34" charset="-122"/>
                <a:cs typeface="Calibri" pitchFamily="34" charset="-120"/>
              </a:rPr>
              <a:t>M1 Introduction to Prompts (Lab 0)</a:t>
            </a:r>
            <a:endParaRPr lang="en-US" sz="1350" dirty="0"/>
          </a:p>
          <a:p>
            <a:pPr marL="177800" indent="-177800">
              <a:lnSpc>
                <a:spcPts val="1700"/>
              </a:lnSpc>
              <a:spcAft>
                <a:spcPts val="700"/>
              </a:spcAft>
              <a:buSzPct val="100000"/>
              <a:buChar char="•"/>
            </a:pPr>
            <a:r>
              <a:rPr lang="en-US" sz="1350" dirty="0">
                <a:solidFill>
                  <a:srgbClr val="475569"/>
                </a:solidFill>
                <a:latin typeface="Calibri" pitchFamily="34" charset="0"/>
                <a:ea typeface="Calibri" pitchFamily="34" charset="-122"/>
                <a:cs typeface="Calibri" pitchFamily="34" charset="-120"/>
              </a:rPr>
              <a:t>M2 Text-Based techniques (Lab 1)</a:t>
            </a:r>
            <a:endParaRPr lang="en-US" sz="1350" dirty="0"/>
          </a:p>
          <a:p>
            <a:pPr marL="177800" indent="-177800">
              <a:lnSpc>
                <a:spcPts val="1700"/>
              </a:lnSpc>
              <a:spcAft>
                <a:spcPts val="700"/>
              </a:spcAft>
              <a:buSzPct val="100000"/>
              <a:buChar char="•"/>
            </a:pPr>
            <a:r>
              <a:rPr lang="en-US" sz="1350" dirty="0">
                <a:solidFill>
                  <a:srgbClr val="475569"/>
                </a:solidFill>
                <a:latin typeface="Calibri" pitchFamily="34" charset="0"/>
                <a:ea typeface="Calibri" pitchFamily="34" charset="-122"/>
                <a:cs typeface="Calibri" pitchFamily="34" charset="-120"/>
              </a:rPr>
              <a:t>M4 Answer Engineering (Lab 2)</a:t>
            </a:r>
            <a:endParaRPr lang="en-US" sz="1350" dirty="0"/>
          </a:p>
          <a:p>
            <a:pPr marL="177800" indent="-177800">
              <a:lnSpc>
                <a:spcPts val="1700"/>
              </a:lnSpc>
              <a:spcAft>
                <a:spcPts val="700"/>
              </a:spcAft>
              <a:buSzPct val="100000"/>
              <a:buChar char="•"/>
            </a:pPr>
            <a:r>
              <a:rPr lang="en-US" sz="1350" dirty="0">
                <a:solidFill>
                  <a:srgbClr val="475569"/>
                </a:solidFill>
                <a:latin typeface="Calibri" pitchFamily="34" charset="0"/>
                <a:ea typeface="Calibri" pitchFamily="34" charset="-122"/>
                <a:cs typeface="Calibri" pitchFamily="34" charset="-120"/>
              </a:rPr>
              <a:t>Patterns Clinic (Lab 3)</a:t>
            </a:r>
            <a:endParaRPr lang="en-US" sz="1350" dirty="0"/>
          </a:p>
          <a:p>
            <a:pPr marL="177800" indent="-177800">
              <a:lnSpc>
                <a:spcPts val="1700"/>
              </a:lnSpc>
              <a:spcAft>
                <a:spcPts val="700"/>
              </a:spcAft>
              <a:buSzPct val="100000"/>
              <a:buChar char="•"/>
            </a:pPr>
            <a:r>
              <a:rPr lang="en-US" sz="1350" dirty="0">
                <a:solidFill>
                  <a:srgbClr val="475569"/>
                </a:solidFill>
                <a:latin typeface="Calibri" pitchFamily="34" charset="0"/>
                <a:ea typeface="Calibri" pitchFamily="34" charset="-122"/>
                <a:cs typeface="Calibri" pitchFamily="34" charset="-120"/>
              </a:rPr>
              <a:t>Applied: data engineering (Lab 4)</a:t>
            </a:r>
            <a:endParaRPr lang="en-US" sz="1350" dirty="0"/>
          </a:p>
        </p:txBody>
      </p:sp>
      <p:sp>
        <p:nvSpPr>
          <p:cNvPr id="8" name="Shape 6"/>
          <p:cNvSpPr/>
          <p:nvPr/>
        </p:nvSpPr>
        <p:spPr>
          <a:xfrm>
            <a:off x="6263640" y="1737360"/>
            <a:ext cx="5349240" cy="4572000"/>
          </a:xfrm>
          <a:prstGeom prst="roundRect">
            <a:avLst>
              <a:gd name="adj" fmla="val 2000"/>
            </a:avLst>
          </a:prstGeom>
          <a:solidFill>
            <a:srgbClr val="F8FAFC"/>
          </a:solidFill>
          <a:ln w="12700">
            <a:solidFill>
              <a:srgbClr val="E2E8F0"/>
            </a:solidFill>
            <a:prstDash val="solid"/>
          </a:ln>
          <a:effectLst>
            <a:outerShdw sx="100000" sy="100000" kx="0" ky="0" algn="bl" rotWithShape="0" blurRad="101600" dist="38100" dir="5400000">
              <a:srgbClr val="0F172A">
                <a:alpha val="10000"/>
              </a:srgbClr>
            </a:outerShdw>
          </a:effectLst>
        </p:spPr>
      </p:sp>
      <p:sp>
        <p:nvSpPr>
          <p:cNvPr id="9" name="Shape 7"/>
          <p:cNvSpPr/>
          <p:nvPr/>
        </p:nvSpPr>
        <p:spPr>
          <a:xfrm>
            <a:off x="6556248" y="2011680"/>
            <a:ext cx="4764024" cy="438912"/>
          </a:xfrm>
          <a:prstGeom prst="roundRect">
            <a:avLst>
              <a:gd name="adj" fmla="val 16667"/>
            </a:avLst>
          </a:prstGeom>
          <a:solidFill>
            <a:srgbClr val="0F172A"/>
          </a:solidFill>
          <a:ln/>
        </p:spPr>
      </p:sp>
      <p:sp>
        <p:nvSpPr>
          <p:cNvPr id="10" name="Text 8"/>
          <p:cNvSpPr/>
          <p:nvPr/>
        </p:nvSpPr>
        <p:spPr>
          <a:xfrm>
            <a:off x="6556248" y="2011680"/>
            <a:ext cx="4764024"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DAY 2 — Advanced, Agentic &amp; Responsible</a:t>
            </a:r>
            <a:endParaRPr lang="en-US" sz="1400" dirty="0"/>
          </a:p>
        </p:txBody>
      </p:sp>
      <p:sp>
        <p:nvSpPr>
          <p:cNvPr id="11" name="Text 9"/>
          <p:cNvSpPr/>
          <p:nvPr/>
        </p:nvSpPr>
        <p:spPr>
          <a:xfrm>
            <a:off x="6629400" y="2651760"/>
            <a:ext cx="4617720" cy="3429000"/>
          </a:xfrm>
          <a:prstGeom prst="rect">
            <a:avLst/>
          </a:prstGeom>
          <a:noFill/>
          <a:ln/>
        </p:spPr>
        <p:txBody>
          <a:bodyPr wrap="square" rtlCol="0" anchor="t"/>
          <a:lstStyle/>
          <a:p>
            <a:pPr marL="177800" indent="-177800">
              <a:lnSpc>
                <a:spcPts val="1700"/>
              </a:lnSpc>
              <a:spcAft>
                <a:spcPts val="700"/>
              </a:spcAft>
              <a:buSzPct val="100000"/>
              <a:buChar char="•"/>
            </a:pPr>
            <a:r>
              <a:rPr lang="en-US" sz="1350" dirty="0">
                <a:solidFill>
                  <a:srgbClr val="475569"/>
                </a:solidFill>
                <a:latin typeface="Calibri" pitchFamily="34" charset="0"/>
                <a:ea typeface="Calibri" pitchFamily="34" charset="-122"/>
                <a:cs typeface="Calibri" pitchFamily="34" charset="-120"/>
              </a:rPr>
              <a:t>M3 Advanced techniques (Lab 5)</a:t>
            </a:r>
            <a:endParaRPr lang="en-US" sz="1350" dirty="0"/>
          </a:p>
          <a:p>
            <a:pPr marL="177800" indent="-177800">
              <a:lnSpc>
                <a:spcPts val="1700"/>
              </a:lnSpc>
              <a:spcAft>
                <a:spcPts val="700"/>
              </a:spcAft>
              <a:buSzPct val="100000"/>
              <a:buChar char="•"/>
            </a:pPr>
            <a:r>
              <a:rPr lang="en-US" sz="1350" dirty="0">
                <a:solidFill>
                  <a:srgbClr val="475569"/>
                </a:solidFill>
                <a:latin typeface="Calibri" pitchFamily="34" charset="0"/>
                <a:ea typeface="Calibri" pitchFamily="34" charset="-122"/>
                <a:cs typeface="Calibri" pitchFamily="34" charset="-120"/>
              </a:rPr>
              <a:t>M5 Agents &amp; multilingual (Lab 6)</a:t>
            </a:r>
            <a:endParaRPr lang="en-US" sz="1350" dirty="0"/>
          </a:p>
          <a:p>
            <a:pPr marL="177800" indent="-177800">
              <a:lnSpc>
                <a:spcPts val="1700"/>
              </a:lnSpc>
              <a:spcAft>
                <a:spcPts val="700"/>
              </a:spcAft>
              <a:buSzPct val="100000"/>
              <a:buChar char="•"/>
            </a:pPr>
            <a:r>
              <a:rPr lang="en-US" sz="1350" dirty="0">
                <a:solidFill>
                  <a:srgbClr val="475569"/>
                </a:solidFill>
                <a:latin typeface="Calibri" pitchFamily="34" charset="0"/>
                <a:ea typeface="Calibri" pitchFamily="34" charset="-122"/>
                <a:cs typeface="Calibri" pitchFamily="34" charset="-120"/>
              </a:rPr>
              <a:t>M6a RAG (Lab 7)</a:t>
            </a:r>
            <a:endParaRPr lang="en-US" sz="1350" dirty="0"/>
          </a:p>
          <a:p>
            <a:pPr marL="177800" indent="-177800">
              <a:lnSpc>
                <a:spcPts val="1700"/>
              </a:lnSpc>
              <a:spcAft>
                <a:spcPts val="700"/>
              </a:spcAft>
              <a:buSzPct val="100000"/>
              <a:buChar char="•"/>
            </a:pPr>
            <a:r>
              <a:rPr lang="en-US" sz="1350" dirty="0">
                <a:solidFill>
                  <a:srgbClr val="475569"/>
                </a:solidFill>
                <a:latin typeface="Calibri" pitchFamily="34" charset="0"/>
                <a:ea typeface="Calibri" pitchFamily="34" charset="-122"/>
                <a:cs typeface="Calibri" pitchFamily="34" charset="-120"/>
              </a:rPr>
              <a:t>M6b Security &amp; evaluation (Lab 8)</a:t>
            </a:r>
            <a:endParaRPr lang="en-US" sz="1350" dirty="0"/>
          </a:p>
          <a:p>
            <a:pPr marL="177800" indent="-177800">
              <a:lnSpc>
                <a:spcPts val="1700"/>
              </a:lnSpc>
              <a:spcAft>
                <a:spcPts val="700"/>
              </a:spcAft>
              <a:buSzPct val="100000"/>
              <a:buChar char="•"/>
            </a:pPr>
            <a:r>
              <a:rPr lang="en-US" sz="1350" dirty="0">
                <a:solidFill>
                  <a:srgbClr val="475569"/>
                </a:solidFill>
                <a:latin typeface="Calibri" pitchFamily="34" charset="0"/>
                <a:ea typeface="Calibri" pitchFamily="34" charset="-122"/>
                <a:cs typeface="Calibri" pitchFamily="34" charset="-120"/>
              </a:rPr>
              <a:t>Capstone build &amp; demos</a:t>
            </a:r>
            <a:endParaRPr lang="en-US" sz="1350" dirty="0"/>
          </a:p>
          <a:p>
            <a:pPr marL="177800" indent="-177800">
              <a:lnSpc>
                <a:spcPts val="1700"/>
              </a:lnSpc>
              <a:spcAft>
                <a:spcPts val="700"/>
              </a:spcAft>
              <a:buSzPct val="100000"/>
              <a:buChar char="•"/>
            </a:pPr>
            <a:r>
              <a:rPr lang="en-US" sz="1350" dirty="0">
                <a:solidFill>
                  <a:srgbClr val="475569"/>
                </a:solidFill>
                <a:latin typeface="Calibri" pitchFamily="34" charset="0"/>
                <a:ea typeface="Calibri" pitchFamily="34" charset="-122"/>
                <a:cs typeface="Calibri" pitchFamily="34" charset="-120"/>
              </a:rPr>
              <a:t>Close &amp; viva</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4F46E5"/>
                </a:solidFill>
                <a:latin typeface="Calibri" pitchFamily="34" charset="0"/>
                <a:ea typeface="Calibri" pitchFamily="34" charset="-122"/>
                <a:cs typeface="Calibri" pitchFamily="34" charset="-120"/>
              </a:rPr>
              <a:t>HOW WE'LL WORK</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200" b="1" spc="-50" kern="0" dirty="0">
                <a:solidFill>
                  <a:srgbClr val="0F172A"/>
                </a:solidFill>
                <a:latin typeface="Calibri" pitchFamily="34" charset="0"/>
                <a:ea typeface="Calibri" pitchFamily="34" charset="-122"/>
                <a:cs typeface="Calibri" pitchFamily="34" charset="-120"/>
              </a:rPr>
              <a:t>A few ground rules</a:t>
            </a:r>
            <a:endParaRPr lang="en-US" sz="3200" dirty="0"/>
          </a:p>
        </p:txBody>
      </p:sp>
      <p:sp>
        <p:nvSpPr>
          <p:cNvPr id="4" name="Shape 2"/>
          <p:cNvSpPr/>
          <p:nvPr/>
        </p:nvSpPr>
        <p:spPr>
          <a:xfrm>
            <a:off x="548640" y="1737360"/>
            <a:ext cx="11064240" cy="1033272"/>
          </a:xfrm>
          <a:prstGeom prst="roundRect">
            <a:avLst>
              <a:gd name="adj" fmla="val 7965"/>
            </a:avLst>
          </a:prstGeom>
          <a:solidFill>
            <a:srgbClr val="F8FAFC"/>
          </a:solidFill>
          <a:ln w="12700">
            <a:solidFill>
              <a:srgbClr val="E2E8F0"/>
            </a:solidFill>
            <a:prstDash val="solid"/>
          </a:ln>
          <a:effectLst>
            <a:outerShdw sx="100000" sy="100000" kx="0" ky="0" algn="bl" rotWithShape="0" blurRad="101600" dist="38100" dir="5400000">
              <a:srgbClr val="0F172A">
                <a:alpha val="10000"/>
              </a:srgbClr>
            </a:outerShdw>
          </a:effectLst>
        </p:spPr>
      </p:sp>
      <p:sp>
        <p:nvSpPr>
          <p:cNvPr id="5" name="Shape 3"/>
          <p:cNvSpPr/>
          <p:nvPr/>
        </p:nvSpPr>
        <p:spPr>
          <a:xfrm>
            <a:off x="804672" y="1979676"/>
            <a:ext cx="548640" cy="548640"/>
          </a:xfrm>
          <a:prstGeom prst="ellipse">
            <a:avLst/>
          </a:prstGeom>
          <a:solidFill>
            <a:srgbClr val="4F46E5"/>
          </a:solidFill>
          <a:ln/>
        </p:spPr>
      </p:sp>
      <p:sp>
        <p:nvSpPr>
          <p:cNvPr id="6" name="Text 4"/>
          <p:cNvSpPr/>
          <p:nvPr/>
        </p:nvSpPr>
        <p:spPr>
          <a:xfrm>
            <a:off x="804672" y="1979676"/>
            <a:ext cx="548640" cy="5486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1645920" y="1737360"/>
            <a:ext cx="9692640" cy="1033272"/>
          </a:xfrm>
          <a:prstGeom prst="rect">
            <a:avLst/>
          </a:prstGeom>
          <a:noFill/>
          <a:ln/>
        </p:spPr>
        <p:txBody>
          <a:bodyPr wrap="square" lIns="0" tIns="0" rIns="0" bIns="0" rtlCol="0" anchor="ctr"/>
          <a:lstStyle/>
          <a:p>
            <a:pPr indent="0" marL="0">
              <a:lnSpc>
                <a:spcPts val="1700"/>
              </a:lnSpc>
              <a:buNone/>
            </a:pPr>
            <a:r>
              <a:rPr lang="en-US" sz="1550" b="1" dirty="0">
                <a:solidFill>
                  <a:srgbClr val="0F172A"/>
                </a:solidFill>
                <a:latin typeface="Calibri" pitchFamily="34" charset="0"/>
                <a:ea typeface="Calibri" pitchFamily="34" charset="-122"/>
                <a:cs typeface="Calibri" pitchFamily="34" charset="-120"/>
              </a:rPr>
              <a:t>Laptops open, hands on the keys   </a:t>
            </a:r>
            <a:pPr indent="0" marL="0">
              <a:lnSpc>
                <a:spcPts val="1700"/>
              </a:lnSpc>
              <a:buNone/>
            </a:pPr>
            <a:r>
              <a:rPr lang="en-US" sz="1300" dirty="0">
                <a:solidFill>
                  <a:srgbClr val="475569"/>
                </a:solidFill>
                <a:latin typeface="Calibri" pitchFamily="34" charset="0"/>
                <a:ea typeface="Calibri" pitchFamily="34" charset="-122"/>
                <a:cs typeface="Calibri" pitchFamily="34" charset="-120"/>
              </a:rPr>
              <a:t>— you learn this by typing prompts, not by watching me type them.</a:t>
            </a:r>
            <a:endParaRPr lang="en-US" sz="1550" dirty="0"/>
          </a:p>
        </p:txBody>
      </p:sp>
      <p:sp>
        <p:nvSpPr>
          <p:cNvPr id="8" name="Shape 6"/>
          <p:cNvSpPr/>
          <p:nvPr/>
        </p:nvSpPr>
        <p:spPr>
          <a:xfrm>
            <a:off x="548640" y="2916936"/>
            <a:ext cx="11064240" cy="1033272"/>
          </a:xfrm>
          <a:prstGeom prst="roundRect">
            <a:avLst>
              <a:gd name="adj" fmla="val 7965"/>
            </a:avLst>
          </a:prstGeom>
          <a:solidFill>
            <a:srgbClr val="F8FAFC"/>
          </a:solidFill>
          <a:ln w="12700">
            <a:solidFill>
              <a:srgbClr val="E2E8F0"/>
            </a:solidFill>
            <a:prstDash val="solid"/>
          </a:ln>
          <a:effectLst>
            <a:outerShdw sx="100000" sy="100000" kx="0" ky="0" algn="bl" rotWithShape="0" blurRad="101600" dist="38100" dir="5400000">
              <a:srgbClr val="0F172A">
                <a:alpha val="10000"/>
              </a:srgbClr>
            </a:outerShdw>
          </a:effectLst>
        </p:spPr>
      </p:sp>
      <p:sp>
        <p:nvSpPr>
          <p:cNvPr id="9" name="Shape 7"/>
          <p:cNvSpPr/>
          <p:nvPr/>
        </p:nvSpPr>
        <p:spPr>
          <a:xfrm>
            <a:off x="804672" y="3159252"/>
            <a:ext cx="548640" cy="548640"/>
          </a:xfrm>
          <a:prstGeom prst="ellipse">
            <a:avLst/>
          </a:prstGeom>
          <a:solidFill>
            <a:srgbClr val="4F46E5"/>
          </a:solidFill>
          <a:ln/>
        </p:spPr>
      </p:sp>
      <p:sp>
        <p:nvSpPr>
          <p:cNvPr id="10" name="Text 8"/>
          <p:cNvSpPr/>
          <p:nvPr/>
        </p:nvSpPr>
        <p:spPr>
          <a:xfrm>
            <a:off x="804672" y="3159252"/>
            <a:ext cx="548640" cy="5486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1" name="Text 9"/>
          <p:cNvSpPr/>
          <p:nvPr/>
        </p:nvSpPr>
        <p:spPr>
          <a:xfrm>
            <a:off x="1645920" y="2916936"/>
            <a:ext cx="9692640" cy="1033272"/>
          </a:xfrm>
          <a:prstGeom prst="rect">
            <a:avLst/>
          </a:prstGeom>
          <a:noFill/>
          <a:ln/>
        </p:spPr>
        <p:txBody>
          <a:bodyPr wrap="square" lIns="0" tIns="0" rIns="0" bIns="0" rtlCol="0" anchor="ctr"/>
          <a:lstStyle/>
          <a:p>
            <a:pPr indent="0" marL="0">
              <a:lnSpc>
                <a:spcPts val="1700"/>
              </a:lnSpc>
              <a:buNone/>
            </a:pPr>
            <a:r>
              <a:rPr lang="en-US" sz="1550" b="1" dirty="0">
                <a:solidFill>
                  <a:srgbClr val="0F172A"/>
                </a:solidFill>
                <a:latin typeface="Calibri" pitchFamily="34" charset="0"/>
                <a:ea typeface="Calibri" pitchFamily="34" charset="-122"/>
                <a:cs typeface="Calibri" pitchFamily="34" charset="-120"/>
              </a:rPr>
              <a:t>Experiment out loud   </a:t>
            </a:r>
            <a:pPr indent="0" marL="0">
              <a:lnSpc>
                <a:spcPts val="1700"/>
              </a:lnSpc>
              <a:buNone/>
            </a:pPr>
            <a:r>
              <a:rPr lang="en-US" sz="1300" dirty="0">
                <a:solidFill>
                  <a:srgbClr val="475569"/>
                </a:solidFill>
                <a:latin typeface="Calibri" pitchFamily="34" charset="0"/>
                <a:ea typeface="Calibri" pitchFamily="34" charset="-122"/>
                <a:cs typeface="Calibri" pitchFamily="34" charset="-120"/>
              </a:rPr>
              <a:t>— when something surprises you, call it out. Surprises are where the learning is.</a:t>
            </a:r>
            <a:endParaRPr lang="en-US" sz="1550" dirty="0"/>
          </a:p>
        </p:txBody>
      </p:sp>
      <p:sp>
        <p:nvSpPr>
          <p:cNvPr id="12" name="Shape 10"/>
          <p:cNvSpPr/>
          <p:nvPr/>
        </p:nvSpPr>
        <p:spPr>
          <a:xfrm>
            <a:off x="548640" y="4096512"/>
            <a:ext cx="11064240" cy="1033272"/>
          </a:xfrm>
          <a:prstGeom prst="roundRect">
            <a:avLst>
              <a:gd name="adj" fmla="val 7965"/>
            </a:avLst>
          </a:prstGeom>
          <a:solidFill>
            <a:srgbClr val="F8FAFC"/>
          </a:solidFill>
          <a:ln w="12700">
            <a:solidFill>
              <a:srgbClr val="E2E8F0"/>
            </a:solidFill>
            <a:prstDash val="solid"/>
          </a:ln>
          <a:effectLst>
            <a:outerShdw sx="100000" sy="100000" kx="0" ky="0" algn="bl" rotWithShape="0" blurRad="101600" dist="38100" dir="5400000">
              <a:srgbClr val="0F172A">
                <a:alpha val="10000"/>
              </a:srgbClr>
            </a:outerShdw>
          </a:effectLst>
        </p:spPr>
      </p:sp>
      <p:sp>
        <p:nvSpPr>
          <p:cNvPr id="13" name="Shape 11"/>
          <p:cNvSpPr/>
          <p:nvPr/>
        </p:nvSpPr>
        <p:spPr>
          <a:xfrm>
            <a:off x="804672" y="4338828"/>
            <a:ext cx="548640" cy="548640"/>
          </a:xfrm>
          <a:prstGeom prst="ellipse">
            <a:avLst/>
          </a:prstGeom>
          <a:solidFill>
            <a:srgbClr val="4F46E5"/>
          </a:solidFill>
          <a:ln/>
        </p:spPr>
      </p:sp>
      <p:sp>
        <p:nvSpPr>
          <p:cNvPr id="14" name="Text 12"/>
          <p:cNvSpPr/>
          <p:nvPr/>
        </p:nvSpPr>
        <p:spPr>
          <a:xfrm>
            <a:off x="804672" y="4338828"/>
            <a:ext cx="548640" cy="5486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5" name="Text 13"/>
          <p:cNvSpPr/>
          <p:nvPr/>
        </p:nvSpPr>
        <p:spPr>
          <a:xfrm>
            <a:off x="1645920" y="4096512"/>
            <a:ext cx="9692640" cy="1033272"/>
          </a:xfrm>
          <a:prstGeom prst="rect">
            <a:avLst/>
          </a:prstGeom>
          <a:noFill/>
          <a:ln/>
        </p:spPr>
        <p:txBody>
          <a:bodyPr wrap="square" lIns="0" tIns="0" rIns="0" bIns="0" rtlCol="0" anchor="ctr"/>
          <a:lstStyle/>
          <a:p>
            <a:pPr indent="0" marL="0">
              <a:lnSpc>
                <a:spcPts val="1700"/>
              </a:lnSpc>
              <a:buNone/>
            </a:pPr>
            <a:r>
              <a:rPr lang="en-US" sz="1550" b="1" dirty="0">
                <a:solidFill>
                  <a:srgbClr val="0F172A"/>
                </a:solidFill>
                <a:latin typeface="Calibri" pitchFamily="34" charset="0"/>
                <a:ea typeface="Calibri" pitchFamily="34" charset="-122"/>
                <a:cs typeface="Calibri" pitchFamily="34" charset="-120"/>
              </a:rPr>
              <a:t>Pair up when stuck   </a:t>
            </a:r>
            <a:pPr indent="0" marL="0">
              <a:lnSpc>
                <a:spcPts val="1700"/>
              </a:lnSpc>
              <a:buNone/>
            </a:pPr>
            <a:r>
              <a:rPr lang="en-US" sz="1300" dirty="0">
                <a:solidFill>
                  <a:srgbClr val="475569"/>
                </a:solidFill>
                <a:latin typeface="Calibri" pitchFamily="34" charset="0"/>
                <a:ea typeface="Calibri" pitchFamily="34" charset="-122"/>
                <a:cs typeface="Calibri" pitchFamily="34" charset="-120"/>
              </a:rPr>
              <a:t>— especially on setup. Nobody sits blocked for ten minutes in silence.</a:t>
            </a:r>
            <a:endParaRPr lang="en-US" sz="1550" dirty="0"/>
          </a:p>
        </p:txBody>
      </p:sp>
      <p:sp>
        <p:nvSpPr>
          <p:cNvPr id="16" name="Shape 14"/>
          <p:cNvSpPr/>
          <p:nvPr/>
        </p:nvSpPr>
        <p:spPr>
          <a:xfrm>
            <a:off x="548640" y="5276088"/>
            <a:ext cx="11064240" cy="1033272"/>
          </a:xfrm>
          <a:prstGeom prst="roundRect">
            <a:avLst>
              <a:gd name="adj" fmla="val 7965"/>
            </a:avLst>
          </a:prstGeom>
          <a:solidFill>
            <a:srgbClr val="F8FAFC"/>
          </a:solidFill>
          <a:ln w="12700">
            <a:solidFill>
              <a:srgbClr val="E2E8F0"/>
            </a:solidFill>
            <a:prstDash val="solid"/>
          </a:ln>
          <a:effectLst>
            <a:outerShdw sx="100000" sy="100000" kx="0" ky="0" algn="bl" rotWithShape="0" blurRad="101600" dist="38100" dir="5400000">
              <a:srgbClr val="0F172A">
                <a:alpha val="10000"/>
              </a:srgbClr>
            </a:outerShdw>
          </a:effectLst>
        </p:spPr>
      </p:sp>
      <p:sp>
        <p:nvSpPr>
          <p:cNvPr id="17" name="Shape 15"/>
          <p:cNvSpPr/>
          <p:nvPr/>
        </p:nvSpPr>
        <p:spPr>
          <a:xfrm>
            <a:off x="804672" y="5518404"/>
            <a:ext cx="548640" cy="548640"/>
          </a:xfrm>
          <a:prstGeom prst="ellipse">
            <a:avLst/>
          </a:prstGeom>
          <a:solidFill>
            <a:srgbClr val="4F46E5"/>
          </a:solidFill>
          <a:ln/>
        </p:spPr>
      </p:sp>
      <p:sp>
        <p:nvSpPr>
          <p:cNvPr id="18" name="Text 16"/>
          <p:cNvSpPr/>
          <p:nvPr/>
        </p:nvSpPr>
        <p:spPr>
          <a:xfrm>
            <a:off x="804672" y="5518404"/>
            <a:ext cx="548640" cy="5486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9" name="Text 17"/>
          <p:cNvSpPr/>
          <p:nvPr/>
        </p:nvSpPr>
        <p:spPr>
          <a:xfrm>
            <a:off x="1645920" y="5276088"/>
            <a:ext cx="9692640" cy="1033272"/>
          </a:xfrm>
          <a:prstGeom prst="rect">
            <a:avLst/>
          </a:prstGeom>
          <a:noFill/>
          <a:ln/>
        </p:spPr>
        <p:txBody>
          <a:bodyPr wrap="square" lIns="0" tIns="0" rIns="0" bIns="0" rtlCol="0" anchor="ctr"/>
          <a:lstStyle/>
          <a:p>
            <a:pPr indent="0" marL="0">
              <a:lnSpc>
                <a:spcPts val="1700"/>
              </a:lnSpc>
              <a:buNone/>
            </a:pPr>
            <a:r>
              <a:rPr lang="en-US" sz="1550" b="1" dirty="0">
                <a:solidFill>
                  <a:srgbClr val="0F172A"/>
                </a:solidFill>
                <a:latin typeface="Calibri" pitchFamily="34" charset="0"/>
                <a:ea typeface="Calibri" pitchFamily="34" charset="-122"/>
                <a:cs typeface="Calibri" pitchFamily="34" charset="-120"/>
              </a:rPr>
              <a:t>There are no silly questions   </a:t>
            </a:r>
            <a:pPr indent="0" marL="0">
              <a:lnSpc>
                <a:spcPts val="1700"/>
              </a:lnSpc>
              <a:buNone/>
            </a:pPr>
            <a:r>
              <a:rPr lang="en-US" sz="1300" dirty="0">
                <a:solidFill>
                  <a:srgbClr val="475569"/>
                </a:solidFill>
                <a:latin typeface="Calibri" pitchFamily="34" charset="0"/>
                <a:ea typeface="Calibri" pitchFamily="34" charset="-122"/>
                <a:cs typeface="Calibri" pitchFamily="34" charset="-120"/>
              </a:rPr>
              <a:t>— if you're wondering it, three others are too. Ask.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4F46E5"/>
                </a:solidFill>
                <a:latin typeface="Calibri" pitchFamily="34" charset="0"/>
                <a:ea typeface="Calibri" pitchFamily="34" charset="-122"/>
                <a:cs typeface="Calibri" pitchFamily="34" charset="-120"/>
              </a:rPr>
              <a:t>SETUP</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200" b="1" spc="-50" kern="0" dirty="0">
                <a:solidFill>
                  <a:srgbClr val="0F172A"/>
                </a:solidFill>
                <a:latin typeface="Calibri" pitchFamily="34" charset="0"/>
                <a:ea typeface="Calibri" pitchFamily="34" charset="-122"/>
                <a:cs typeface="Calibri" pitchFamily="34" charset="-120"/>
              </a:rPr>
              <a:t>Get your tools ready now</a:t>
            </a:r>
            <a:endParaRPr lang="en-US" sz="3200" dirty="0"/>
          </a:p>
        </p:txBody>
      </p:sp>
      <p:sp>
        <p:nvSpPr>
          <p:cNvPr id="4" name="Shape 2"/>
          <p:cNvSpPr/>
          <p:nvPr/>
        </p:nvSpPr>
        <p:spPr>
          <a:xfrm>
            <a:off x="548640" y="1737360"/>
            <a:ext cx="5394960" cy="2157984"/>
          </a:xfrm>
          <a:prstGeom prst="roundRect">
            <a:avLst>
              <a:gd name="adj" fmla="val 4237"/>
            </a:avLst>
          </a:prstGeom>
          <a:solidFill>
            <a:srgbClr val="FFFFFF"/>
          </a:solidFill>
          <a:ln w="12700">
            <a:solidFill>
              <a:srgbClr val="E2E8F0"/>
            </a:solidFill>
            <a:prstDash val="solid"/>
          </a:ln>
          <a:effectLst>
            <a:outerShdw sx="100000" sy="100000" kx="0" ky="0" algn="bl" rotWithShape="0" blurRad="101600" dist="38100" dir="5400000">
              <a:srgbClr val="0F172A">
                <a:alpha val="10000"/>
              </a:srgbClr>
            </a:outerShdw>
          </a:effectLst>
        </p:spPr>
      </p:sp>
      <p:sp>
        <p:nvSpPr>
          <p:cNvPr id="5" name="Shape 3"/>
          <p:cNvSpPr/>
          <p:nvPr/>
        </p:nvSpPr>
        <p:spPr>
          <a:xfrm>
            <a:off x="822960" y="1993392"/>
            <a:ext cx="365760" cy="365760"/>
          </a:xfrm>
          <a:prstGeom prst="ellipse">
            <a:avLst/>
          </a:prstGeom>
          <a:solidFill>
            <a:srgbClr val="EEF0FF"/>
          </a:solidFill>
          <a:ln/>
        </p:spPr>
      </p:sp>
      <p:sp>
        <p:nvSpPr>
          <p:cNvPr id="6" name="Text 4"/>
          <p:cNvSpPr/>
          <p:nvPr/>
        </p:nvSpPr>
        <p:spPr>
          <a:xfrm>
            <a:off x="822960" y="1993392"/>
            <a:ext cx="365760" cy="365760"/>
          </a:xfrm>
          <a:prstGeom prst="rect">
            <a:avLst/>
          </a:prstGeom>
          <a:noFill/>
          <a:ln/>
        </p:spPr>
        <p:txBody>
          <a:bodyPr wrap="square" rtlCol="0" anchor="ctr"/>
          <a:lstStyle/>
          <a:p>
            <a:pPr algn="ctr" indent="0" marL="0">
              <a:buNone/>
            </a:pPr>
            <a:r>
              <a:rPr lang="en-US" sz="1500" b="1" dirty="0">
                <a:solidFill>
                  <a:srgbClr val="4F46E5"/>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325880" y="1975104"/>
            <a:ext cx="4434840" cy="411480"/>
          </a:xfrm>
          <a:prstGeom prst="rect">
            <a:avLst/>
          </a:prstGeom>
          <a:noFill/>
          <a:ln/>
        </p:spPr>
        <p:txBody>
          <a:bodyPr wrap="square" lIns="0" tIns="0" rIns="0" bIns="0" rtlCol="0" anchor="ctr"/>
          <a:lstStyle/>
          <a:p>
            <a:pPr indent="0" marL="0">
              <a:buNone/>
            </a:pPr>
            <a:r>
              <a:rPr lang="en-US" sz="1550" b="1" dirty="0">
                <a:solidFill>
                  <a:srgbClr val="0F172A"/>
                </a:solidFill>
                <a:latin typeface="Calibri" pitchFamily="34" charset="0"/>
                <a:ea typeface="Calibri" pitchFamily="34" charset="-122"/>
                <a:cs typeface="Calibri" pitchFamily="34" charset="-120"/>
              </a:rPr>
              <a:t>ChatGPT — free tier</a:t>
            </a:r>
            <a:endParaRPr lang="en-US" sz="1550" dirty="0"/>
          </a:p>
        </p:txBody>
      </p:sp>
      <p:sp>
        <p:nvSpPr>
          <p:cNvPr id="8" name="Text 6"/>
          <p:cNvSpPr/>
          <p:nvPr/>
        </p:nvSpPr>
        <p:spPr>
          <a:xfrm>
            <a:off x="841248" y="2487168"/>
            <a:ext cx="4828032" cy="1243584"/>
          </a:xfrm>
          <a:prstGeom prst="rect">
            <a:avLst/>
          </a:prstGeom>
          <a:noFill/>
          <a:ln/>
        </p:spPr>
        <p:txBody>
          <a:bodyPr wrap="square" lIns="0" tIns="0" rIns="0" bIns="0" rtlCol="0" anchor="t"/>
          <a:lstStyle/>
          <a:p>
            <a:pPr indent="0" marL="0">
              <a:lnSpc>
                <a:spcPts val="1600"/>
              </a:lnSpc>
              <a:buNone/>
            </a:pPr>
            <a:r>
              <a:rPr lang="en-US" sz="1250" dirty="0">
                <a:solidFill>
                  <a:srgbClr val="475569"/>
                </a:solidFill>
                <a:latin typeface="Calibri" pitchFamily="34" charset="0"/>
                <a:ea typeface="Calibri" pitchFamily="34" charset="-122"/>
                <a:cs typeface="Calibri" pitchFamily="34" charset="-120"/>
              </a:rPr>
              <a:t>Create a free account at chat.openai.com in your browser. No payment needed.</a:t>
            </a:r>
            <a:endParaRPr lang="en-US" sz="1250" dirty="0"/>
          </a:p>
        </p:txBody>
      </p:sp>
      <p:sp>
        <p:nvSpPr>
          <p:cNvPr id="9" name="Shape 7"/>
          <p:cNvSpPr/>
          <p:nvPr/>
        </p:nvSpPr>
        <p:spPr>
          <a:xfrm>
            <a:off x="6217920" y="1737360"/>
            <a:ext cx="5394960" cy="2157984"/>
          </a:xfrm>
          <a:prstGeom prst="roundRect">
            <a:avLst>
              <a:gd name="adj" fmla="val 4237"/>
            </a:avLst>
          </a:prstGeom>
          <a:solidFill>
            <a:srgbClr val="FFFFFF"/>
          </a:solidFill>
          <a:ln w="12700">
            <a:solidFill>
              <a:srgbClr val="E2E8F0"/>
            </a:solidFill>
            <a:prstDash val="solid"/>
          </a:ln>
          <a:effectLst>
            <a:outerShdw sx="100000" sy="100000" kx="0" ky="0" algn="bl" rotWithShape="0" blurRad="101600" dist="38100" dir="5400000">
              <a:srgbClr val="0F172A">
                <a:alpha val="10000"/>
              </a:srgbClr>
            </a:outerShdw>
          </a:effectLst>
        </p:spPr>
      </p:sp>
      <p:sp>
        <p:nvSpPr>
          <p:cNvPr id="10" name="Shape 8"/>
          <p:cNvSpPr/>
          <p:nvPr/>
        </p:nvSpPr>
        <p:spPr>
          <a:xfrm>
            <a:off x="6492240" y="1993392"/>
            <a:ext cx="365760" cy="365760"/>
          </a:xfrm>
          <a:prstGeom prst="ellipse">
            <a:avLst/>
          </a:prstGeom>
          <a:solidFill>
            <a:srgbClr val="EEF0FF"/>
          </a:solidFill>
          <a:ln/>
        </p:spPr>
      </p:sp>
      <p:sp>
        <p:nvSpPr>
          <p:cNvPr id="11" name="Text 9"/>
          <p:cNvSpPr/>
          <p:nvPr/>
        </p:nvSpPr>
        <p:spPr>
          <a:xfrm>
            <a:off x="6492240" y="1993392"/>
            <a:ext cx="365760" cy="365760"/>
          </a:xfrm>
          <a:prstGeom prst="rect">
            <a:avLst/>
          </a:prstGeom>
          <a:noFill/>
          <a:ln/>
        </p:spPr>
        <p:txBody>
          <a:bodyPr wrap="square" rtlCol="0" anchor="ctr"/>
          <a:lstStyle/>
          <a:p>
            <a:pPr algn="ctr" indent="0" marL="0">
              <a:buNone/>
            </a:pPr>
            <a:r>
              <a:rPr lang="en-US" sz="1500" b="1" dirty="0">
                <a:solidFill>
                  <a:srgbClr val="4F46E5"/>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6995160" y="1975104"/>
            <a:ext cx="4434840" cy="411480"/>
          </a:xfrm>
          <a:prstGeom prst="rect">
            <a:avLst/>
          </a:prstGeom>
          <a:noFill/>
          <a:ln/>
        </p:spPr>
        <p:txBody>
          <a:bodyPr wrap="square" lIns="0" tIns="0" rIns="0" bIns="0" rtlCol="0" anchor="ctr"/>
          <a:lstStyle/>
          <a:p>
            <a:pPr indent="0" marL="0">
              <a:buNone/>
            </a:pPr>
            <a:r>
              <a:rPr lang="en-US" sz="1550" b="1" dirty="0">
                <a:solidFill>
                  <a:srgbClr val="0F172A"/>
                </a:solidFill>
                <a:latin typeface="Calibri" pitchFamily="34" charset="0"/>
                <a:ea typeface="Calibri" pitchFamily="34" charset="-122"/>
                <a:cs typeface="Calibri" pitchFamily="34" charset="-120"/>
              </a:rPr>
              <a:t>Claude — free tier</a:t>
            </a:r>
            <a:endParaRPr lang="en-US" sz="1550" dirty="0"/>
          </a:p>
        </p:txBody>
      </p:sp>
      <p:sp>
        <p:nvSpPr>
          <p:cNvPr id="13" name="Text 11"/>
          <p:cNvSpPr/>
          <p:nvPr/>
        </p:nvSpPr>
        <p:spPr>
          <a:xfrm>
            <a:off x="6510528" y="2487168"/>
            <a:ext cx="4828032" cy="1243584"/>
          </a:xfrm>
          <a:prstGeom prst="rect">
            <a:avLst/>
          </a:prstGeom>
          <a:noFill/>
          <a:ln/>
        </p:spPr>
        <p:txBody>
          <a:bodyPr wrap="square" lIns="0" tIns="0" rIns="0" bIns="0" rtlCol="0" anchor="t"/>
          <a:lstStyle/>
          <a:p>
            <a:pPr indent="0" marL="0">
              <a:lnSpc>
                <a:spcPts val="1600"/>
              </a:lnSpc>
              <a:buNone/>
            </a:pPr>
            <a:r>
              <a:rPr lang="en-US" sz="1250" dirty="0">
                <a:solidFill>
                  <a:srgbClr val="475569"/>
                </a:solidFill>
                <a:latin typeface="Calibri" pitchFamily="34" charset="0"/>
                <a:ea typeface="Calibri" pitchFamily="34" charset="-122"/>
                <a:cs typeface="Calibri" pitchFamily="34" charset="-120"/>
              </a:rPr>
              <a:t>Create a free account at claude.ai. We'll compare its answers against ChatGPT's.</a:t>
            </a:r>
            <a:endParaRPr lang="en-US" sz="1250" dirty="0"/>
          </a:p>
        </p:txBody>
      </p:sp>
      <p:sp>
        <p:nvSpPr>
          <p:cNvPr id="14" name="Shape 12"/>
          <p:cNvSpPr/>
          <p:nvPr/>
        </p:nvSpPr>
        <p:spPr>
          <a:xfrm>
            <a:off x="548640" y="4151376"/>
            <a:ext cx="5394960" cy="2157984"/>
          </a:xfrm>
          <a:prstGeom prst="roundRect">
            <a:avLst>
              <a:gd name="adj" fmla="val 4237"/>
            </a:avLst>
          </a:prstGeom>
          <a:solidFill>
            <a:srgbClr val="FFFFFF"/>
          </a:solidFill>
          <a:ln w="12700">
            <a:solidFill>
              <a:srgbClr val="E2E8F0"/>
            </a:solidFill>
            <a:prstDash val="solid"/>
          </a:ln>
          <a:effectLst>
            <a:outerShdw sx="100000" sy="100000" kx="0" ky="0" algn="bl" rotWithShape="0" blurRad="101600" dist="38100" dir="5400000">
              <a:srgbClr val="0F172A">
                <a:alpha val="10000"/>
              </a:srgbClr>
            </a:outerShdw>
          </a:effectLst>
        </p:spPr>
      </p:sp>
      <p:sp>
        <p:nvSpPr>
          <p:cNvPr id="15" name="Shape 13"/>
          <p:cNvSpPr/>
          <p:nvPr/>
        </p:nvSpPr>
        <p:spPr>
          <a:xfrm>
            <a:off x="822960" y="4407408"/>
            <a:ext cx="365760" cy="365760"/>
          </a:xfrm>
          <a:prstGeom prst="ellipse">
            <a:avLst/>
          </a:prstGeom>
          <a:solidFill>
            <a:srgbClr val="EEF0FF"/>
          </a:solidFill>
          <a:ln/>
        </p:spPr>
      </p:sp>
      <p:sp>
        <p:nvSpPr>
          <p:cNvPr id="16" name="Text 14"/>
          <p:cNvSpPr/>
          <p:nvPr/>
        </p:nvSpPr>
        <p:spPr>
          <a:xfrm>
            <a:off x="822960" y="4407408"/>
            <a:ext cx="365760" cy="365760"/>
          </a:xfrm>
          <a:prstGeom prst="rect">
            <a:avLst/>
          </a:prstGeom>
          <a:noFill/>
          <a:ln/>
        </p:spPr>
        <p:txBody>
          <a:bodyPr wrap="square" rtlCol="0" anchor="ctr"/>
          <a:lstStyle/>
          <a:p>
            <a:pPr algn="ctr" indent="0" marL="0">
              <a:buNone/>
            </a:pPr>
            <a:r>
              <a:rPr lang="en-US" sz="1500" b="1" dirty="0">
                <a:solidFill>
                  <a:srgbClr val="4F46E5"/>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1325880" y="4389120"/>
            <a:ext cx="4434840" cy="411480"/>
          </a:xfrm>
          <a:prstGeom prst="rect">
            <a:avLst/>
          </a:prstGeom>
          <a:noFill/>
          <a:ln/>
        </p:spPr>
        <p:txBody>
          <a:bodyPr wrap="square" lIns="0" tIns="0" rIns="0" bIns="0" rtlCol="0" anchor="ctr"/>
          <a:lstStyle/>
          <a:p>
            <a:pPr indent="0" marL="0">
              <a:buNone/>
            </a:pPr>
            <a:r>
              <a:rPr lang="en-US" sz="1550" b="1" dirty="0">
                <a:solidFill>
                  <a:srgbClr val="0F172A"/>
                </a:solidFill>
                <a:latin typeface="Calibri" pitchFamily="34" charset="0"/>
                <a:ea typeface="Calibri" pitchFamily="34" charset="-122"/>
                <a:cs typeface="Calibri" pitchFamily="34" charset="-120"/>
              </a:rPr>
              <a:t>Ollama — local model</a:t>
            </a:r>
            <a:endParaRPr lang="en-US" sz="1550" dirty="0"/>
          </a:p>
        </p:txBody>
      </p:sp>
      <p:sp>
        <p:nvSpPr>
          <p:cNvPr id="18" name="Text 16"/>
          <p:cNvSpPr/>
          <p:nvPr/>
        </p:nvSpPr>
        <p:spPr>
          <a:xfrm>
            <a:off x="841248" y="4901184"/>
            <a:ext cx="4828032" cy="1243584"/>
          </a:xfrm>
          <a:prstGeom prst="rect">
            <a:avLst/>
          </a:prstGeom>
          <a:noFill/>
          <a:ln/>
        </p:spPr>
        <p:txBody>
          <a:bodyPr wrap="square" lIns="0" tIns="0" rIns="0" bIns="0" rtlCol="0" anchor="t"/>
          <a:lstStyle/>
          <a:p>
            <a:pPr indent="0" marL="0">
              <a:lnSpc>
                <a:spcPts val="1600"/>
              </a:lnSpc>
              <a:buNone/>
            </a:pPr>
            <a:r>
              <a:rPr lang="en-US" sz="1250" dirty="0">
                <a:solidFill>
                  <a:srgbClr val="475569"/>
                </a:solidFill>
                <a:latin typeface="Calibri" pitchFamily="34" charset="0"/>
                <a:ea typeface="Calibri" pitchFamily="34" charset="-122"/>
                <a:cs typeface="Calibri" pitchFamily="34" charset="-120"/>
              </a:rPr>
              <a:t>Install from ollama.com, then run: ollama pull llama3.2  and  ollama pull mistral</a:t>
            </a:r>
            <a:endParaRPr lang="en-US" sz="1250" dirty="0"/>
          </a:p>
        </p:txBody>
      </p:sp>
      <p:sp>
        <p:nvSpPr>
          <p:cNvPr id="19" name="Shape 17"/>
          <p:cNvSpPr/>
          <p:nvPr/>
        </p:nvSpPr>
        <p:spPr>
          <a:xfrm>
            <a:off x="6217920" y="4151376"/>
            <a:ext cx="5394960" cy="2157984"/>
          </a:xfrm>
          <a:prstGeom prst="roundRect">
            <a:avLst>
              <a:gd name="adj" fmla="val 4237"/>
            </a:avLst>
          </a:prstGeom>
          <a:solidFill>
            <a:srgbClr val="FFFFFF"/>
          </a:solidFill>
          <a:ln w="12700">
            <a:solidFill>
              <a:srgbClr val="E2E8F0"/>
            </a:solidFill>
            <a:prstDash val="solid"/>
          </a:ln>
          <a:effectLst>
            <a:outerShdw sx="100000" sy="100000" kx="0" ky="0" algn="bl" rotWithShape="0" blurRad="101600" dist="38100" dir="5400000">
              <a:srgbClr val="0F172A">
                <a:alpha val="10000"/>
              </a:srgbClr>
            </a:outerShdw>
          </a:effectLst>
        </p:spPr>
      </p:sp>
      <p:sp>
        <p:nvSpPr>
          <p:cNvPr id="20" name="Shape 18"/>
          <p:cNvSpPr/>
          <p:nvPr/>
        </p:nvSpPr>
        <p:spPr>
          <a:xfrm>
            <a:off x="6492240" y="4407408"/>
            <a:ext cx="365760" cy="365760"/>
          </a:xfrm>
          <a:prstGeom prst="ellipse">
            <a:avLst/>
          </a:prstGeom>
          <a:solidFill>
            <a:srgbClr val="EEF0FF"/>
          </a:solidFill>
          <a:ln/>
        </p:spPr>
      </p:sp>
      <p:sp>
        <p:nvSpPr>
          <p:cNvPr id="21" name="Text 19"/>
          <p:cNvSpPr/>
          <p:nvPr/>
        </p:nvSpPr>
        <p:spPr>
          <a:xfrm>
            <a:off x="6492240" y="4407408"/>
            <a:ext cx="365760" cy="365760"/>
          </a:xfrm>
          <a:prstGeom prst="rect">
            <a:avLst/>
          </a:prstGeom>
          <a:noFill/>
          <a:ln/>
        </p:spPr>
        <p:txBody>
          <a:bodyPr wrap="square" rtlCol="0" anchor="ctr"/>
          <a:lstStyle/>
          <a:p>
            <a:pPr algn="ctr" indent="0" marL="0">
              <a:buNone/>
            </a:pPr>
            <a:r>
              <a:rPr lang="en-US" sz="1500" b="1" dirty="0">
                <a:solidFill>
                  <a:srgbClr val="4F46E5"/>
                </a:solidFill>
                <a:latin typeface="Calibri" pitchFamily="34" charset="0"/>
                <a:ea typeface="Calibri" pitchFamily="34" charset="-122"/>
                <a:cs typeface="Calibri" pitchFamily="34" charset="-120"/>
              </a:rPr>
              <a:t>4</a:t>
            </a:r>
            <a:endParaRPr lang="en-US" sz="1500" dirty="0"/>
          </a:p>
        </p:txBody>
      </p:sp>
      <p:sp>
        <p:nvSpPr>
          <p:cNvPr id="22" name="Text 20"/>
          <p:cNvSpPr/>
          <p:nvPr/>
        </p:nvSpPr>
        <p:spPr>
          <a:xfrm>
            <a:off x="6995160" y="4389120"/>
            <a:ext cx="4434840" cy="411480"/>
          </a:xfrm>
          <a:prstGeom prst="rect">
            <a:avLst/>
          </a:prstGeom>
          <a:noFill/>
          <a:ln/>
        </p:spPr>
        <p:txBody>
          <a:bodyPr wrap="square" lIns="0" tIns="0" rIns="0" bIns="0" rtlCol="0" anchor="ctr"/>
          <a:lstStyle/>
          <a:p>
            <a:pPr indent="0" marL="0">
              <a:buNone/>
            </a:pPr>
            <a:r>
              <a:rPr lang="en-US" sz="1550" b="1" dirty="0">
                <a:solidFill>
                  <a:srgbClr val="0F172A"/>
                </a:solidFill>
                <a:latin typeface="Calibri" pitchFamily="34" charset="0"/>
                <a:ea typeface="Calibri" pitchFamily="34" charset="-122"/>
                <a:cs typeface="Calibri" pitchFamily="34" charset="-120"/>
              </a:rPr>
              <a:t>Verify it runs</a:t>
            </a:r>
            <a:endParaRPr lang="en-US" sz="1550" dirty="0"/>
          </a:p>
        </p:txBody>
      </p:sp>
      <p:sp>
        <p:nvSpPr>
          <p:cNvPr id="23" name="Text 21"/>
          <p:cNvSpPr/>
          <p:nvPr/>
        </p:nvSpPr>
        <p:spPr>
          <a:xfrm>
            <a:off x="6510528" y="4901184"/>
            <a:ext cx="4828032" cy="1243584"/>
          </a:xfrm>
          <a:prstGeom prst="rect">
            <a:avLst/>
          </a:prstGeom>
          <a:noFill/>
          <a:ln/>
        </p:spPr>
        <p:txBody>
          <a:bodyPr wrap="square" lIns="0" tIns="0" rIns="0" bIns="0" rtlCol="0" anchor="t"/>
          <a:lstStyle/>
          <a:p>
            <a:pPr indent="0" marL="0">
              <a:lnSpc>
                <a:spcPts val="1600"/>
              </a:lnSpc>
              <a:buNone/>
            </a:pPr>
            <a:r>
              <a:rPr lang="en-US" sz="1250" dirty="0">
                <a:solidFill>
                  <a:srgbClr val="475569"/>
                </a:solidFill>
                <a:latin typeface="Calibri" pitchFamily="34" charset="0"/>
                <a:ea typeface="Calibri" pitchFamily="34" charset="-122"/>
                <a:cs typeface="Calibri" pitchFamily="34" charset="-120"/>
              </a:rPr>
              <a:t>ollama run llama3.2 "Say hello." — if you get a reply, you're ready.</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4F46E5"/>
                </a:solidFill>
                <a:latin typeface="Calibri" pitchFamily="34" charset="0"/>
                <a:ea typeface="Calibri" pitchFamily="34" charset="-122"/>
                <a:cs typeface="Calibri" pitchFamily="34" charset="-120"/>
              </a:rPr>
              <a:t>ASSESSMENT</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200" b="1" spc="-50" kern="0" dirty="0">
                <a:solidFill>
                  <a:srgbClr val="0F172A"/>
                </a:solidFill>
                <a:latin typeface="Calibri" pitchFamily="34" charset="0"/>
                <a:ea typeface="Calibri" pitchFamily="34" charset="-122"/>
                <a:cs typeface="Calibri" pitchFamily="34" charset="-120"/>
              </a:rPr>
              <a:t>How you're graded</a:t>
            </a:r>
            <a:endParaRPr lang="en-US" sz="3200" dirty="0"/>
          </a:p>
        </p:txBody>
      </p:sp>
      <p:sp>
        <p:nvSpPr>
          <p:cNvPr id="4" name="Shape 2"/>
          <p:cNvSpPr/>
          <p:nvPr/>
        </p:nvSpPr>
        <p:spPr>
          <a:xfrm>
            <a:off x="548640" y="1737360"/>
            <a:ext cx="11064240" cy="1426464"/>
          </a:xfrm>
          <a:prstGeom prst="roundRect">
            <a:avLst>
              <a:gd name="adj" fmla="val 5769"/>
            </a:avLst>
          </a:prstGeom>
          <a:solidFill>
            <a:srgbClr val="F8FAFC"/>
          </a:solidFill>
          <a:ln w="12700">
            <a:solidFill>
              <a:srgbClr val="E2E8F0"/>
            </a:solidFill>
            <a:prstDash val="solid"/>
          </a:ln>
          <a:effectLst>
            <a:outerShdw sx="100000" sy="100000" kx="0" ky="0" algn="bl" rotWithShape="0" blurRad="101600" dist="38100" dir="5400000">
              <a:srgbClr val="0F172A">
                <a:alpha val="10000"/>
              </a:srgbClr>
            </a:outerShdw>
          </a:effectLst>
        </p:spPr>
      </p:sp>
      <p:sp>
        <p:nvSpPr>
          <p:cNvPr id="5" name="Shape 3"/>
          <p:cNvSpPr/>
          <p:nvPr/>
        </p:nvSpPr>
        <p:spPr>
          <a:xfrm>
            <a:off x="804672" y="2176272"/>
            <a:ext cx="548640" cy="548640"/>
          </a:xfrm>
          <a:prstGeom prst="ellipse">
            <a:avLst/>
          </a:prstGeom>
          <a:solidFill>
            <a:srgbClr val="4F46E5"/>
          </a:solidFill>
          <a:ln/>
        </p:spPr>
      </p:sp>
      <p:sp>
        <p:nvSpPr>
          <p:cNvPr id="6" name="Text 4"/>
          <p:cNvSpPr/>
          <p:nvPr/>
        </p:nvSpPr>
        <p:spPr>
          <a:xfrm>
            <a:off x="804672" y="2176272"/>
            <a:ext cx="548640" cy="5486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40</a:t>
            </a:r>
            <a:endParaRPr lang="en-US" sz="1600" dirty="0"/>
          </a:p>
        </p:txBody>
      </p:sp>
      <p:sp>
        <p:nvSpPr>
          <p:cNvPr id="7" name="Text 5"/>
          <p:cNvSpPr/>
          <p:nvPr/>
        </p:nvSpPr>
        <p:spPr>
          <a:xfrm>
            <a:off x="1645920" y="1737360"/>
            <a:ext cx="9692640" cy="1426464"/>
          </a:xfrm>
          <a:prstGeom prst="rect">
            <a:avLst/>
          </a:prstGeom>
          <a:noFill/>
          <a:ln/>
        </p:spPr>
        <p:txBody>
          <a:bodyPr wrap="square" lIns="0" tIns="0" rIns="0" bIns="0" rtlCol="0" anchor="ctr"/>
          <a:lstStyle/>
          <a:p>
            <a:pPr indent="0" marL="0">
              <a:lnSpc>
                <a:spcPts val="1700"/>
              </a:lnSpc>
              <a:buNone/>
            </a:pPr>
            <a:r>
              <a:rPr lang="en-US" sz="1550" b="1" dirty="0">
                <a:solidFill>
                  <a:srgbClr val="0F172A"/>
                </a:solidFill>
                <a:latin typeface="Calibri" pitchFamily="34" charset="0"/>
                <a:ea typeface="Calibri" pitchFamily="34" charset="-122"/>
                <a:cs typeface="Calibri" pitchFamily="34" charset="-120"/>
              </a:rPr>
              <a:t>Labs   </a:t>
            </a:r>
            <a:pPr indent="0" marL="0">
              <a:lnSpc>
                <a:spcPts val="1700"/>
              </a:lnSpc>
              <a:buNone/>
            </a:pPr>
            <a:r>
              <a:rPr lang="en-US" sz="1300" dirty="0">
                <a:solidFill>
                  <a:srgbClr val="475569"/>
                </a:solidFill>
                <a:latin typeface="Calibri" pitchFamily="34" charset="0"/>
                <a:ea typeface="Calibri" pitchFamily="34" charset="-122"/>
                <a:cs typeface="Calibri" pitchFamily="34" charset="-120"/>
              </a:rPr>
              <a:t>— completion and quality of the eight in-class labs (continuous, formative).</a:t>
            </a:r>
            <a:endParaRPr lang="en-US" sz="1550" dirty="0"/>
          </a:p>
        </p:txBody>
      </p:sp>
      <p:sp>
        <p:nvSpPr>
          <p:cNvPr id="8" name="Shape 6"/>
          <p:cNvSpPr/>
          <p:nvPr/>
        </p:nvSpPr>
        <p:spPr>
          <a:xfrm>
            <a:off x="548640" y="3310128"/>
            <a:ext cx="11064240" cy="1426464"/>
          </a:xfrm>
          <a:prstGeom prst="roundRect">
            <a:avLst>
              <a:gd name="adj" fmla="val 5769"/>
            </a:avLst>
          </a:prstGeom>
          <a:solidFill>
            <a:srgbClr val="F8FAFC"/>
          </a:solidFill>
          <a:ln w="12700">
            <a:solidFill>
              <a:srgbClr val="E2E8F0"/>
            </a:solidFill>
            <a:prstDash val="solid"/>
          </a:ln>
          <a:effectLst>
            <a:outerShdw sx="100000" sy="100000" kx="0" ky="0" algn="bl" rotWithShape="0" blurRad="101600" dist="38100" dir="5400000">
              <a:srgbClr val="0F172A">
                <a:alpha val="10000"/>
              </a:srgbClr>
            </a:outerShdw>
          </a:effectLst>
        </p:spPr>
      </p:sp>
      <p:sp>
        <p:nvSpPr>
          <p:cNvPr id="9" name="Shape 7"/>
          <p:cNvSpPr/>
          <p:nvPr/>
        </p:nvSpPr>
        <p:spPr>
          <a:xfrm>
            <a:off x="804672" y="3749040"/>
            <a:ext cx="548640" cy="548640"/>
          </a:xfrm>
          <a:prstGeom prst="ellipse">
            <a:avLst/>
          </a:prstGeom>
          <a:solidFill>
            <a:srgbClr val="4F46E5"/>
          </a:solidFill>
          <a:ln/>
        </p:spPr>
      </p:sp>
      <p:sp>
        <p:nvSpPr>
          <p:cNvPr id="10" name="Text 8"/>
          <p:cNvSpPr/>
          <p:nvPr/>
        </p:nvSpPr>
        <p:spPr>
          <a:xfrm>
            <a:off x="804672" y="3749040"/>
            <a:ext cx="548640" cy="5486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35</a:t>
            </a:r>
            <a:endParaRPr lang="en-US" sz="1600" dirty="0"/>
          </a:p>
        </p:txBody>
      </p:sp>
      <p:sp>
        <p:nvSpPr>
          <p:cNvPr id="11" name="Text 9"/>
          <p:cNvSpPr/>
          <p:nvPr/>
        </p:nvSpPr>
        <p:spPr>
          <a:xfrm>
            <a:off x="1645920" y="3310128"/>
            <a:ext cx="9692640" cy="1426464"/>
          </a:xfrm>
          <a:prstGeom prst="rect">
            <a:avLst/>
          </a:prstGeom>
          <a:noFill/>
          <a:ln/>
        </p:spPr>
        <p:txBody>
          <a:bodyPr wrap="square" lIns="0" tIns="0" rIns="0" bIns="0" rtlCol="0" anchor="ctr"/>
          <a:lstStyle/>
          <a:p>
            <a:pPr indent="0" marL="0">
              <a:lnSpc>
                <a:spcPts val="1700"/>
              </a:lnSpc>
              <a:buNone/>
            </a:pPr>
            <a:r>
              <a:rPr lang="en-US" sz="1550" b="1" dirty="0">
                <a:solidFill>
                  <a:srgbClr val="0F172A"/>
                </a:solidFill>
                <a:latin typeface="Calibri" pitchFamily="34" charset="0"/>
                <a:ea typeface="Calibri" pitchFamily="34" charset="-122"/>
                <a:cs typeface="Calibri" pitchFamily="34" charset="-120"/>
              </a:rPr>
              <a:t>Take-home assignment   </a:t>
            </a:r>
            <a:pPr indent="0" marL="0">
              <a:lnSpc>
                <a:spcPts val="1700"/>
              </a:lnSpc>
              <a:buNone/>
            </a:pPr>
            <a:r>
              <a:rPr lang="en-US" sz="1300" dirty="0">
                <a:solidFill>
                  <a:srgbClr val="475569"/>
                </a:solidFill>
                <a:latin typeface="Calibri" pitchFamily="34" charset="0"/>
                <a:ea typeface="Calibri" pitchFamily="34" charset="-122"/>
                <a:cs typeface="Calibri" pitchFamily="34" charset="-120"/>
              </a:rPr>
              <a:t>— build and evaluate a prompt-based application with a short report.</a:t>
            </a:r>
            <a:endParaRPr lang="en-US" sz="1550" dirty="0"/>
          </a:p>
        </p:txBody>
      </p:sp>
      <p:sp>
        <p:nvSpPr>
          <p:cNvPr id="12" name="Shape 10"/>
          <p:cNvSpPr/>
          <p:nvPr/>
        </p:nvSpPr>
        <p:spPr>
          <a:xfrm>
            <a:off x="548640" y="4882896"/>
            <a:ext cx="11064240" cy="1426464"/>
          </a:xfrm>
          <a:prstGeom prst="roundRect">
            <a:avLst>
              <a:gd name="adj" fmla="val 5769"/>
            </a:avLst>
          </a:prstGeom>
          <a:solidFill>
            <a:srgbClr val="F8FAFC"/>
          </a:solidFill>
          <a:ln w="12700">
            <a:solidFill>
              <a:srgbClr val="E2E8F0"/>
            </a:solidFill>
            <a:prstDash val="solid"/>
          </a:ln>
          <a:effectLst>
            <a:outerShdw sx="100000" sy="100000" kx="0" ky="0" algn="bl" rotWithShape="0" blurRad="101600" dist="38100" dir="5400000">
              <a:srgbClr val="0F172A">
                <a:alpha val="10000"/>
              </a:srgbClr>
            </a:outerShdw>
          </a:effectLst>
        </p:spPr>
      </p:sp>
      <p:sp>
        <p:nvSpPr>
          <p:cNvPr id="13" name="Shape 11"/>
          <p:cNvSpPr/>
          <p:nvPr/>
        </p:nvSpPr>
        <p:spPr>
          <a:xfrm>
            <a:off x="804672" y="5321808"/>
            <a:ext cx="548640" cy="548640"/>
          </a:xfrm>
          <a:prstGeom prst="ellipse">
            <a:avLst/>
          </a:prstGeom>
          <a:solidFill>
            <a:srgbClr val="4F46E5"/>
          </a:solidFill>
          <a:ln/>
        </p:spPr>
      </p:sp>
      <p:sp>
        <p:nvSpPr>
          <p:cNvPr id="14" name="Text 12"/>
          <p:cNvSpPr/>
          <p:nvPr/>
        </p:nvSpPr>
        <p:spPr>
          <a:xfrm>
            <a:off x="804672" y="5321808"/>
            <a:ext cx="548640" cy="5486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25</a:t>
            </a:r>
            <a:endParaRPr lang="en-US" sz="1600" dirty="0"/>
          </a:p>
        </p:txBody>
      </p:sp>
      <p:sp>
        <p:nvSpPr>
          <p:cNvPr id="15" name="Text 13"/>
          <p:cNvSpPr/>
          <p:nvPr/>
        </p:nvSpPr>
        <p:spPr>
          <a:xfrm>
            <a:off x="1645920" y="4882896"/>
            <a:ext cx="9692640" cy="1426464"/>
          </a:xfrm>
          <a:prstGeom prst="rect">
            <a:avLst/>
          </a:prstGeom>
          <a:noFill/>
          <a:ln/>
        </p:spPr>
        <p:txBody>
          <a:bodyPr wrap="square" lIns="0" tIns="0" rIns="0" bIns="0" rtlCol="0" anchor="ctr"/>
          <a:lstStyle/>
          <a:p>
            <a:pPr indent="0" marL="0">
              <a:lnSpc>
                <a:spcPts val="1700"/>
              </a:lnSpc>
              <a:buNone/>
            </a:pPr>
            <a:r>
              <a:rPr lang="en-US" sz="1550" b="1" dirty="0">
                <a:solidFill>
                  <a:srgbClr val="0F172A"/>
                </a:solidFill>
                <a:latin typeface="Calibri" pitchFamily="34" charset="0"/>
                <a:ea typeface="Calibri" pitchFamily="34" charset="-122"/>
                <a:cs typeface="Calibri" pitchFamily="34" charset="-120"/>
              </a:rPr>
              <a:t>Capstone + viva   </a:t>
            </a:r>
            <a:pPr indent="0" marL="0">
              <a:lnSpc>
                <a:spcPts val="1700"/>
              </a:lnSpc>
              <a:buNone/>
            </a:pPr>
            <a:r>
              <a:rPr lang="en-US" sz="1300" dirty="0">
                <a:solidFill>
                  <a:srgbClr val="475569"/>
                </a:solidFill>
                <a:latin typeface="Calibri" pitchFamily="34" charset="0"/>
                <a:ea typeface="Calibri" pitchFamily="34" charset="-122"/>
                <a:cs typeface="Calibri" pitchFamily="34" charset="-120"/>
              </a:rPr>
              <a:t>— team demo of a prompt-based app plus a short individual viva.</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4F46E5"/>
                </a:solidFill>
                <a:latin typeface="Calibri" pitchFamily="34" charset="0"/>
                <a:ea typeface="Calibri" pitchFamily="34" charset="-122"/>
                <a:cs typeface="Calibri" pitchFamily="34" charset="-120"/>
              </a:rPr>
              <a:t>THE PAYOFF</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200" b="1" spc="-50" kern="0" dirty="0">
                <a:solidFill>
                  <a:srgbClr val="0F172A"/>
                </a:solidFill>
                <a:latin typeface="Calibri" pitchFamily="34" charset="0"/>
                <a:ea typeface="Calibri" pitchFamily="34" charset="-122"/>
                <a:cs typeface="Calibri" pitchFamily="34" charset="-120"/>
              </a:rPr>
              <a:t>What you'll walk away able to build</a:t>
            </a:r>
            <a:endParaRPr lang="en-US" sz="3200" dirty="0"/>
          </a:p>
        </p:txBody>
      </p:sp>
      <p:sp>
        <p:nvSpPr>
          <p:cNvPr id="4" name="Text 2"/>
          <p:cNvSpPr/>
          <p:nvPr/>
        </p:nvSpPr>
        <p:spPr>
          <a:xfrm>
            <a:off x="548640" y="1737360"/>
            <a:ext cx="6537960" cy="4572000"/>
          </a:xfrm>
          <a:prstGeom prst="rect">
            <a:avLst/>
          </a:prstGeom>
          <a:noFill/>
          <a:ln/>
        </p:spPr>
        <p:txBody>
          <a:bodyPr wrap="square" lIns="0" tIns="0" rIns="0" bIns="0" rtlCol="0" anchor="t"/>
          <a:lstStyle/>
          <a:p>
            <a:pPr indent="0" marL="0">
              <a:lnSpc>
                <a:spcPts val="1700"/>
              </a:lnSpc>
              <a:spcAft>
                <a:spcPts val="200"/>
              </a:spcAft>
              <a:buNone/>
            </a:pPr>
            <a:r>
              <a:rPr lang="en-US" sz="1550" b="1" dirty="0">
                <a:solidFill>
                  <a:srgbClr val="0F172A"/>
                </a:solidFill>
                <a:latin typeface="Calibri" pitchFamily="34" charset="0"/>
                <a:ea typeface="Calibri" pitchFamily="34" charset="-122"/>
                <a:cs typeface="Calibri" pitchFamily="34" charset="-120"/>
              </a:rPr>
              <a:t>Reliable prompts across models</a:t>
            </a:r>
            <a:endParaRPr lang="en-US" sz="1550" dirty="0"/>
          </a:p>
          <a:p>
            <a:pPr indent="0" marL="0">
              <a:lnSpc>
                <a:spcPts val="1700"/>
              </a:lnSpc>
              <a:spcAft>
                <a:spcPts val="1300"/>
              </a:spcAft>
              <a:buNone/>
            </a:pPr>
            <a:r>
              <a:rPr lang="en-US" sz="1300" dirty="0">
                <a:solidFill>
                  <a:srgbClr val="475569"/>
                </a:solidFill>
                <a:latin typeface="Calibri" pitchFamily="34" charset="0"/>
                <a:ea typeface="Calibri" pitchFamily="34" charset="-122"/>
                <a:cs typeface="Calibri" pitchFamily="34" charset="-120"/>
              </a:rPr>
              <a:t>Clear, structured prompts that behave the same way every time, on any model.</a:t>
            </a:r>
            <a:endParaRPr lang="en-US" sz="1550" dirty="0"/>
          </a:p>
          <a:p>
            <a:pPr indent="0" marL="0">
              <a:lnSpc>
                <a:spcPts val="1700"/>
              </a:lnSpc>
              <a:spcAft>
                <a:spcPts val="200"/>
              </a:spcAft>
              <a:buNone/>
            </a:pPr>
            <a:r>
              <a:rPr lang="en-US" sz="1550" b="1" dirty="0">
                <a:solidFill>
                  <a:srgbClr val="0F172A"/>
                </a:solidFill>
                <a:latin typeface="Calibri" pitchFamily="34" charset="0"/>
                <a:ea typeface="Calibri" pitchFamily="34" charset="-122"/>
                <a:cs typeface="Calibri" pitchFamily="34" charset="-120"/>
              </a:rPr>
              <a:t>A real technique toolkit</a:t>
            </a:r>
            <a:endParaRPr lang="en-US" sz="1550" dirty="0"/>
          </a:p>
          <a:p>
            <a:pPr indent="0" marL="0">
              <a:lnSpc>
                <a:spcPts val="1700"/>
              </a:lnSpc>
              <a:spcAft>
                <a:spcPts val="1300"/>
              </a:spcAft>
              <a:buNone/>
            </a:pPr>
            <a:r>
              <a:rPr lang="en-US" sz="1300" dirty="0">
                <a:solidFill>
                  <a:srgbClr val="475569"/>
                </a:solidFill>
                <a:latin typeface="Calibri" pitchFamily="34" charset="0"/>
                <a:ea typeface="Calibri" pitchFamily="34" charset="-122"/>
                <a:cs typeface="Calibri" pitchFamily="34" charset="-120"/>
              </a:rPr>
              <a:t>Few-shot, chain-of-thought, decomposition, patterns, tools and retrieval — and the judgement to pick the right one.</a:t>
            </a:r>
            <a:endParaRPr lang="en-US" sz="1550" dirty="0"/>
          </a:p>
          <a:p>
            <a:pPr indent="0" marL="0">
              <a:lnSpc>
                <a:spcPts val="1700"/>
              </a:lnSpc>
              <a:spcAft>
                <a:spcPts val="200"/>
              </a:spcAft>
              <a:buNone/>
            </a:pPr>
            <a:r>
              <a:rPr lang="en-US" sz="1550" b="1" dirty="0">
                <a:solidFill>
                  <a:srgbClr val="0F172A"/>
                </a:solidFill>
                <a:latin typeface="Calibri" pitchFamily="34" charset="0"/>
                <a:ea typeface="Calibri" pitchFamily="34" charset="-122"/>
                <a:cs typeface="Calibri" pitchFamily="34" charset="-120"/>
              </a:rPr>
              <a:t>Grounded, safe, tested systems</a:t>
            </a:r>
            <a:endParaRPr lang="en-US" sz="1550" dirty="0"/>
          </a:p>
          <a:p>
            <a:pPr indent="0" marL="0">
              <a:lnSpc>
                <a:spcPts val="1700"/>
              </a:lnSpc>
              <a:spcAft>
                <a:spcPts val="1300"/>
              </a:spcAft>
              <a:buNone/>
            </a:pPr>
            <a:r>
              <a:rPr lang="en-US" sz="1300" dirty="0">
                <a:solidFill>
                  <a:srgbClr val="475569"/>
                </a:solidFill>
                <a:latin typeface="Calibri" pitchFamily="34" charset="0"/>
                <a:ea typeface="Calibri" pitchFamily="34" charset="-122"/>
                <a:cs typeface="Calibri" pitchFamily="34" charset="-120"/>
              </a:rPr>
              <a:t>Prompts that cite their sources, resist attacks, and come with evidence that they work.</a:t>
            </a:r>
            <a:endParaRPr lang="en-US" sz="1550" dirty="0"/>
          </a:p>
        </p:txBody>
      </p:sp>
      <p:sp>
        <p:nvSpPr>
          <p:cNvPr id="5" name="Shape 3"/>
          <p:cNvSpPr/>
          <p:nvPr/>
        </p:nvSpPr>
        <p:spPr>
          <a:xfrm>
            <a:off x="7452360" y="1737360"/>
            <a:ext cx="4160520" cy="4572000"/>
          </a:xfrm>
          <a:prstGeom prst="roundRect">
            <a:avLst>
              <a:gd name="adj" fmla="val 2198"/>
            </a:avLst>
          </a:prstGeom>
          <a:solidFill>
            <a:srgbClr val="EEF0FF"/>
          </a:solidFill>
          <a:ln/>
          <a:effectLst>
            <a:outerShdw sx="100000" sy="100000" kx="0" ky="0" algn="bl" rotWithShape="0" blurRad="101600" dist="38100" dir="5400000">
              <a:srgbClr val="0F172A">
                <a:alpha val="10000"/>
              </a:srgbClr>
            </a:outerShdw>
          </a:effectLst>
        </p:spPr>
      </p:sp>
      <p:sp>
        <p:nvSpPr>
          <p:cNvPr id="6" name="Shape 4"/>
          <p:cNvSpPr/>
          <p:nvPr/>
        </p:nvSpPr>
        <p:spPr>
          <a:xfrm>
            <a:off x="7726680" y="2011680"/>
            <a:ext cx="420624" cy="420624"/>
          </a:xfrm>
          <a:prstGeom prst="ellipse">
            <a:avLst/>
          </a:prstGeom>
          <a:solidFill>
            <a:srgbClr val="4F46E5"/>
          </a:solidFill>
          <a:ln/>
        </p:spPr>
      </p:sp>
      <p:sp>
        <p:nvSpPr>
          <p:cNvPr id="7" name="Text 5"/>
          <p:cNvSpPr/>
          <p:nvPr/>
        </p:nvSpPr>
        <p:spPr>
          <a:xfrm>
            <a:off x="7726680" y="1993392"/>
            <a:ext cx="420624" cy="420624"/>
          </a:xfrm>
          <a:prstGeom prst="rect">
            <a:avLst/>
          </a:prstGeom>
          <a:noFill/>
          <a:ln/>
        </p:spPr>
        <p:txBody>
          <a:bodyPr wrap="square" rtlCol="0" anchor="ctr"/>
          <a:lstStyle/>
          <a:p>
            <a:pPr algn="ctr" indent="0" marL="0">
              <a:buNone/>
            </a:pPr>
            <a:r>
              <a:rPr lang="en-US" sz="1700" b="1" i="1" dirty="0">
                <a:solidFill>
                  <a:srgbClr val="FFFFFF"/>
                </a:solidFill>
                <a:latin typeface="Calibri" pitchFamily="34" charset="0"/>
                <a:ea typeface="Calibri" pitchFamily="34" charset="-122"/>
                <a:cs typeface="Calibri" pitchFamily="34" charset="-120"/>
              </a:rPr>
              <a:t>i</a:t>
            </a:r>
            <a:endParaRPr lang="en-US" sz="1700" dirty="0"/>
          </a:p>
        </p:txBody>
      </p:sp>
      <p:sp>
        <p:nvSpPr>
          <p:cNvPr id="8" name="Text 6"/>
          <p:cNvSpPr/>
          <p:nvPr/>
        </p:nvSpPr>
        <p:spPr>
          <a:xfrm>
            <a:off x="8275320" y="2011680"/>
            <a:ext cx="3108960" cy="420624"/>
          </a:xfrm>
          <a:prstGeom prst="rect">
            <a:avLst/>
          </a:prstGeom>
          <a:noFill/>
          <a:ln/>
        </p:spPr>
        <p:txBody>
          <a:bodyPr wrap="square" lIns="0" tIns="0" rIns="0" bIns="0" rtlCol="0" anchor="ctr"/>
          <a:lstStyle/>
          <a:p>
            <a:pPr indent="0" marL="0">
              <a:buNone/>
            </a:pPr>
            <a:r>
              <a:rPr lang="en-US" sz="1200" b="1" spc="150" kern="0" dirty="0">
                <a:solidFill>
                  <a:srgbClr val="4338CA"/>
                </a:solidFill>
                <a:latin typeface="Calibri" pitchFamily="34" charset="0"/>
                <a:ea typeface="Calibri" pitchFamily="34" charset="-122"/>
                <a:cs typeface="Calibri" pitchFamily="34" charset="-120"/>
              </a:rPr>
              <a:t>SAY THIS TO YOURSELF</a:t>
            </a:r>
            <a:endParaRPr lang="en-US" sz="1200" dirty="0"/>
          </a:p>
        </p:txBody>
      </p:sp>
      <p:sp>
        <p:nvSpPr>
          <p:cNvPr id="9" name="Text 7"/>
          <p:cNvSpPr/>
          <p:nvPr/>
        </p:nvSpPr>
        <p:spPr>
          <a:xfrm>
            <a:off x="7744968" y="2633472"/>
            <a:ext cx="3593592" cy="3520440"/>
          </a:xfrm>
          <a:prstGeom prst="rect">
            <a:avLst/>
          </a:prstGeom>
          <a:noFill/>
          <a:ln/>
        </p:spPr>
        <p:txBody>
          <a:bodyPr wrap="square" lIns="0" tIns="0" rIns="0" bIns="0" rtlCol="0" anchor="t"/>
          <a:lstStyle/>
          <a:p>
            <a:pPr indent="0" marL="0">
              <a:lnSpc>
                <a:spcPts val="1800"/>
              </a:lnSpc>
              <a:buNone/>
            </a:pPr>
            <a:r>
              <a:rPr lang="en-US" sz="1300" dirty="0">
                <a:solidFill>
                  <a:srgbClr val="0F172A"/>
                </a:solidFill>
                <a:latin typeface="Calibri" pitchFamily="34" charset="0"/>
                <a:ea typeface="Calibri" pitchFamily="34" charset="-122"/>
                <a:cs typeface="Calibri" pitchFamily="34" charset="-120"/>
              </a:rPr>
              <a:t>By Sunday evening, you should be able to sit down with any AI model, any task, and get a dependable result — and prove it. That's the difference between using AI and engineering with it.</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1828800" y="-1828800"/>
            <a:ext cx="5029200" cy="5029200"/>
          </a:xfrm>
          <a:prstGeom prst="ellipse">
            <a:avLst/>
          </a:prstGeom>
          <a:solidFill>
            <a:srgbClr val="4F46E5">
              <a:alpha val="18000"/>
            </a:srgbClr>
          </a:solidFill>
          <a:ln/>
        </p:spPr>
      </p:sp>
      <p:sp>
        <p:nvSpPr>
          <p:cNvPr id="3" name="Shape 1"/>
          <p:cNvSpPr/>
          <p:nvPr/>
        </p:nvSpPr>
        <p:spPr>
          <a:xfrm>
            <a:off x="548640" y="640080"/>
            <a:ext cx="548640" cy="548640"/>
          </a:xfrm>
          <a:prstGeom prst="roundRect">
            <a:avLst>
              <a:gd name="adj" fmla="val 22000"/>
            </a:avLst>
          </a:prstGeom>
          <a:solidFill>
            <a:srgbClr val="4F46E5"/>
          </a:solidFill>
          <a:ln/>
        </p:spPr>
      </p:sp>
      <p:sp>
        <p:nvSpPr>
          <p:cNvPr id="4" name="Text 2"/>
          <p:cNvSpPr/>
          <p:nvPr/>
        </p:nvSpPr>
        <p:spPr>
          <a:xfrm>
            <a:off x="548640" y="640080"/>
            <a:ext cx="548640" cy="548640"/>
          </a:xfrm>
          <a:prstGeom prst="rect">
            <a:avLst/>
          </a:prstGeom>
          <a:noFill/>
          <a:ln/>
        </p:spPr>
        <p:txBody>
          <a:bodyPr wrap="square" rtlCol="0" anchor="ctr"/>
          <a:lstStyle/>
          <a:p>
            <a:pPr algn="ctr" indent="0" marL="0">
              <a:buNone/>
            </a:pPr>
            <a:r>
              <a:rPr lang="en-US" sz="2280" b="1" dirty="0">
                <a:solidFill>
                  <a:srgbClr val="FFFFFF"/>
                </a:solidFill>
                <a:latin typeface="Calibri" pitchFamily="34" charset="0"/>
                <a:ea typeface="Calibri" pitchFamily="34" charset="-122"/>
                <a:cs typeface="Calibri" pitchFamily="34" charset="-120"/>
              </a:rPr>
              <a:t>VL</a:t>
            </a:r>
            <a:endParaRPr lang="en-US" sz="2280" dirty="0"/>
          </a:p>
        </p:txBody>
      </p:sp>
      <p:sp>
        <p:nvSpPr>
          <p:cNvPr id="5" name="Text 3"/>
          <p:cNvSpPr/>
          <p:nvPr/>
        </p:nvSpPr>
        <p:spPr>
          <a:xfrm>
            <a:off x="548640" y="1600200"/>
            <a:ext cx="10058400" cy="274320"/>
          </a:xfrm>
          <a:prstGeom prst="rect">
            <a:avLst/>
          </a:prstGeom>
          <a:noFill/>
          <a:ln/>
        </p:spPr>
        <p:txBody>
          <a:bodyPr wrap="square" lIns="0" tIns="0" rIns="0" bIns="0" rtlCol="0" anchor="ctr"/>
          <a:lstStyle/>
          <a:p>
            <a:pPr indent="0" marL="0">
              <a:buNone/>
            </a:pPr>
            <a:r>
              <a:rPr lang="en-US" sz="1200" b="1" spc="250" kern="0" dirty="0">
                <a:solidFill>
                  <a:srgbClr val="22D3EE"/>
                </a:solidFill>
                <a:latin typeface="Calibri" pitchFamily="34" charset="0"/>
                <a:ea typeface="Calibri" pitchFamily="34" charset="-122"/>
                <a:cs typeface="Calibri" pitchFamily="34" charset="-120"/>
              </a:rPr>
              <a:t>RECAP</a:t>
            </a:r>
            <a:endParaRPr lang="en-US" sz="1200" dirty="0"/>
          </a:p>
        </p:txBody>
      </p:sp>
      <p:sp>
        <p:nvSpPr>
          <p:cNvPr id="6" name="Text 4"/>
          <p:cNvSpPr/>
          <p:nvPr/>
        </p:nvSpPr>
        <p:spPr>
          <a:xfrm>
            <a:off x="548640" y="1874520"/>
            <a:ext cx="10607040" cy="822960"/>
          </a:xfrm>
          <a:prstGeom prst="rect">
            <a:avLst/>
          </a:prstGeom>
          <a:noFill/>
          <a:ln/>
        </p:spPr>
        <p:txBody>
          <a:bodyPr wrap="square" lIns="0" tIns="0" rIns="0" bIns="0" rtlCol="0" anchor="ctr"/>
          <a:lstStyle/>
          <a:p>
            <a:pPr indent="0" marL="0">
              <a:buNone/>
            </a:pPr>
            <a:r>
              <a:rPr lang="en-US" sz="3000" b="1" spc="-50" kern="0" dirty="0">
                <a:solidFill>
                  <a:srgbClr val="FFFFFF"/>
                </a:solidFill>
                <a:latin typeface="Calibri" pitchFamily="34" charset="0"/>
                <a:ea typeface="Calibri" pitchFamily="34" charset="-122"/>
                <a:cs typeface="Calibri" pitchFamily="34" charset="-120"/>
              </a:rPr>
              <a:t>Before we start — the promise</a:t>
            </a:r>
            <a:endParaRPr lang="en-US" sz="3000" dirty="0"/>
          </a:p>
        </p:txBody>
      </p:sp>
      <p:sp>
        <p:nvSpPr>
          <p:cNvPr id="7" name="Text 5"/>
          <p:cNvSpPr/>
          <p:nvPr/>
        </p:nvSpPr>
        <p:spPr>
          <a:xfrm>
            <a:off x="548640" y="2834640"/>
            <a:ext cx="10607040" cy="3383280"/>
          </a:xfrm>
          <a:prstGeom prst="rect">
            <a:avLst/>
          </a:prstGeom>
          <a:noFill/>
          <a:ln/>
        </p:spPr>
        <p:txBody>
          <a:bodyPr wrap="square" rtlCol="0" anchor="t"/>
          <a:lstStyle/>
          <a:p>
            <a:pPr marL="203200" indent="-203200">
              <a:lnSpc>
                <a:spcPts val="2100"/>
              </a:lnSpc>
              <a:spcAft>
                <a:spcPts val="1000"/>
              </a:spcAft>
              <a:buSzPct val="100000"/>
              <a:buChar char="•"/>
            </a:pPr>
            <a:r>
              <a:rPr lang="en-US" sz="1600" dirty="0">
                <a:solidFill>
                  <a:srgbClr val="E2E8F0"/>
                </a:solidFill>
                <a:latin typeface="Calibri" pitchFamily="34" charset="0"/>
                <a:ea typeface="Calibri" pitchFamily="34" charset="-122"/>
                <a:cs typeface="Calibri" pitchFamily="34" charset="-120"/>
              </a:rPr>
              <a:t>Prompting becomes a repeatable engineering skill, not trial-and-error</a:t>
            </a:r>
            <a:endParaRPr lang="en-US" sz="1600" dirty="0"/>
          </a:p>
          <a:p>
            <a:pPr marL="203200" indent="-203200">
              <a:lnSpc>
                <a:spcPts val="2100"/>
              </a:lnSpc>
              <a:spcAft>
                <a:spcPts val="1000"/>
              </a:spcAft>
              <a:buSzPct val="100000"/>
              <a:buChar char="•"/>
            </a:pPr>
            <a:r>
              <a:rPr lang="en-US" sz="1600" dirty="0">
                <a:solidFill>
                  <a:srgbClr val="E2E8F0"/>
                </a:solidFill>
                <a:latin typeface="Calibri" pitchFamily="34" charset="0"/>
                <a:ea typeface="Calibri" pitchFamily="34" charset="-122"/>
                <a:cs typeface="Calibri" pitchFamily="34" charset="-120"/>
              </a:rPr>
              <a:t>Two outcomes: design prompts (CO1), and prove they work (CO2)</a:t>
            </a:r>
            <a:endParaRPr lang="en-US" sz="1600" dirty="0"/>
          </a:p>
          <a:p>
            <a:pPr marL="203200" indent="-203200">
              <a:lnSpc>
                <a:spcPts val="2100"/>
              </a:lnSpc>
              <a:spcAft>
                <a:spcPts val="1000"/>
              </a:spcAft>
              <a:buSzPct val="100000"/>
              <a:buChar char="•"/>
            </a:pPr>
            <a:r>
              <a:rPr lang="en-US" sz="1600" dirty="0">
                <a:solidFill>
                  <a:srgbClr val="E2E8F0"/>
                </a:solidFill>
                <a:latin typeface="Calibri" pitchFamily="34" charset="0"/>
                <a:ea typeface="Calibri" pitchFamily="34" charset="-122"/>
                <a:cs typeface="Calibri" pitchFamily="34" charset="-120"/>
              </a:rPr>
              <a:t>We learn by doing — 60% hands-on, nine labs, one capstone</a:t>
            </a:r>
            <a:endParaRPr lang="en-US" sz="1600" dirty="0"/>
          </a:p>
          <a:p>
            <a:pPr marL="203200" indent="-203200">
              <a:lnSpc>
                <a:spcPts val="2100"/>
              </a:lnSpc>
              <a:spcAft>
                <a:spcPts val="1000"/>
              </a:spcAft>
              <a:buSzPct val="100000"/>
              <a:buChar char="•"/>
            </a:pPr>
            <a:r>
              <a:rPr lang="en-US" sz="1600" dirty="0">
                <a:solidFill>
                  <a:srgbClr val="E2E8F0"/>
                </a:solidFill>
                <a:latin typeface="Calibri" pitchFamily="34" charset="0"/>
                <a:ea typeface="Calibri" pitchFamily="34" charset="-122"/>
                <a:cs typeface="Calibri" pitchFamily="34" charset="-120"/>
              </a:rPr>
              <a:t>Free tools throughout — bring a laptop, install Ollama</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2026-07-16T17:51:48Z</dcterms:created>
  <dcterms:modified xsi:type="dcterms:W3CDTF">2026-07-16T17:51:48Z</dcterms:modified>
</cp:coreProperties>
</file>