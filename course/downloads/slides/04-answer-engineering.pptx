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4 — Answer Engineering. This is where prompting meets real software, and it's probably the most practical module in the course. Here's the problem we're solving: a brilliant answer buried inside a paragraph of friendly chit-chat is useless to a program. We need output our code can actually consume. There are three levers for that — the shape of the answer, the space of allowed answers, and how we extract the answer cleanly. This module underpins your assignment and your capstone, because almost everything real you build will need structured output. We'll finish with Lab 2.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your objectives. You'll control the answer's shape — a label, a list, a table, or strict JSON. You'll constrain the answer space, limiting outputs to a fixed valid set. You'll extract the answer reliably, so parsing isn't a guessing game. And you'll validate and repair — catch malformed output and fix it automatically. That fourth one is what makes a prompt production-grade: you assume it will occasionally misformat, and you handle it gracefully. After this module, 'the model sometimes returns broken JSON' stops being a showstopper and becomes a case you simply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levers, plus validation. Shape is the format of the answer — a single label, a list, a table, a JSON object with named fields. Space is the set of allowed answers — for instance, 'reply with only one of: yes, no, or unclear.' Extraction is how you get the answer out cleanly — you can constrain it, fence it, or, as a last resort, regex it. And validation closes the loop — you parse the output, check it against a schema, and ask the model to repair it if it's broken. Here's the mindset for the whole module: decide what the answer should look like before you ask for it. Most reliability problems are really just unspecified-shape problems in disguise. Say that with me — decide the shape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shape first. The guiding question is always: what is going to consume this output? Match the shape to the consumer. A router that sends tickets to teams needs one label. A form-filling system needs JSON. A report needs a table. Don't ask for a paragraph of prose that you'll then have to fight to parse. Second — give the exact schema. Don't just say 'return JSON'; show the keys and the types you expect, and give an example. Any ambiguity in your spec becomes ambiguity in the output. Third, and you will hit this in the lab in about twenty minutes — kill the preamble. Models love to say 'Sure! Here's your JSON:' and then wrap it in a code fence. That friendly wrapper breaks json dot loads instantly. So the fixes are concrete: explicitly forbid any extra text, set the temperature low, and — if you're on Ollama — use format equals json, which forces the output to be structurally valid JSON. That one tip alone will save you hours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concrete JSON example — extracting fields from an invoice. Notice three things that make this reliable. One, I give an explicit schema with types — name is a string, amount is a number. Two, I say 'reply with ONLY JSON, no other text.' Three, I specify the date format as year-month-day, so I don't get 'first of August' back. The output on the right drops straight into json dot loads. In real code you'd pair this with a schema check as well. This is literally what you'll build in Lab 2. Quick question for you — what should happen if an invoice has no due date? Right — you decide in advance: return null, or set a 'missing' flag. You specify it; you never leave it to the model's imagination.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answer space — this is about constraining what can come back, not just its format. Here I'm asking whether a ticket is urgent, and I give the model exactly three allowed answers — URGENT, NORMAL, or LOW — and I forbid any explanation. Look how clean the output is: one word. And the benefits cascade. Downstream, your if-else logic is trivial because you know the exact set of possible values. And evaluation becomes exact-match instead of fuzzy judgement — which matters enormously for CO2. One pro tip: add a default rule for the awkward case, like 'if it's unclear, answer NORMAL.' That stops the model from inventing a fourth category when it's unsure. Small idea, huge reliability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the extraction strategy explicit, because there's a clear hierarchy here and I want you to climb as high up it as you can. The most reliable approach is to constrain generation so invalid output is literally impossible — that's Ollama's format equals json, or a closed answer space like we just saw. The next best is sentinels — you ask the model to wrap its answer in tags, like open-answer, close-answer, and then you slice out whatever's between them. That's robust even if the model adds chatter around it. And the least reliable is running a regex over free-form prose — it's brittle, and it breaks the very first day the model rephrases its answer. So the rule is: climb as high up this ladder as your tooling allows, and treat regex as a fallback, never as your plan. The right column is the trap — 'hoping the model just formats it right' is not an engineering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production mindset — assume it will sometimes break. Even a great prompt misformats occasionally, so you wrap the parsing in a check. Step one: run json dot loads, then verify the required keys and types against your schema. Never trust the raw string blindly. Step two: if parsing fails, repair it — send the broken output right back to the model and say 'that wasn't valid JSON, return only valid JSON matching this schema.' Step three, and this is important: bound your retries. Try the repair once, maybe twice, then fail loudly with an error. An infinite repair loop isn't a safety net, it's a bug. Now here's the insight most students miss, so listen closely: format equals json guarantees valid syntax, but not correct content. The model can hand you the wrong number in absolutely perfect JSON. Syntactic validity and semantic correctness are two different problems — and the second one is why Module 6, evaluation, exists. Keep those two ideas separate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Lab 2 — this is the most 'software' lab in the course, and it's a favourite. Here's what you'll do. Point an extraction prompt at some messy text — I'll give you a few invoices, or you can use a support message — and get strict JSON out. Then parse and validate that JSON in Python, checking the keys and types. Then — deliberately break it, feed the model something that makes it misformat, and watch your repair step recover it. Use Ollama's format equals json to make your life easier. You've got about fifty-five minutes. 'Done' means a script that turns messy text into validated JSON and handles at least one malformed case gracefully. Treat this as a direct rehearsal for your take-home assignment, because you'll be doing exactly this kind of thing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Module 4. Decide the answer's shape before you even write the prompt. Constrain the answer space to a valid set, and give it a default for the unclear case. Extract by constraining or fencing — regex is the last resort, not the first. And always validate, repair on failure, with bounded retries. I really want to stress how much this module shows up later: tool calls, RAG answers, and evaluation harnesses all depend on well-shaped output. Quick check — give me the extraction hierarchy, top to bottom. Right: constrain, then sentinel, then regex. And why isn't format equals json enough on its own? Exactly — it guarantees the shape, not the correctness. Great. Let's take a short break, and then we'll move to the Patterns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4F46E5">
              <a:alpha val="22000"/>
            </a:srgbClr>
          </a:solidFill>
          <a:ln/>
        </p:spPr>
      </p:sp>
      <p:sp>
        <p:nvSpPr>
          <p:cNvPr id="3" name="Shape 1"/>
          <p:cNvSpPr/>
          <p:nvPr/>
        </p:nvSpPr>
        <p:spPr>
          <a:xfrm>
            <a:off x="-2194560" y="4754880"/>
            <a:ext cx="5029200" cy="5029200"/>
          </a:xfrm>
          <a:prstGeom prst="ellipse">
            <a:avLst/>
          </a:prstGeom>
          <a:solidFill>
            <a:srgbClr val="22D3EE">
              <a:alpha val="12000"/>
            </a:srgbClr>
          </a:solidFill>
          <a:ln/>
        </p:spPr>
      </p:sp>
      <p:sp>
        <p:nvSpPr>
          <p:cNvPr id="4" name="Shape 2"/>
          <p:cNvSpPr/>
          <p:nvPr/>
        </p:nvSpPr>
        <p:spPr>
          <a:xfrm>
            <a:off x="548640" y="640080"/>
            <a:ext cx="658368" cy="658368"/>
          </a:xfrm>
          <a:prstGeom prst="roundRect">
            <a:avLst>
              <a:gd name="adj" fmla="val 22000"/>
            </a:avLst>
          </a:prstGeom>
          <a:solidFill>
            <a:srgbClr val="4F46E5"/>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33172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MODULE 4</a:t>
            </a:r>
            <a:endParaRPr lang="en-US" sz="1200" dirty="0"/>
          </a:p>
        </p:txBody>
      </p:sp>
      <p:sp>
        <p:nvSpPr>
          <p:cNvPr id="7" name="Text 5"/>
          <p:cNvSpPr/>
          <p:nvPr/>
        </p:nvSpPr>
        <p:spPr>
          <a:xfrm>
            <a:off x="548640" y="2606040"/>
            <a:ext cx="10881360" cy="1737360"/>
          </a:xfrm>
          <a:prstGeom prst="rect">
            <a:avLst/>
          </a:prstGeom>
          <a:noFill/>
          <a:ln/>
        </p:spPr>
        <p:txBody>
          <a:bodyPr wrap="square" rtlCol="0" anchor="ctr"/>
          <a:lstStyle/>
          <a:p>
            <a:pPr indent="0" marL="0">
              <a:lnSpc>
                <a:spcPts val="4800"/>
              </a:lnSpc>
              <a:buNone/>
            </a:pPr>
            <a:r>
              <a:rPr lang="en-US" sz="4600" b="1" spc="-50" kern="0" dirty="0">
                <a:solidFill>
                  <a:srgbClr val="FFFFFF"/>
                </a:solidFill>
                <a:latin typeface="Calibri" pitchFamily="34" charset="0"/>
                <a:ea typeface="Calibri" pitchFamily="34" charset="-122"/>
                <a:cs typeface="Calibri" pitchFamily="34" charset="-120"/>
              </a:rPr>
              <a:t>Answer Engineering</a:t>
            </a:r>
            <a:endParaRPr lang="en-US" sz="4600" dirty="0"/>
          </a:p>
        </p:txBody>
      </p:sp>
      <p:sp>
        <p:nvSpPr>
          <p:cNvPr id="8" name="Text 6"/>
          <p:cNvSpPr/>
          <p:nvPr/>
        </p:nvSpPr>
        <p:spPr>
          <a:xfrm>
            <a:off x="548640" y="4434840"/>
            <a:ext cx="9875520" cy="1097280"/>
          </a:xfrm>
          <a:prstGeom prst="rect">
            <a:avLst/>
          </a:prstGeom>
          <a:noFill/>
          <a:ln/>
        </p:spPr>
        <p:txBody>
          <a:bodyPr wrap="square" rtlCol="0" anchor="ctr"/>
          <a:lstStyle/>
          <a:p>
            <a:pPr indent="0" marL="0">
              <a:lnSpc>
                <a:spcPts val="2500"/>
              </a:lnSpc>
              <a:buNone/>
            </a:pPr>
            <a:r>
              <a:rPr lang="en-US" sz="1800" dirty="0">
                <a:solidFill>
                  <a:srgbClr val="CBD5E1"/>
                </a:solidFill>
                <a:latin typeface="Calibri" pitchFamily="34" charset="0"/>
                <a:ea typeface="Calibri" pitchFamily="34" charset="-122"/>
                <a:cs typeface="Calibri" pitchFamily="34" charset="-120"/>
              </a:rPr>
              <a:t>Getting answers your program can actually use — the right shape, the right options, and a reliable way to extract them.</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Venkat Loganathan  ·  Prompt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MODULE 4 · OBJECTIVES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By the end of this module</a:t>
            </a:r>
            <a:endParaRPr lang="en-US" sz="3200" dirty="0"/>
          </a:p>
        </p:txBody>
      </p:sp>
      <p:sp>
        <p:nvSpPr>
          <p:cNvPr id="4" name="Shape 2"/>
          <p:cNvSpPr/>
          <p:nvPr/>
        </p:nvSpPr>
        <p:spPr>
          <a:xfrm>
            <a:off x="548640" y="1737360"/>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04672" y="1979676"/>
            <a:ext cx="548640" cy="548640"/>
          </a:xfrm>
          <a:prstGeom prst="ellipse">
            <a:avLst/>
          </a:prstGeom>
          <a:solidFill>
            <a:srgbClr val="4F46E5"/>
          </a:solidFill>
          <a:ln/>
        </p:spPr>
      </p:sp>
      <p:sp>
        <p:nvSpPr>
          <p:cNvPr id="6" name="Text 4"/>
          <p:cNvSpPr/>
          <p:nvPr/>
        </p:nvSpPr>
        <p:spPr>
          <a:xfrm>
            <a:off x="804672" y="1979676"/>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45920" y="1737360"/>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Control answer shape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label, list, table, or strict JSON.</a:t>
            </a:r>
            <a:endParaRPr lang="en-US" sz="1550" dirty="0"/>
          </a:p>
        </p:txBody>
      </p:sp>
      <p:sp>
        <p:nvSpPr>
          <p:cNvPr id="8" name="Shape 6"/>
          <p:cNvSpPr/>
          <p:nvPr/>
        </p:nvSpPr>
        <p:spPr>
          <a:xfrm>
            <a:off x="548640" y="2916936"/>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804672" y="3159252"/>
            <a:ext cx="548640" cy="548640"/>
          </a:xfrm>
          <a:prstGeom prst="ellipse">
            <a:avLst/>
          </a:prstGeom>
          <a:solidFill>
            <a:srgbClr val="4F46E5"/>
          </a:solidFill>
          <a:ln/>
        </p:spPr>
      </p:sp>
      <p:sp>
        <p:nvSpPr>
          <p:cNvPr id="10" name="Text 8"/>
          <p:cNvSpPr/>
          <p:nvPr/>
        </p:nvSpPr>
        <p:spPr>
          <a:xfrm>
            <a:off x="804672" y="3159252"/>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645920" y="2916936"/>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Constrain the answer space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limit outputs to a fixed valid set.</a:t>
            </a:r>
            <a:endParaRPr lang="en-US" sz="1550" dirty="0"/>
          </a:p>
        </p:txBody>
      </p:sp>
      <p:sp>
        <p:nvSpPr>
          <p:cNvPr id="12" name="Shape 10"/>
          <p:cNvSpPr/>
          <p:nvPr/>
        </p:nvSpPr>
        <p:spPr>
          <a:xfrm>
            <a:off x="548640" y="4096512"/>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3" name="Shape 11"/>
          <p:cNvSpPr/>
          <p:nvPr/>
        </p:nvSpPr>
        <p:spPr>
          <a:xfrm>
            <a:off x="804672" y="4338828"/>
            <a:ext cx="548640" cy="548640"/>
          </a:xfrm>
          <a:prstGeom prst="ellipse">
            <a:avLst/>
          </a:prstGeom>
          <a:solidFill>
            <a:srgbClr val="4F46E5"/>
          </a:solidFill>
          <a:ln/>
        </p:spPr>
      </p:sp>
      <p:sp>
        <p:nvSpPr>
          <p:cNvPr id="14" name="Text 12"/>
          <p:cNvSpPr/>
          <p:nvPr/>
        </p:nvSpPr>
        <p:spPr>
          <a:xfrm>
            <a:off x="804672" y="433882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645920" y="4096512"/>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Extract reliably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parse the answer without guesswork.</a:t>
            </a:r>
            <a:endParaRPr lang="en-US" sz="1550" dirty="0"/>
          </a:p>
        </p:txBody>
      </p:sp>
      <p:sp>
        <p:nvSpPr>
          <p:cNvPr id="16" name="Shape 14"/>
          <p:cNvSpPr/>
          <p:nvPr/>
        </p:nvSpPr>
        <p:spPr>
          <a:xfrm>
            <a:off x="548640" y="5276088"/>
            <a:ext cx="11064240" cy="1033272"/>
          </a:xfrm>
          <a:prstGeom prst="roundRect">
            <a:avLst>
              <a:gd name="adj" fmla="val 7965"/>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7" name="Shape 15"/>
          <p:cNvSpPr/>
          <p:nvPr/>
        </p:nvSpPr>
        <p:spPr>
          <a:xfrm>
            <a:off x="804672" y="5518404"/>
            <a:ext cx="548640" cy="548640"/>
          </a:xfrm>
          <a:prstGeom prst="ellipse">
            <a:avLst/>
          </a:prstGeom>
          <a:solidFill>
            <a:srgbClr val="4F46E5"/>
          </a:solidFill>
          <a:ln/>
        </p:spPr>
      </p:sp>
      <p:sp>
        <p:nvSpPr>
          <p:cNvPr id="18" name="Text 16"/>
          <p:cNvSpPr/>
          <p:nvPr/>
        </p:nvSpPr>
        <p:spPr>
          <a:xfrm>
            <a:off x="804672" y="5518404"/>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645920" y="5276088"/>
            <a:ext cx="9692640" cy="1033272"/>
          </a:xfrm>
          <a:prstGeom prst="rect">
            <a:avLst/>
          </a:prstGeom>
          <a:noFill/>
          <a:ln/>
        </p:spPr>
        <p:txBody>
          <a:bodyPr wrap="square" lIns="0" tIns="0" rIns="0" bIns="0" rtlCol="0" anchor="ctr"/>
          <a:lstStyle/>
          <a:p>
            <a:pPr indent="0" marL="0">
              <a:lnSpc>
                <a:spcPts val="1700"/>
              </a:lnSpc>
              <a:buNone/>
            </a:pPr>
            <a:r>
              <a:rPr lang="en-US" sz="1550" b="1" dirty="0">
                <a:solidFill>
                  <a:srgbClr val="0F172A"/>
                </a:solidFill>
                <a:latin typeface="Calibri" pitchFamily="34" charset="0"/>
                <a:ea typeface="Calibri" pitchFamily="34" charset="-122"/>
                <a:cs typeface="Calibri" pitchFamily="34" charset="-120"/>
              </a:rPr>
              <a:t>Validate &amp; repair   </a:t>
            </a:r>
            <a:pPr indent="0" marL="0">
              <a:lnSpc>
                <a:spcPts val="1700"/>
              </a:lnSpc>
              <a:buNone/>
            </a:pPr>
            <a:r>
              <a:rPr lang="en-US" sz="1300" dirty="0">
                <a:solidFill>
                  <a:srgbClr val="475569"/>
                </a:solidFill>
                <a:latin typeface="Calibri" pitchFamily="34" charset="0"/>
                <a:ea typeface="Calibri" pitchFamily="34" charset="-122"/>
                <a:cs typeface="Calibri" pitchFamily="34" charset="-120"/>
              </a:rPr>
              <a:t>— catch malformed output and fix it automatically.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THREE LEVERS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Shape · Space · Extraction</a:t>
            </a:r>
            <a:endParaRPr lang="en-US" sz="32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22960" y="1993392"/>
            <a:ext cx="365760" cy="365760"/>
          </a:xfrm>
          <a:prstGeom prst="ellipse">
            <a:avLst/>
          </a:prstGeom>
          <a:solidFill>
            <a:srgbClr val="EEF0FF"/>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Shape</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The format of the answer: a single label, a list, a table, or a JSON object with named fields.</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0" name="Shape 8"/>
          <p:cNvSpPr/>
          <p:nvPr/>
        </p:nvSpPr>
        <p:spPr>
          <a:xfrm>
            <a:off x="6492240" y="1993392"/>
            <a:ext cx="365760" cy="365760"/>
          </a:xfrm>
          <a:prstGeom prst="ellipse">
            <a:avLst/>
          </a:prstGeom>
          <a:solidFill>
            <a:srgbClr val="EEF0FF"/>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Space</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The set of allowed answers — 'reply with only one of: yes / no / unclear'.</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15" name="Shape 13"/>
          <p:cNvSpPr/>
          <p:nvPr/>
        </p:nvSpPr>
        <p:spPr>
          <a:xfrm>
            <a:off x="822960" y="4407408"/>
            <a:ext cx="365760" cy="365760"/>
          </a:xfrm>
          <a:prstGeom prst="ellipse">
            <a:avLst/>
          </a:prstGeom>
          <a:solidFill>
            <a:srgbClr val="EEF0FF"/>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Extraction</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How you pull the answer out cleanly: constrain it, fence it, or (last resort) regex it.</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20" name="Shape 18"/>
          <p:cNvSpPr/>
          <p:nvPr/>
        </p:nvSpPr>
        <p:spPr>
          <a:xfrm>
            <a:off x="6492240" y="4407408"/>
            <a:ext cx="365760" cy="365760"/>
          </a:xfrm>
          <a:prstGeom prst="ellipse">
            <a:avLst/>
          </a:prstGeom>
          <a:solidFill>
            <a:srgbClr val="EEF0FF"/>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4F46E5"/>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Validate</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475569"/>
                </a:solidFill>
                <a:latin typeface="Calibri" pitchFamily="34" charset="0"/>
                <a:ea typeface="Calibri" pitchFamily="34" charset="-122"/>
                <a:cs typeface="Calibri" pitchFamily="34" charset="-120"/>
              </a:rPr>
              <a:t>Parse and check against a schema; ask the model to repair if it breaks.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SHAPE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Format the answer for a machine, not a human</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Pick the minimal shape</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A router needs one label; a form needs JSON; a report needs a table. Don't ask for prose you'll have to parse.</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Give the exact schema</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Show the JSON keys and types you expect. Ambiguity in the spec becomes ambiguity in the output.</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Kill the preamble</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Models love to say 'Sure! Here's your JSON:'. Say 'Reply with ONLY the JSON, no other text.'</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WATCH OUT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The #1 JSON failure is a friendly preamble or a code fence wrapping the object. Fix: explicitly forbid extra text, set temperature low, and in Ollama use format=json to force valid JSON structurally.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SHAPE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Force strict, parseable JSON</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Extract the fields. Reply</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with ONLY JSON matching:</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{"name": str,</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 "amount": number,</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 "due": "YYYY-MM-DD"}</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No other text.</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Invoice: &lt;text&gt;</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"name": "Acme Ltd",</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"amount": 1450.00,</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  "due": "2026-08-01"</a:t>
            </a:r>
            <a:endParaRPr lang="en-US" sz="1250" dirty="0"/>
          </a:p>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Give the schema, demand only JSON, keep temperature low — now downstream code parses it directly.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SPACE</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Close the set of valid answers</a:t>
            </a:r>
            <a:endParaRPr lang="en-US" sz="3200" dirty="0"/>
          </a:p>
        </p:txBody>
      </p:sp>
      <p:sp>
        <p:nvSpPr>
          <p:cNvPr id="4" name="Shape 2"/>
          <p:cNvSpPr/>
          <p:nvPr/>
        </p:nvSpPr>
        <p:spPr>
          <a:xfrm>
            <a:off x="548640" y="1737360"/>
            <a:ext cx="5349240" cy="4297680"/>
          </a:xfrm>
          <a:prstGeom prst="roundRect">
            <a:avLst>
              <a:gd name="adj" fmla="val 2128"/>
            </a:avLst>
          </a:prstGeom>
          <a:solidFill>
            <a:srgbClr val="0F172A"/>
          </a:solidFill>
          <a:ln/>
          <a:effectLst>
            <a:outerShdw sx="100000" sy="100000" kx="0" ky="0" algn="bl" rotWithShape="0" blurRad="101600" dist="38100" dir="5400000">
              <a:srgbClr val="0F172A">
                <a:alpha val="10000"/>
              </a:srgbClr>
            </a:outerShdw>
          </a:effectLst>
        </p:spPr>
      </p:sp>
      <p:sp>
        <p:nvSpPr>
          <p:cNvPr id="5" name="Text 3"/>
          <p:cNvSpPr/>
          <p:nvPr/>
        </p:nvSpPr>
        <p:spPr>
          <a:xfrm>
            <a:off x="822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PROMPT</a:t>
            </a:r>
            <a:endParaRPr lang="en-US" sz="1150" dirty="0"/>
          </a:p>
        </p:txBody>
      </p:sp>
      <p:sp>
        <p:nvSpPr>
          <p:cNvPr id="6" name="Text 4"/>
          <p:cNvSpPr/>
          <p:nvPr/>
        </p:nvSpPr>
        <p:spPr>
          <a:xfrm>
            <a:off x="822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Is this ticket urgent?</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Answer with EXACTLY one</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word: URGENT, NORMAL,</a:t>
            </a: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or LOW. No explanation.</a:t>
            </a:r>
            <a:endParaRPr lang="en-US" sz="1250" dirty="0"/>
          </a:p>
          <a:p>
            <a:pPr indent="0" marL="0">
              <a:lnSpc>
                <a:spcPts val="1700"/>
              </a:lnSpc>
              <a:buNone/>
            </a:pPr>
            <a:endParaRPr lang="en-US" sz="1250" dirty="0"/>
          </a:p>
          <a:p>
            <a:pPr indent="0" marL="0">
              <a:lnSpc>
                <a:spcPts val="1700"/>
              </a:lnSpc>
              <a:buNone/>
            </a:pPr>
            <a:r>
              <a:rPr lang="en-US" sz="1250" dirty="0">
                <a:solidFill>
                  <a:srgbClr val="E2E8F0"/>
                </a:solidFill>
                <a:latin typeface="Courier New" pitchFamily="34" charset="0"/>
                <a:ea typeface="Courier New" pitchFamily="34" charset="-122"/>
                <a:cs typeface="Courier New" pitchFamily="34" charset="-120"/>
              </a:rPr>
              <a:t>Ticket: &lt;text&gt;</a:t>
            </a:r>
            <a:endParaRPr lang="en-US" sz="1250" dirty="0"/>
          </a:p>
        </p:txBody>
      </p:sp>
      <p:sp>
        <p:nvSpPr>
          <p:cNvPr id="7" name="Shape 5"/>
          <p:cNvSpPr/>
          <p:nvPr/>
        </p:nvSpPr>
        <p:spPr>
          <a:xfrm>
            <a:off x="6263640" y="1737360"/>
            <a:ext cx="5349240" cy="4297680"/>
          </a:xfrm>
          <a:prstGeom prst="roundRect">
            <a:avLst>
              <a:gd name="adj" fmla="val 2128"/>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8" name="Text 6"/>
          <p:cNvSpPr/>
          <p:nvPr/>
        </p:nvSpPr>
        <p:spPr>
          <a:xfrm>
            <a:off x="6537960" y="1938528"/>
            <a:ext cx="4800600" cy="274320"/>
          </a:xfrm>
          <a:prstGeom prst="rect">
            <a:avLst/>
          </a:prstGeom>
          <a:noFill/>
          <a:ln/>
        </p:spPr>
        <p:txBody>
          <a:bodyPr wrap="square" lIns="0" tIns="0" rIns="0" bIns="0" rtlCol="0" anchor="ctr"/>
          <a:lstStyle/>
          <a:p>
            <a:pPr indent="0" marL="0">
              <a:buNone/>
            </a:pPr>
            <a:r>
              <a:rPr lang="en-US" sz="1150" b="1" spc="200" kern="0" dirty="0">
                <a:solidFill>
                  <a:srgbClr val="4F46E5"/>
                </a:solidFill>
                <a:latin typeface="Calibri" pitchFamily="34" charset="0"/>
                <a:ea typeface="Calibri" pitchFamily="34" charset="-122"/>
                <a:cs typeface="Calibri" pitchFamily="34" charset="-120"/>
              </a:rPr>
              <a:t>OUTPUT</a:t>
            </a:r>
            <a:endParaRPr lang="en-US" sz="1150" dirty="0"/>
          </a:p>
        </p:txBody>
      </p:sp>
      <p:sp>
        <p:nvSpPr>
          <p:cNvPr id="9" name="Text 7"/>
          <p:cNvSpPr/>
          <p:nvPr/>
        </p:nvSpPr>
        <p:spPr>
          <a:xfrm>
            <a:off x="6537960" y="2304288"/>
            <a:ext cx="4800600" cy="3566160"/>
          </a:xfrm>
          <a:prstGeom prst="rect">
            <a:avLst/>
          </a:prstGeom>
          <a:noFill/>
          <a:ln/>
        </p:spPr>
        <p:txBody>
          <a:bodyPr wrap="square" lIns="0" tIns="0" rIns="0" bIns="0" rtlCol="0" anchor="t"/>
          <a:lstStyle/>
          <a:p>
            <a:pPr indent="0" marL="0">
              <a:lnSpc>
                <a:spcPts val="1700"/>
              </a:lnSpc>
              <a:buNone/>
            </a:pPr>
            <a:r>
              <a:rPr lang="en-US" sz="1250" dirty="0">
                <a:solidFill>
                  <a:srgbClr val="0F172A"/>
                </a:solidFill>
                <a:latin typeface="Courier New" pitchFamily="34" charset="0"/>
                <a:ea typeface="Courier New" pitchFamily="34" charset="-122"/>
                <a:cs typeface="Courier New" pitchFamily="34" charset="-120"/>
              </a:rPr>
              <a:t>NORMAL</a:t>
            </a:r>
            <a:endParaRPr lang="en-US" sz="1250" dirty="0"/>
          </a:p>
        </p:txBody>
      </p:sp>
      <p:sp>
        <p:nvSpPr>
          <p:cNvPr id="10" name="Text 8"/>
          <p:cNvSpPr/>
          <p:nvPr/>
        </p:nvSpPr>
        <p:spPr>
          <a:xfrm>
            <a:off x="548640" y="6199632"/>
            <a:ext cx="1106424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A closed answer space makes routing, filtering and evaluation trivial — and grading exact-match easy.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EXTRACTION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Prefer the top rung of the ladder</a:t>
            </a:r>
            <a:endParaRPr lang="en-US" sz="3200" dirty="0"/>
          </a:p>
        </p:txBody>
      </p:sp>
      <p:sp>
        <p:nvSpPr>
          <p:cNvPr id="4" name="Shape 2"/>
          <p:cNvSpPr/>
          <p:nvPr/>
        </p:nvSpPr>
        <p:spPr>
          <a:xfrm>
            <a:off x="548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5" name="Shape 3"/>
          <p:cNvSpPr/>
          <p:nvPr/>
        </p:nvSpPr>
        <p:spPr>
          <a:xfrm>
            <a:off x="841248" y="2011680"/>
            <a:ext cx="4764024" cy="438912"/>
          </a:xfrm>
          <a:prstGeom prst="roundRect">
            <a:avLst>
              <a:gd name="adj" fmla="val 16667"/>
            </a:avLst>
          </a:prstGeom>
          <a:solidFill>
            <a:srgbClr val="4F46E5"/>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MORE reliable</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Constrain: only valid output can be generated (e.g. format=json)</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Sentinels: fence the answer in &lt;answer&gt;...&lt;/answer&gt;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Low temperature for deterministic formatting</a:t>
            </a:r>
            <a:endParaRPr lang="en-US" sz="1350" dirty="0"/>
          </a:p>
        </p:txBody>
      </p:sp>
      <p:sp>
        <p:nvSpPr>
          <p:cNvPr id="8" name="Shape 6"/>
          <p:cNvSpPr/>
          <p:nvPr/>
        </p:nvSpPr>
        <p:spPr>
          <a:xfrm>
            <a:off x="6263640" y="1737360"/>
            <a:ext cx="5349240" cy="4572000"/>
          </a:xfrm>
          <a:prstGeom prst="roundRect">
            <a:avLst>
              <a:gd name="adj" fmla="val 2000"/>
            </a:avLst>
          </a:prstGeom>
          <a:solidFill>
            <a:srgbClr val="F8FAFC"/>
          </a:solidFill>
          <a:ln w="12700">
            <a:solidFill>
              <a:srgbClr val="E2E8F0"/>
            </a:solidFill>
            <a:prstDash val="solid"/>
          </a:ln>
          <a:effectLst>
            <a:outerShdw sx="100000" sy="100000" kx="0" ky="0" algn="bl" rotWithShape="0" blurRad="101600" dist="38100" dir="5400000">
              <a:srgbClr val="0F172A">
                <a:alpha val="10000"/>
              </a:srgbClr>
            </a:outerShdw>
          </a:effectLst>
        </p:spPr>
      </p:sp>
      <p:sp>
        <p:nvSpPr>
          <p:cNvPr id="9" name="Shape 7"/>
          <p:cNvSpPr/>
          <p:nvPr/>
        </p:nvSpPr>
        <p:spPr>
          <a:xfrm>
            <a:off x="6556248" y="2011680"/>
            <a:ext cx="4764024" cy="438912"/>
          </a:xfrm>
          <a:prstGeom prst="roundRect">
            <a:avLst>
              <a:gd name="adj" fmla="val 16667"/>
            </a:avLst>
          </a:prstGeom>
          <a:solidFill>
            <a:srgbClr val="B45309"/>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 reliable</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Regex over free-form prose</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Hoping the model 'just formats it right'</a:t>
            </a:r>
            <a:endParaRPr lang="en-US" sz="1350" dirty="0"/>
          </a:p>
          <a:p>
            <a:pPr marL="177800" indent="-177800">
              <a:lnSpc>
                <a:spcPts val="1700"/>
              </a:lnSpc>
              <a:spcAft>
                <a:spcPts val="700"/>
              </a:spcAft>
              <a:buSzPct val="100000"/>
              <a:buChar char="•"/>
            </a:pPr>
            <a:r>
              <a:rPr lang="en-US" sz="1350" dirty="0">
                <a:solidFill>
                  <a:srgbClr val="475569"/>
                </a:solidFill>
                <a:latin typeface="Calibri" pitchFamily="34" charset="0"/>
                <a:ea typeface="Calibri" pitchFamily="34" charset="-122"/>
                <a:cs typeface="Calibri" pitchFamily="34" charset="-120"/>
              </a:rPr>
              <a:t>Parsing a paragraph to find the number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4F46E5"/>
                </a:solidFill>
                <a:latin typeface="Calibri" pitchFamily="34" charset="0"/>
                <a:ea typeface="Calibri" pitchFamily="34" charset="-122"/>
                <a:cs typeface="Calibri" pitchFamily="34" charset="-120"/>
              </a:rPr>
              <a:t>VALIDATE &amp; REPAIR</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200" b="1" spc="-50" kern="0" dirty="0">
                <a:solidFill>
                  <a:srgbClr val="0F172A"/>
                </a:solidFill>
                <a:latin typeface="Calibri" pitchFamily="34" charset="0"/>
                <a:ea typeface="Calibri" pitchFamily="34" charset="-122"/>
                <a:cs typeface="Calibri" pitchFamily="34" charset="-120"/>
              </a:rPr>
              <a:t>Assume it will sometimes break</a:t>
            </a:r>
            <a:endParaRPr lang="en-US" sz="32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Parse and check</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json.loads, then verify required keys and types against your schema. Never trust the string blindly.</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Repair on failure</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On a parse error, send the broken output back: 'This wasn't valid JSON. Return only valid JSON matching the schema.'</a:t>
            </a:r>
            <a:endParaRPr lang="en-US" sz="1550" dirty="0"/>
          </a:p>
          <a:p>
            <a:pPr indent="0" marL="0">
              <a:lnSpc>
                <a:spcPts val="1700"/>
              </a:lnSpc>
              <a:spcAft>
                <a:spcPts val="200"/>
              </a:spcAft>
              <a:buNone/>
            </a:pPr>
            <a:r>
              <a:rPr lang="en-US" sz="1550" b="1" dirty="0">
                <a:solidFill>
                  <a:srgbClr val="0F172A"/>
                </a:solidFill>
                <a:latin typeface="Calibri" pitchFamily="34" charset="0"/>
                <a:ea typeface="Calibri" pitchFamily="34" charset="-122"/>
                <a:cs typeface="Calibri" pitchFamily="34" charset="-120"/>
              </a:rPr>
              <a:t>Bound the retries</a:t>
            </a:r>
            <a:endParaRPr lang="en-US" sz="1550" dirty="0"/>
          </a:p>
          <a:p>
            <a:pPr indent="0" marL="0">
              <a:lnSpc>
                <a:spcPts val="1700"/>
              </a:lnSpc>
              <a:spcAft>
                <a:spcPts val="1300"/>
              </a:spcAft>
              <a:buNone/>
            </a:pPr>
            <a:r>
              <a:rPr lang="en-US" sz="1300" dirty="0">
                <a:solidFill>
                  <a:srgbClr val="475569"/>
                </a:solidFill>
                <a:latin typeface="Calibri" pitchFamily="34" charset="0"/>
                <a:ea typeface="Calibri" pitchFamily="34" charset="-122"/>
                <a:cs typeface="Calibri" pitchFamily="34" charset="-120"/>
              </a:rPr>
              <a:t>Try the repair once or twice, then fail loudly. An infinite repair loop is a bug, not a safety net.</a:t>
            </a:r>
            <a:endParaRPr lang="en-US" sz="1550" dirty="0"/>
          </a:p>
        </p:txBody>
      </p:sp>
      <p:sp>
        <p:nvSpPr>
          <p:cNvPr id="5" name="Shape 3"/>
          <p:cNvSpPr/>
          <p:nvPr/>
        </p:nvSpPr>
        <p:spPr>
          <a:xfrm>
            <a:off x="7452360" y="1737360"/>
            <a:ext cx="4160520" cy="4572000"/>
          </a:xfrm>
          <a:prstGeom prst="roundRect">
            <a:avLst>
              <a:gd name="adj" fmla="val 2198"/>
            </a:avLst>
          </a:prstGeom>
          <a:solidFill>
            <a:srgbClr val="EEF0FF"/>
          </a:solidFill>
          <a:ln/>
          <a:effectLst>
            <a:outerShdw sx="100000" sy="100000" kx="0" ky="0" algn="bl" rotWithShape="0" blurRad="101600" dist="38100" dir="5400000">
              <a:srgbClr val="0F172A">
                <a:alpha val="10000"/>
              </a:srgbClr>
            </a:outerShdw>
          </a:effectLst>
        </p:spPr>
      </p:sp>
      <p:sp>
        <p:nvSpPr>
          <p:cNvPr id="6" name="Shape 4"/>
          <p:cNvSpPr/>
          <p:nvPr/>
        </p:nvSpPr>
        <p:spPr>
          <a:xfrm>
            <a:off x="7726680" y="2011680"/>
            <a:ext cx="420624" cy="420624"/>
          </a:xfrm>
          <a:prstGeom prst="ellipse">
            <a:avLst/>
          </a:prstGeom>
          <a:solidFill>
            <a:srgbClr val="4F46E5"/>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50" kern="0" dirty="0">
                <a:solidFill>
                  <a:srgbClr val="4338CA"/>
                </a:solidFill>
                <a:latin typeface="Calibri" pitchFamily="34" charset="0"/>
                <a:ea typeface="Calibri" pitchFamily="34" charset="-122"/>
                <a:cs typeface="Calibri" pitchFamily="34" charset="-120"/>
              </a:rPr>
              <a:t>INSTRUCTOR INSIGHT</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0F172A"/>
                </a:solidFill>
                <a:latin typeface="Calibri" pitchFamily="34" charset="0"/>
                <a:ea typeface="Calibri" pitchFamily="34" charset="-122"/>
                <a:cs typeface="Calibri" pitchFamily="34" charset="-120"/>
              </a:rPr>
              <a:t>format=json guarantees valid syntax, not correct content — the model can still return the wrong number in perfect JSON. Syntactic validity and semantic correctness are different problems; you need evaluation (Module 6) for the second.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4F46E5">
              <a:alpha val="20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HANDS-ON LAB  ·  ~60% OF THIS MODULE</a:t>
            </a:r>
            <a:endParaRPr lang="en-US" sz="1200" dirty="0"/>
          </a:p>
        </p:txBody>
      </p:sp>
      <p:sp>
        <p:nvSpPr>
          <p:cNvPr id="4" name="Text 2"/>
          <p:cNvSpPr/>
          <p:nvPr/>
        </p:nvSpPr>
        <p:spPr>
          <a:xfrm>
            <a:off x="548640" y="1097280"/>
            <a:ext cx="10789920" cy="1005840"/>
          </a:xfrm>
          <a:prstGeom prst="rect">
            <a:avLst/>
          </a:prstGeom>
          <a:noFill/>
          <a:ln/>
        </p:spPr>
        <p:txBody>
          <a:bodyPr wrap="square" lIns="0" tIns="0" rIns="0" bIns="0" rtlCol="0" anchor="ctr"/>
          <a:lstStyle/>
          <a:p>
            <a:pPr indent="0" marL="0">
              <a:buNone/>
            </a:pPr>
            <a:r>
              <a:rPr lang="en-US" sz="3800" b="1" spc="-50" kern="0" dirty="0">
                <a:solidFill>
                  <a:srgbClr val="FFFFFF"/>
                </a:solidFill>
                <a:latin typeface="Calibri" pitchFamily="34" charset="0"/>
                <a:ea typeface="Calibri" pitchFamily="34" charset="-122"/>
                <a:cs typeface="Calibri" pitchFamily="34" charset="-120"/>
              </a:rPr>
              <a:t>Lab 2 · Structured Output &amp; Extraction</a:t>
            </a:r>
            <a:endParaRPr lang="en-US" sz="3800" dirty="0"/>
          </a:p>
        </p:txBody>
      </p:sp>
      <p:sp>
        <p:nvSpPr>
          <p:cNvPr id="5" name="Text 3"/>
          <p:cNvSpPr/>
          <p:nvPr/>
        </p:nvSpPr>
        <p:spPr>
          <a:xfrm>
            <a:off x="548640" y="2286000"/>
            <a:ext cx="10424160" cy="1371600"/>
          </a:xfrm>
          <a:prstGeom prst="rect">
            <a:avLst/>
          </a:prstGeom>
          <a:noFill/>
          <a:ln/>
        </p:spPr>
        <p:txBody>
          <a:bodyPr wrap="square" rtlCol="0" anchor="t"/>
          <a:lstStyle/>
          <a:p>
            <a:pPr indent="0" marL="0">
              <a:lnSpc>
                <a:spcPts val="2500"/>
              </a:lnSpc>
              <a:buNone/>
            </a:pPr>
            <a:r>
              <a:rPr lang="en-US" sz="1700" dirty="0">
                <a:solidFill>
                  <a:srgbClr val="CBD5E1"/>
                </a:solidFill>
                <a:latin typeface="Calibri" pitchFamily="34" charset="0"/>
                <a:ea typeface="Calibri" pitchFamily="34" charset="-122"/>
                <a:cs typeface="Calibri" pitchFamily="34" charset="-120"/>
              </a:rPr>
              <a:t>Force reliable JSON from a model, build a field extractor over messy text, and validate/parse the result in Python with a repair step.</a:t>
            </a:r>
            <a:endParaRPr lang="en-US" sz="1700" dirty="0"/>
          </a:p>
        </p:txBody>
      </p:sp>
      <p:sp>
        <p:nvSpPr>
          <p:cNvPr id="6" name="Text 4"/>
          <p:cNvSpPr/>
          <p:nvPr/>
        </p:nvSpPr>
        <p:spPr>
          <a:xfrm>
            <a:off x="548640" y="3977640"/>
            <a:ext cx="10058400" cy="274320"/>
          </a:xfrm>
          <a:prstGeom prst="rect">
            <a:avLst/>
          </a:prstGeom>
          <a:noFill/>
          <a:ln/>
        </p:spPr>
        <p:txBody>
          <a:bodyPr wrap="square" lIns="0" tIns="0" rIns="0" bIns="0" rtlCol="0" anchor="ctr"/>
          <a:lstStyle/>
          <a:p>
            <a:pPr indent="0" marL="0">
              <a:buNone/>
            </a:pPr>
            <a:r>
              <a:rPr lang="en-US" sz="1200" b="1" spc="200" kern="0" dirty="0">
                <a:solidFill>
                  <a:srgbClr val="22D3EE"/>
                </a:solidFill>
                <a:latin typeface="Calibri" pitchFamily="34" charset="0"/>
                <a:ea typeface="Calibri" pitchFamily="34" charset="-122"/>
                <a:cs typeface="Calibri" pitchFamily="34" charset="-120"/>
              </a:rPr>
              <a:t>YOU'LL PRODUCE</a:t>
            </a:r>
            <a:endParaRPr lang="en-US" sz="1200" dirty="0"/>
          </a:p>
        </p:txBody>
      </p:sp>
      <p:sp>
        <p:nvSpPr>
          <p:cNvPr id="7" name="Text 5"/>
          <p:cNvSpPr/>
          <p:nvPr/>
        </p:nvSpPr>
        <p:spPr>
          <a:xfrm>
            <a:off x="548640" y="4297680"/>
            <a:ext cx="10424160" cy="173736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strict-JSON extraction prompt</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Python parser that validates the schema</a:t>
            </a:r>
            <a:endParaRPr lang="en-US" sz="1500" dirty="0"/>
          </a:p>
          <a:p>
            <a:pPr marL="177800" indent="-177800">
              <a:lnSpc>
                <a:spcPts val="2000"/>
              </a:lnSpc>
              <a:spcAft>
                <a:spcPts val="700"/>
              </a:spcAft>
              <a:buSzPct val="100000"/>
              <a:buChar char="•"/>
            </a:pPr>
            <a:r>
              <a:rPr lang="en-US" sz="1500" dirty="0">
                <a:solidFill>
                  <a:srgbClr val="E2E8F0"/>
                </a:solidFill>
                <a:latin typeface="Calibri" pitchFamily="34" charset="0"/>
                <a:ea typeface="Calibri" pitchFamily="34" charset="-122"/>
                <a:cs typeface="Calibri" pitchFamily="34" charset="-120"/>
              </a:rPr>
              <a:t>A repair step that recovers malformed outputs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4F46E5">
              <a:alpha val="18000"/>
            </a:srgbClr>
          </a:solidFill>
          <a:ln/>
        </p:spPr>
      </p:sp>
      <p:sp>
        <p:nvSpPr>
          <p:cNvPr id="3" name="Shape 1"/>
          <p:cNvSpPr/>
          <p:nvPr/>
        </p:nvSpPr>
        <p:spPr>
          <a:xfrm>
            <a:off x="548640" y="640080"/>
            <a:ext cx="548640" cy="548640"/>
          </a:xfrm>
          <a:prstGeom prst="roundRect">
            <a:avLst>
              <a:gd name="adj" fmla="val 22000"/>
            </a:avLst>
          </a:prstGeom>
          <a:solidFill>
            <a:srgbClr val="4F46E5"/>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4 recap</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Decide the answer's shape before you prompt</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Constrain the answer space to a valid set + a default</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Extract by constraining or fencing — regex is last resort</a:t>
            </a:r>
            <a:endParaRPr lang="en-US" sz="1600" dirty="0"/>
          </a:p>
          <a:p>
            <a:pPr marL="203200" indent="-203200">
              <a:lnSpc>
                <a:spcPts val="2100"/>
              </a:lnSpc>
              <a:spcAft>
                <a:spcPts val="1000"/>
              </a:spcAft>
              <a:buSzPct val="100000"/>
              <a:buChar char="•"/>
            </a:pPr>
            <a:r>
              <a:rPr lang="en-US" sz="1600" dirty="0">
                <a:solidFill>
                  <a:srgbClr val="E2E8F0"/>
                </a:solidFill>
                <a:latin typeface="Calibri" pitchFamily="34" charset="0"/>
                <a:ea typeface="Calibri" pitchFamily="34" charset="-122"/>
                <a:cs typeface="Calibri" pitchFamily="34" charset="-120"/>
              </a:rPr>
              <a:t>Always validate; repair on failure, bounded retries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2026-07-16T17:51:48Z</dcterms:created>
  <dcterms:modified xsi:type="dcterms:W3CDTF">2026-07-16T17:51:48Z</dcterms:modified>
</cp:coreProperties>
</file>