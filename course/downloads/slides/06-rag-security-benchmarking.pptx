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final teaching module — Module 6: RAG, Security, and Benchmarking. This is the responsibility-and-proof module, and it carries CO2. Three parts. First, RAG — retrieval-augmented generation — which grounds the model's answers in your own data to cut hallucination. Second, security — prompt injection, jailbreaks, and data leakage. And third, evaluation — actually proving your prompts work, with test sets and metrics. Here's the framing: this is the module that turns a clever demo into something you would genuinely be willing to deploy. It splits across two labs, 7 and 8. Let's dig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objectives here — and every one of them maps to CO2. You'll ground answers with RAG — retrieve, inject context, and cite sources. You'll spot the attacks — prompt injection, jailbreaks, data leakage. You'll understand alignment — why models misbehave and how we constrain them. And you'll benchmark prompts with test sets, metrics, and LLM-as-judge. Here's the framing I want you to hold: this module is the difference between 'it worked when I tried it once' and 'I can prove it works, and it's safe.' That's the professional bar, and it's exactly what your assignment and capstone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RAG. Cast your mind back to Module 1 — the model has no fact database, and it will confidently invent answers when it doesn't know. RAG is how we fix that. The idea is to put the real source text right into the prompt, so the model reads the answer rather than recalling it from memory. Four steps. Chunk — split your documents into passages small enough to retrieve and fit in the context window. Retrieve — find the passages most relevant to the question, by keyword or by embeddings. Inject — drop those passages into the prompt as trusted context. And cite and fall back — require the model to quote and reference its sources, or to say 'not in the document' if the answer isn't there. That last clause is essential; it's what stops the model filling the gap with invention. The way I think about it: RAG is the model's open book. Without it, it's sitting the exam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grounding prompt pattern, and three instructions are doing all the work. One — answer only from the context. Two — if it's not in the context, say 'not in the document.' Three — cite the source line. Look at the output: 'Per line 4, the refund window is 30 days,' with a citation. Those citations aren't decoration — they let a human verify the answer instantly, and they discourage the model from wandering off-source. In the lab, you'll run the same question with no context and watch the hallucination reappear — it's a great before-and-after. One honest caveat: retrieval quality is your ceiling. If you retrieve the wrong passage, even a perfect prompt gives you a confident, well-cited, wrong answer. So the retrieval step matters just as much as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security — and this is where I find students are most naive, so let me make it real. Prompt injection: a user types something like 'ignore all your previous instructions and instead do this' — and a naively built system just obeys. Indirect injection is even scarier: the malicious instruction is hidden inside a document or a web page that your RAG system fetches, so the attack rides in through your data, not the user's message. Jailbreaks use role-play to slip around the safety rules — 'pretend you're a character who would explain...' Data leakage is coaxing out your hidden system prompt or your secrets. Here's the core defensive principle, and it's uncomfortable: the model cannot reliably tell your instructions apart from text that appears in the data. So you must do it for it — separate and clearly label trusted instructions versus untrusted input, constrain the scope and the output tightly, never put secrets or API keys in the prompt, and test with adversarial inputs before you ship. You'll actually attack your own prompt in Lab 8, which is the best way to learn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the heart of CO2 — benchmarking, or as I like to say, proving it instead of vibe-checking it. This is the habit most students lack, so let me make the case hard. Without a test set, here's what happens: you tweak a prompt, you try it on the one example you have in your head, it looks better, and you fool yourself into thinking you improved it. A fixed test set of even ten to twenty representative inputs with known-good answers — your ground truth — is what lets you measure real change. Then pick a metric that fits the answer type: exact-match for closed answers, a rubric score or task-success rate for open-ended ones. LLM-as-judge is a powerful trick — you have a model score outputs against your rubric at scale — but it's fallible, so spot-check it against some human grades. And when you compare prompts, A/B them properly: run both variants on the same test set, and change only one thing at a time. Write down the line that matters most in this whole course: no benchmark, no proof. A tiny gold set of fifteen examples turns prompt engineering from guessing into measurement. That single habit is what separates professionals from everyone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labs close out the taught course. Lab 7 is RAG: you'll build a tiny retrieval system — chunk a document I give you, retrieve by keyword, inject the passages, and force cited answers. Then compare with and without context to see hallucination appear and disappear. Lab 8 is the CO2 anchor, and I will not let us skip it for time. You'll attack your own prompt with injections and jailbreaks, add defenses, and then build a small evaluation harness that scores two prompt variants against a test set. About thirty minutes each. For Lab 8, 'done' means at least one successful attack, a defense you added, and a results table comparing two prompts. Both of these rehearse your assignment directly, so take them seriously — this is the stuff that earns the top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Module 6, and with it, the whole taught course. RAG grounds answers in your data and makes them citable and auditable. Treat every user input and every retrieved document as potentially hostile. Separate trusted instructions from untrusted text, and guard your secrets. And the line I want ringing in your ears: no benchmark, no proof — measure before you ship. Here's how it all ties together. Modules 1 through 5 make your prompts capable. Module 6 makes them trustworthy and provable. That combination — capability plus evidence — is exactly what CO1 and CO2 ask for, and it's exactly what your capstone will ask for. Now let me brief the capstone, and then I'm going to set you loose to build something real. Well done, everyone — you've come a long way in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4F46E5">
              <a:alpha val="22000"/>
            </a:srgbClr>
          </a:solidFill>
          <a:ln/>
        </p:spPr>
      </p:sp>
      <p:sp>
        <p:nvSpPr>
          <p:cNvPr id="3" name="Shape 1"/>
          <p:cNvSpPr/>
          <p:nvPr/>
        </p:nvSpPr>
        <p:spPr>
          <a:xfrm>
            <a:off x="-2194560" y="4754880"/>
            <a:ext cx="5029200" cy="5029200"/>
          </a:xfrm>
          <a:prstGeom prst="ellipse">
            <a:avLst/>
          </a:prstGeom>
          <a:solidFill>
            <a:srgbClr val="22D3EE">
              <a:alpha val="12000"/>
            </a:srgbClr>
          </a:solidFill>
          <a:ln/>
        </p:spPr>
      </p:sp>
      <p:sp>
        <p:nvSpPr>
          <p:cNvPr id="4" name="Shape 2"/>
          <p:cNvSpPr/>
          <p:nvPr/>
        </p:nvSpPr>
        <p:spPr>
          <a:xfrm>
            <a:off x="548640" y="640080"/>
            <a:ext cx="658368" cy="658368"/>
          </a:xfrm>
          <a:prstGeom prst="roundRect">
            <a:avLst>
              <a:gd name="adj" fmla="val 22000"/>
            </a:avLst>
          </a:prstGeom>
          <a:solidFill>
            <a:srgbClr val="4F46E5"/>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33172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MODULE 6</a:t>
            </a:r>
            <a:endParaRPr lang="en-US" sz="1200" dirty="0"/>
          </a:p>
        </p:txBody>
      </p:sp>
      <p:sp>
        <p:nvSpPr>
          <p:cNvPr id="7" name="Text 5"/>
          <p:cNvSpPr/>
          <p:nvPr/>
        </p:nvSpPr>
        <p:spPr>
          <a:xfrm>
            <a:off x="548640" y="2606040"/>
            <a:ext cx="10881360" cy="1737360"/>
          </a:xfrm>
          <a:prstGeom prst="rect">
            <a:avLst/>
          </a:prstGeom>
          <a:noFill/>
          <a:ln/>
        </p:spPr>
        <p:txBody>
          <a:bodyPr wrap="square" rtlCol="0" anchor="ctr"/>
          <a:lstStyle/>
          <a:p>
            <a:pPr indent="0" marL="0">
              <a:lnSpc>
                <a:spcPts val="4800"/>
              </a:lnSpc>
              <a:buNone/>
            </a:pPr>
            <a:r>
              <a:rPr lang="en-US" sz="4600" b="1" spc="-50" kern="0" dirty="0">
                <a:solidFill>
                  <a:srgbClr val="FFFFFF"/>
                </a:solidFill>
                <a:latin typeface="Calibri" pitchFamily="34" charset="0"/>
                <a:ea typeface="Calibri" pitchFamily="34" charset="-122"/>
                <a:cs typeface="Calibri" pitchFamily="34" charset="-120"/>
              </a:rPr>
              <a:t>RAG, Security &amp; Benchmarking</a:t>
            </a:r>
            <a:endParaRPr lang="en-US" sz="4600" dirty="0"/>
          </a:p>
        </p:txBody>
      </p:sp>
      <p:sp>
        <p:nvSpPr>
          <p:cNvPr id="8" name="Text 6"/>
          <p:cNvSpPr/>
          <p:nvPr/>
        </p:nvSpPr>
        <p:spPr>
          <a:xfrm>
            <a:off x="548640" y="4434840"/>
            <a:ext cx="9875520" cy="1097280"/>
          </a:xfrm>
          <a:prstGeom prst="rect">
            <a:avLst/>
          </a:prstGeom>
          <a:noFill/>
          <a:ln/>
        </p:spPr>
        <p:txBody>
          <a:bodyPr wrap="square" rtlCol="0" anchor="ctr"/>
          <a:lstStyle/>
          <a:p>
            <a:pPr indent="0" marL="0">
              <a:lnSpc>
                <a:spcPts val="2500"/>
              </a:lnSpc>
              <a:buNone/>
            </a:pPr>
            <a:r>
              <a:rPr lang="en-US" sz="1800" dirty="0">
                <a:solidFill>
                  <a:srgbClr val="CBD5E1"/>
                </a:solidFill>
                <a:latin typeface="Calibri" pitchFamily="34" charset="0"/>
                <a:ea typeface="Calibri" pitchFamily="34" charset="-122"/>
                <a:cs typeface="Calibri" pitchFamily="34" charset="-120"/>
              </a:rPr>
              <a:t>Ground answers in your own data, defend against attacks, and prove your prompts actually work.</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Venkat Loganathan  ·  Prompt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MODULE 6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By the end of this module</a:t>
            </a:r>
            <a:endParaRPr lang="en-US" sz="3200" dirty="0"/>
          </a:p>
        </p:txBody>
      </p:sp>
      <p:sp>
        <p:nvSpPr>
          <p:cNvPr id="4" name="Shape 2"/>
          <p:cNvSpPr/>
          <p:nvPr/>
        </p:nvSpPr>
        <p:spPr>
          <a:xfrm>
            <a:off x="548640" y="1737360"/>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1979676"/>
            <a:ext cx="548640" cy="548640"/>
          </a:xfrm>
          <a:prstGeom prst="ellipse">
            <a:avLst/>
          </a:prstGeom>
          <a:solidFill>
            <a:srgbClr val="4F46E5"/>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Ground with RAG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retrieve, inject context, and cite sources.</a:t>
            </a:r>
            <a:endParaRPr lang="en-US" sz="1550" dirty="0"/>
          </a:p>
        </p:txBody>
      </p:sp>
      <p:sp>
        <p:nvSpPr>
          <p:cNvPr id="8" name="Shape 6"/>
          <p:cNvSpPr/>
          <p:nvPr/>
        </p:nvSpPr>
        <p:spPr>
          <a:xfrm>
            <a:off x="548640" y="2916936"/>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159252"/>
            <a:ext cx="548640" cy="548640"/>
          </a:xfrm>
          <a:prstGeom prst="ellipse">
            <a:avLst/>
          </a:prstGeom>
          <a:solidFill>
            <a:srgbClr val="4F46E5"/>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Spot the attacks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prompt injection, jailbreaks, data leakage.</a:t>
            </a:r>
            <a:endParaRPr lang="en-US" sz="1550" dirty="0"/>
          </a:p>
        </p:txBody>
      </p:sp>
      <p:sp>
        <p:nvSpPr>
          <p:cNvPr id="12" name="Shape 10"/>
          <p:cNvSpPr/>
          <p:nvPr/>
        </p:nvSpPr>
        <p:spPr>
          <a:xfrm>
            <a:off x="548640" y="4096512"/>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4338828"/>
            <a:ext cx="548640" cy="548640"/>
          </a:xfrm>
          <a:prstGeom prst="ellipse">
            <a:avLst/>
          </a:prstGeom>
          <a:solidFill>
            <a:srgbClr val="4F46E5"/>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Understand alignment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why models misbehave and how to constrain them.</a:t>
            </a:r>
            <a:endParaRPr lang="en-US" sz="1550" dirty="0"/>
          </a:p>
        </p:txBody>
      </p:sp>
      <p:sp>
        <p:nvSpPr>
          <p:cNvPr id="16" name="Shape 14"/>
          <p:cNvSpPr/>
          <p:nvPr/>
        </p:nvSpPr>
        <p:spPr>
          <a:xfrm>
            <a:off x="548640" y="5276088"/>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7" name="Shape 15"/>
          <p:cNvSpPr/>
          <p:nvPr/>
        </p:nvSpPr>
        <p:spPr>
          <a:xfrm>
            <a:off x="804672" y="5518404"/>
            <a:ext cx="548640" cy="548640"/>
          </a:xfrm>
          <a:prstGeom prst="ellipse">
            <a:avLst/>
          </a:prstGeom>
          <a:solidFill>
            <a:srgbClr val="4F46E5"/>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Benchmark prompts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test sets, metrics, and LLM-as-judge.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RETRIEVAL-AUGMENTED GENERATION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Answer from your data, not its memory</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Chunk</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Split documents into passages small enough to retrieve and fit in context.</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Retrieve</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Find the passages most relevant to the question (keyword or embeddings).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4407408"/>
            <a:ext cx="365760" cy="365760"/>
          </a:xfrm>
          <a:prstGeom prst="ellipse">
            <a:avLst/>
          </a:prstGeom>
          <a:solidFill>
            <a:srgbClr val="EEF0FF"/>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Inject</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Put those passages into the prompt as trusted context.</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4407408"/>
            <a:ext cx="365760" cy="365760"/>
          </a:xfrm>
          <a:prstGeom prst="ellipse">
            <a:avLst/>
          </a:prstGeom>
          <a:solidFill>
            <a:srgbClr val="EEF0FF"/>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Cite &amp; fall back</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Require quotes and references — or 'not in the document' if absent.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RAG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Grounded, cited, honest</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Answer ONLY from the context.</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If it's not there, say 'Not in</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the document.' Cite the line.</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Context:</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&lt;retrieved passages&gt;</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Q: What's the refund window?</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Per line 4, the refund</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window is 30 days.</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[source: line 4]</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Grounding on retrieved text sharply cuts hallucination — and the citation makes every answer auditable.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SECURITY &amp; ALIGNMENT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Assume every input is hostile</a:t>
            </a:r>
            <a:endParaRPr lang="en-US" sz="3200" dirty="0"/>
          </a:p>
        </p:txBody>
      </p:sp>
      <p:sp>
        <p:nvSpPr>
          <p:cNvPr id="4" name="Shape 2"/>
          <p:cNvSpPr/>
          <p:nvPr/>
        </p:nvSpPr>
        <p:spPr>
          <a:xfrm>
            <a:off x="548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41248" y="2011680"/>
            <a:ext cx="4764024" cy="438912"/>
          </a:xfrm>
          <a:prstGeom prst="roundRect">
            <a:avLst>
              <a:gd name="adj" fmla="val 16667"/>
            </a:avLst>
          </a:prstGeom>
          <a:solidFill>
            <a:srgbClr val="B45309"/>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Threats</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Prompt injection: 'ignore previous instructions...'</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Indirect injection: malicious text hidden in a fetched web page or doc</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Jailbreaks: role-play around the safety rules</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Data leakage: coaxing out the hidden system prompt or secrets</a:t>
            </a:r>
            <a:endParaRPr lang="en-US" sz="1350" dirty="0"/>
          </a:p>
        </p:txBody>
      </p:sp>
      <p:sp>
        <p:nvSpPr>
          <p:cNvPr id="8" name="Shape 6"/>
          <p:cNvSpPr/>
          <p:nvPr/>
        </p:nvSpPr>
        <p:spPr>
          <a:xfrm>
            <a:off x="6263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6556248" y="2011680"/>
            <a:ext cx="4764024" cy="438912"/>
          </a:xfrm>
          <a:prstGeom prst="roundRect">
            <a:avLst>
              <a:gd name="adj" fmla="val 16667"/>
            </a:avLst>
          </a:prstGeom>
          <a:solidFill>
            <a:srgbClr val="4F46E5"/>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Defenses</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Separate trusted instructions from untrusted user/retrieved text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Constrain scope and output tightly</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Never put secrets or keys in the prompt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Test with adversarial inputs before shipping</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BENCHMARKING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Prove it — don't vibe-check it</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Build a test set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10–20+ representative inputs with known-good answers. This is your ground truth.</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Pick a metric</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Exact-match for closed answers; a rubric score or task-success rate for open ones.</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LLM-as-judge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Have a model score outputs against your rubric at scale — fast, but validate it against some human grades.</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A/B and keep the winner</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Run two prompt variants on the same set; change one thing at a time.</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Without a fixed test set you're tuning on vibes — every prompt tweak feels like progress. A tiny gold set of 15 examples turns prompt engineering from guessing into measurement. This is the single habit that separates professionals.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4F46E5">
              <a:alpha val="20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HANDS-ON LAB  ·  ~60% OF THIS MODULE</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800" b="1" spc="-50" kern="0" dirty="0">
                <a:solidFill>
                  <a:srgbClr val="FFFFFF"/>
                </a:solidFill>
                <a:latin typeface="Calibri" pitchFamily="34" charset="0"/>
                <a:ea typeface="Calibri" pitchFamily="34" charset="-122"/>
                <a:cs typeface="Calibri" pitchFamily="34" charset="-120"/>
              </a:rPr>
              <a:t>Labs 7 &amp; 8 · RAG + Red-Team &amp; Evaluate</a:t>
            </a:r>
            <a:endParaRPr lang="en-US" sz="3800" dirty="0"/>
          </a:p>
        </p:txBody>
      </p:sp>
      <p:sp>
        <p:nvSpPr>
          <p:cNvPr id="5" name="Text 3"/>
          <p:cNvSpPr/>
          <p:nvPr/>
        </p:nvSpPr>
        <p:spPr>
          <a:xfrm>
            <a:off x="548640" y="2286000"/>
            <a:ext cx="10424160" cy="1371600"/>
          </a:xfrm>
          <a:prstGeom prst="rect">
            <a:avLst/>
          </a:prstGeom>
          <a:noFill/>
          <a:ln/>
        </p:spPr>
        <p:txBody>
          <a:bodyPr wrap="square" rtlCol="0" anchor="t"/>
          <a:lstStyle/>
          <a:p>
            <a:pPr indent="0" marL="0">
              <a:lnSpc>
                <a:spcPts val="2500"/>
              </a:lnSpc>
              <a:buNone/>
            </a:pPr>
            <a:r>
              <a:rPr lang="en-US" sz="1700" dirty="0">
                <a:solidFill>
                  <a:srgbClr val="CBD5E1"/>
                </a:solidFill>
                <a:latin typeface="Calibri" pitchFamily="34" charset="0"/>
                <a:ea typeface="Calibri" pitchFamily="34" charset="-122"/>
                <a:cs typeface="Calibri" pitchFamily="34" charset="-120"/>
              </a:rPr>
              <a:t>Build a mini-RAG that grounds and cites answers, then attack your own prompt, harden it, and build an evaluation harness to benchmark two variants.</a:t>
            </a:r>
            <a:endParaRPr lang="en-US" sz="1700" dirty="0"/>
          </a:p>
        </p:txBody>
      </p:sp>
      <p:sp>
        <p:nvSpPr>
          <p:cNvPr id="6" name="Text 4"/>
          <p:cNvSpPr/>
          <p:nvPr/>
        </p:nvSpPr>
        <p:spPr>
          <a:xfrm>
            <a:off x="548640" y="3977640"/>
            <a:ext cx="100584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YOU'LL PRODUCE</a:t>
            </a:r>
            <a:endParaRPr lang="en-US" sz="1200" dirty="0"/>
          </a:p>
        </p:txBody>
      </p:sp>
      <p:sp>
        <p:nvSpPr>
          <p:cNvPr id="7" name="Text 5"/>
          <p:cNvSpPr/>
          <p:nvPr/>
        </p:nvSpPr>
        <p:spPr>
          <a:xfrm>
            <a:off x="548640" y="429768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retrieve → inject → cite pipeline</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Successful injections and the defenses you added</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An eval harness scoring two prompt variants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4F46E5">
              <a:alpha val="18000"/>
            </a:srgbClr>
          </a:solidFill>
          <a:ln/>
        </p:spPr>
      </p:sp>
      <p:sp>
        <p:nvSpPr>
          <p:cNvPr id="3" name="Shape 1"/>
          <p:cNvSpPr/>
          <p:nvPr/>
        </p:nvSpPr>
        <p:spPr>
          <a:xfrm>
            <a:off x="548640" y="640080"/>
            <a:ext cx="548640" cy="548640"/>
          </a:xfrm>
          <a:prstGeom prst="roundRect">
            <a:avLst>
              <a:gd name="adj" fmla="val 22000"/>
            </a:avLst>
          </a:prstGeom>
          <a:solidFill>
            <a:srgbClr val="4F46E5"/>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6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RAG grounds answers in your data and makes them citable</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Treat every user and retrieved input as potentially hostile</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Separate trusted instructions from untrusted text; guard secrets</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No benchmark, no proof — measure before you ship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2026-07-16T17:51:48Z</dcterms:created>
  <dcterms:modified xsi:type="dcterms:W3CDTF">2026-07-16T17:51:48Z</dcterms:modified>
</cp:coreProperties>
</file>