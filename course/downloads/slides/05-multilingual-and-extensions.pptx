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5 — Multilingual Prompting and Extensions. So far we've treated the model as text-in, text-out. Now we break it out of that box. Three threads today: prompting across languages, giving the model tools it can actually call, and code-generation agents that write, run, and fix their own code. The idea that ties it all together is the agent loop — reason, act, observe, repeat — and that's the basis of almost every 'AI agent' you've heard hyped about. By the end you'll understand what's actually going on behind that buzzword. We'll finish with Lab 6, which is the most ambitious build of the course.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we're going. You'll prompt across languages using translate-then-solve and cross-lingual patterns. You'll give the model tools through function calling — where it requests an action and your code runs it. You'll build a code-generation agent that generates code, runs it, reads the error, and repairs itself. And you'll see the general agent pattern — think, act, observe, repeat. Two quick notes. Multilingual matters a lot for us here in India, because many of the people who'll use what you build won't be working in English. And tools plus code agents are how prompting grows from just answering questions into actually doing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for the module — four ways to go further. Multilingual: you can translate the input, solve, and translate back, or prompt directly in the target language; and for hard reasoning it often helps to reason in a high-resource language like English first. Tool-use agents: the model emits a structured call — to a search tool, a calculator, a database — and your code runs it and hands back the result. Code-gen agents apply that same loop to programming — generate code, execute it, read any error, repair. And the ReAct loop is the general pattern behind all of them: reason, act, observe, then reason again until you're done. Keep this slide in mind as our map — the next slides are each of these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multilingual prompting — three reliable patterns. First, translate-then-solve: translate the input into English, solve the problem, then translate the answer back. This leans on the model's strongest language, which for almost every model is English. Second, and this is the counter-intuitive one, cross-lingual: have the model reason internally in English but 'give the final answer in Tamil' or 'in Hindi.' That frequently beats prompting entirely in the target language, because the reasoning is stronger in English. Think of it like drafting a difficult letter in the language you're most fluent in, and then translating the final version. Third, direct in-language: for simple tasks, just prompt in the target language — that's perfectly fine when the accuracy demands are modest. Now the big warning, and it's an ethics point as much as a quality one: quality varies enormously by language and model, and small local models are weak in low-resource languages. So always spot-check translated output with a fluent reader. Never ship an unreviewed answer in a language you yourself can't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demystify 'function calling,' because it sounds fancier than it is. It's just Module 4 applied. Watch the flow. I tell the model it has a calculator tool. The user asks for an eighteen percent tip on sixty-three dollars forty. The model doesn't try to do the arithmetic itself — instead it returns a structured JSON request naming the tool and the arguments. Then my program parses that JSON, runs the real calculator function, gets eleven forty-one, and passes it back for the model to phrase the final answer. Let me stress the crucial safety point: the model never executes anything itself. It only asks; your code decides whether and how to run it. And notice — the whole thing depends entirely on well-shaped JSON output, which is exactly why we taught Answer Engineering before this. Tool use is just disciplined structured output in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pattern behind every agent you've heard of — ReAct, which stands for Reason plus Act. Watch how it works on this question: what's the capital of the country whose currency is the yen? The model produces a Thought — 'I need to find the currency's country, then its capital.' Then an Action — look up 'yen.' It reads the Observation — yen maps to Japan. Another Thought, another Action — look up Japan's capital. Observation — Tokyo. Answer — Tokyo. It loops through thought, action, observation until it can answer. Two big wins here. One, every step is grounded in a real tool result instead of a guess, which cuts hallucination. Two, the entire reasoning trace is visible, so when something goes wrong you can see exactly where. Honestly — if you understand this one slide, 'AI agents' will never be a mystery buzzword to you again. This is the skeleton underneath essentially every agent framework out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Code-generation agents apply that same ReAct loop specifically to programming — and here's what's special: the 'observation' is completely objective. The code either runs or it doesn't. There's no opinion involved. So the loop is: generate — ask for the function plus a couple of test cases. Run — execute it; the interpreter is the ground truth. Repair — if it fails, feed the exact traceback back and say 'this error occurred, fix the code,' and repeat until the tests pass. This loop dramatically outperforms just asking for code once. Here's the analogy I like: a code agent is a student taking an open-book exam with the answer key — it writes an attempt, checks it against the tests, and revises until it passes. The execution feedback is the whole trick. One serious caution though: always run generated code in a safe, sandboxed environment, and read it before you trust it. Never auto-execute untrusted code against your real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Lab 6 — the most ambitious build in the course, and honestly the one students enjoy most. You'll implement a small agent by hand. The prompt returns a JSON tool call; your Python code runs a calculator or a stubbed lookup tool; the result goes back to the model; and the loop continues until it can answer. Then you'll build a mini code-generation repair loop, and finish with a quick multilingual test. Now — to those of you who are less confident with code, relax: I'm giving you starter code. Your job is to wire the pieces together, not to build it all from scratch. You've got about fifty-five minutes. 'Done' means an agent that completes a two-step task using at least one tool. Pair up if you want to — this is a great one to work through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recap Module 5. For multilingual work, reason in a strong language and answer in the target language, and always verify what you can't read. Tool use is just well-shaped JSON that the model requests and your code runs. Code-generation agents generate, run, and repair against real execution feedback. And ReAct — think, act, observe, repeat — is the blueprint under every agent. Notice how everything here rested on Module 4's structured output — agents are really just disciplined loops over well-shaped calls. Quick check for you: who actually executes the tool — the model, or your code? Right, your code. And why does that matter? Exactly — safety; the model only ever requests, it never runs anything itself. Hold on to that thought, because it leads us straight into Module 6, where security takes centre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4F46E5">
              <a:alpha val="22000"/>
            </a:srgbClr>
          </a:solidFill>
          <a:ln/>
        </p:spPr>
      </p:sp>
      <p:sp>
        <p:nvSpPr>
          <p:cNvPr id="3" name="Shape 1"/>
          <p:cNvSpPr/>
          <p:nvPr/>
        </p:nvSpPr>
        <p:spPr>
          <a:xfrm>
            <a:off x="-2194560" y="4754880"/>
            <a:ext cx="5029200" cy="5029200"/>
          </a:xfrm>
          <a:prstGeom prst="ellipse">
            <a:avLst/>
          </a:prstGeom>
          <a:solidFill>
            <a:srgbClr val="22D3EE">
              <a:alpha val="12000"/>
            </a:srgbClr>
          </a:solidFill>
          <a:ln/>
        </p:spPr>
      </p:sp>
      <p:sp>
        <p:nvSpPr>
          <p:cNvPr id="4" name="Shape 2"/>
          <p:cNvSpPr/>
          <p:nvPr/>
        </p:nvSpPr>
        <p:spPr>
          <a:xfrm>
            <a:off x="548640" y="640080"/>
            <a:ext cx="658368" cy="658368"/>
          </a:xfrm>
          <a:prstGeom prst="roundRect">
            <a:avLst>
              <a:gd name="adj" fmla="val 22000"/>
            </a:avLst>
          </a:prstGeom>
          <a:solidFill>
            <a:srgbClr val="4F46E5"/>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33172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MODULE 5</a:t>
            </a:r>
            <a:endParaRPr lang="en-US" sz="1200" dirty="0"/>
          </a:p>
        </p:txBody>
      </p:sp>
      <p:sp>
        <p:nvSpPr>
          <p:cNvPr id="7" name="Text 5"/>
          <p:cNvSpPr/>
          <p:nvPr/>
        </p:nvSpPr>
        <p:spPr>
          <a:xfrm>
            <a:off x="548640" y="2606040"/>
            <a:ext cx="10881360" cy="1737360"/>
          </a:xfrm>
          <a:prstGeom prst="rect">
            <a:avLst/>
          </a:prstGeom>
          <a:noFill/>
          <a:ln/>
        </p:spPr>
        <p:txBody>
          <a:bodyPr wrap="square" rtlCol="0" anchor="ctr"/>
          <a:lstStyle/>
          <a:p>
            <a:pPr indent="0" marL="0">
              <a:lnSpc>
                <a:spcPts val="4800"/>
              </a:lnSpc>
              <a:buNone/>
            </a:pPr>
            <a:r>
              <a:rPr lang="en-US" sz="4600" b="1" spc="-50" kern="0" dirty="0">
                <a:solidFill>
                  <a:srgbClr val="FFFFFF"/>
                </a:solidFill>
                <a:latin typeface="Calibri" pitchFamily="34" charset="0"/>
                <a:ea typeface="Calibri" pitchFamily="34" charset="-122"/>
                <a:cs typeface="Calibri" pitchFamily="34" charset="-120"/>
              </a:rPr>
              <a:t>Multilingual Prompting &amp; Extensions</a:t>
            </a:r>
            <a:endParaRPr lang="en-US" sz="4600" dirty="0"/>
          </a:p>
        </p:txBody>
      </p:sp>
      <p:sp>
        <p:nvSpPr>
          <p:cNvPr id="8" name="Text 6"/>
          <p:cNvSpPr/>
          <p:nvPr/>
        </p:nvSpPr>
        <p:spPr>
          <a:xfrm>
            <a:off x="548640" y="4434840"/>
            <a:ext cx="9875520" cy="1097280"/>
          </a:xfrm>
          <a:prstGeom prst="rect">
            <a:avLst/>
          </a:prstGeom>
          <a:noFill/>
          <a:ln/>
        </p:spPr>
        <p:txBody>
          <a:bodyPr wrap="square" rtlCol="0" anchor="ctr"/>
          <a:lstStyle/>
          <a:p>
            <a:pPr indent="0" marL="0">
              <a:lnSpc>
                <a:spcPts val="2500"/>
              </a:lnSpc>
              <a:buNone/>
            </a:pPr>
            <a:r>
              <a:rPr lang="en-US" sz="1800" dirty="0">
                <a:solidFill>
                  <a:srgbClr val="CBD5E1"/>
                </a:solidFill>
                <a:latin typeface="Calibri" pitchFamily="34" charset="0"/>
                <a:ea typeface="Calibri" pitchFamily="34" charset="-122"/>
                <a:cs typeface="Calibri" pitchFamily="34" charset="-120"/>
              </a:rPr>
              <a:t>Beyond text-in, text-out: prompt across languages, give models tools, and let them write and run code.</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Venkat Loganathan  ·  Prompt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MODULE 5 · OBJECTIVES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By the end of this module</a:t>
            </a:r>
            <a:endParaRPr lang="en-US" sz="3200" dirty="0"/>
          </a:p>
        </p:txBody>
      </p:sp>
      <p:sp>
        <p:nvSpPr>
          <p:cNvPr id="4" name="Shape 2"/>
          <p:cNvSpPr/>
          <p:nvPr/>
        </p:nvSpPr>
        <p:spPr>
          <a:xfrm>
            <a:off x="548640" y="1737360"/>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04672" y="1979676"/>
            <a:ext cx="548640" cy="548640"/>
          </a:xfrm>
          <a:prstGeom prst="ellipse">
            <a:avLst/>
          </a:prstGeom>
          <a:solidFill>
            <a:srgbClr val="4F46E5"/>
          </a:solidFill>
          <a:ln/>
        </p:spPr>
      </p:sp>
      <p:sp>
        <p:nvSpPr>
          <p:cNvPr id="6" name="Text 4"/>
          <p:cNvSpPr/>
          <p:nvPr/>
        </p:nvSpPr>
        <p:spPr>
          <a:xfrm>
            <a:off x="804672" y="1979676"/>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45920" y="1737360"/>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Prompt across languages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translate-then-solve and cross-lingual prompts.</a:t>
            </a:r>
            <a:endParaRPr lang="en-US" sz="1550" dirty="0"/>
          </a:p>
        </p:txBody>
      </p:sp>
      <p:sp>
        <p:nvSpPr>
          <p:cNvPr id="8" name="Shape 6"/>
          <p:cNvSpPr/>
          <p:nvPr/>
        </p:nvSpPr>
        <p:spPr>
          <a:xfrm>
            <a:off x="548640" y="2916936"/>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9" name="Shape 7"/>
          <p:cNvSpPr/>
          <p:nvPr/>
        </p:nvSpPr>
        <p:spPr>
          <a:xfrm>
            <a:off x="804672" y="3159252"/>
            <a:ext cx="548640" cy="548640"/>
          </a:xfrm>
          <a:prstGeom prst="ellipse">
            <a:avLst/>
          </a:prstGeom>
          <a:solidFill>
            <a:srgbClr val="4F46E5"/>
          </a:solidFill>
          <a:ln/>
        </p:spPr>
      </p:sp>
      <p:sp>
        <p:nvSpPr>
          <p:cNvPr id="10" name="Text 8"/>
          <p:cNvSpPr/>
          <p:nvPr/>
        </p:nvSpPr>
        <p:spPr>
          <a:xfrm>
            <a:off x="804672" y="315925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645920" y="2916936"/>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Give the model tools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function calling: it requests, your code runs.</a:t>
            </a:r>
            <a:endParaRPr lang="en-US" sz="1550" dirty="0"/>
          </a:p>
        </p:txBody>
      </p:sp>
      <p:sp>
        <p:nvSpPr>
          <p:cNvPr id="12" name="Shape 10"/>
          <p:cNvSpPr/>
          <p:nvPr/>
        </p:nvSpPr>
        <p:spPr>
          <a:xfrm>
            <a:off x="548640" y="4096512"/>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3" name="Shape 11"/>
          <p:cNvSpPr/>
          <p:nvPr/>
        </p:nvSpPr>
        <p:spPr>
          <a:xfrm>
            <a:off x="804672" y="4338828"/>
            <a:ext cx="548640" cy="548640"/>
          </a:xfrm>
          <a:prstGeom prst="ellipse">
            <a:avLst/>
          </a:prstGeom>
          <a:solidFill>
            <a:srgbClr val="4F46E5"/>
          </a:solidFill>
          <a:ln/>
        </p:spPr>
      </p:sp>
      <p:sp>
        <p:nvSpPr>
          <p:cNvPr id="14" name="Text 12"/>
          <p:cNvSpPr/>
          <p:nvPr/>
        </p:nvSpPr>
        <p:spPr>
          <a:xfrm>
            <a:off x="804672" y="433882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645920" y="4096512"/>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Build a code-gen agent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generate, run, read the error, repair.</a:t>
            </a:r>
            <a:endParaRPr lang="en-US" sz="1550" dirty="0"/>
          </a:p>
        </p:txBody>
      </p:sp>
      <p:sp>
        <p:nvSpPr>
          <p:cNvPr id="16" name="Shape 14"/>
          <p:cNvSpPr/>
          <p:nvPr/>
        </p:nvSpPr>
        <p:spPr>
          <a:xfrm>
            <a:off x="548640" y="5276088"/>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7" name="Shape 15"/>
          <p:cNvSpPr/>
          <p:nvPr/>
        </p:nvSpPr>
        <p:spPr>
          <a:xfrm>
            <a:off x="804672" y="5518404"/>
            <a:ext cx="548640" cy="548640"/>
          </a:xfrm>
          <a:prstGeom prst="ellipse">
            <a:avLst/>
          </a:prstGeom>
          <a:solidFill>
            <a:srgbClr val="4F46E5"/>
          </a:solidFill>
          <a:ln/>
        </p:spPr>
      </p:sp>
      <p:sp>
        <p:nvSpPr>
          <p:cNvPr id="18" name="Text 16"/>
          <p:cNvSpPr/>
          <p:nvPr/>
        </p:nvSpPr>
        <p:spPr>
          <a:xfrm>
            <a:off x="804672" y="5518404"/>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645920" y="5276088"/>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See the agent pattern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think → act → observe → repeat (ReAct).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EXTENSIONS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Four ways to go further</a:t>
            </a:r>
            <a:endParaRPr lang="en-US" sz="32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22960" y="1993392"/>
            <a:ext cx="365760" cy="365760"/>
          </a:xfrm>
          <a:prstGeom prst="ellipse">
            <a:avLst/>
          </a:prstGeom>
          <a:solidFill>
            <a:srgbClr val="EEF0FF"/>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文</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Multilingual</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Translate → solve → translate back, or prompt directly in the target language; reason in a high-resource language for accuracy.</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0" name="Shape 8"/>
          <p:cNvSpPr/>
          <p:nvPr/>
        </p:nvSpPr>
        <p:spPr>
          <a:xfrm>
            <a:off x="6492240" y="1993392"/>
            <a:ext cx="365760" cy="365760"/>
          </a:xfrm>
          <a:prstGeom prst="ellipse">
            <a:avLst/>
          </a:prstGeom>
          <a:solidFill>
            <a:srgbClr val="EEF0FF"/>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Tool-use agents</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The model emits a structured call (search, calculator, DB); your code runs it and returns the result.</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5" name="Shape 13"/>
          <p:cNvSpPr/>
          <p:nvPr/>
        </p:nvSpPr>
        <p:spPr>
          <a:xfrm>
            <a:off x="822960" y="4407408"/>
            <a:ext cx="365760" cy="365760"/>
          </a:xfrm>
          <a:prstGeom prst="ellipse">
            <a:avLst/>
          </a:prstGeom>
          <a:solidFill>
            <a:srgbClr val="EEF0FF"/>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Code-gen agents</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Generate code, execute it, read the error, and repair — a tight feedback loop.</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20" name="Shape 18"/>
          <p:cNvSpPr/>
          <p:nvPr/>
        </p:nvSpPr>
        <p:spPr>
          <a:xfrm>
            <a:off x="6492240" y="4407408"/>
            <a:ext cx="365760" cy="365760"/>
          </a:xfrm>
          <a:prstGeom prst="ellipse">
            <a:avLst/>
          </a:prstGeom>
          <a:solidFill>
            <a:srgbClr val="EEF0FF"/>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ReAct loop</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Reason, take an action, observe the result, then reason again until done.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MULTILINGUAL PROMPTING</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Three reliable patterns</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Translate-then-solve</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Translate the input to English, solve, then translate the answer back. Leans on the model's strongest language.</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Cross-lingual answer</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Reason in English internally, but 'give the final answer in Tamil/Hindi'. Often beats prompting fully in-language.</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Direct in-language</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For simple tasks, just prompt in the target language — fine when accuracy demands are modest.</a:t>
            </a:r>
            <a:endParaRPr lang="en-US" sz="1550" dirty="0"/>
          </a:p>
        </p:txBody>
      </p:sp>
      <p:sp>
        <p:nvSpPr>
          <p:cNvPr id="5" name="Shape 3"/>
          <p:cNvSpPr/>
          <p:nvPr/>
        </p:nvSpPr>
        <p:spPr>
          <a:xfrm>
            <a:off x="7452360" y="1737360"/>
            <a:ext cx="4160520" cy="4572000"/>
          </a:xfrm>
          <a:prstGeom prst="roundRect">
            <a:avLst>
              <a:gd name="adj" fmla="val 2198"/>
            </a:avLst>
          </a:prstGeom>
          <a:solidFill>
            <a:srgbClr val="EEF0FF"/>
          </a:solidFill>
          <a:ln/>
          <a:effectLst>
            <a:outerShdw sx="100000" sy="100000" kx="0" ky="0" algn="bl" rotWithShape="0" blurRad="101600" dist="38100" dir="5400000">
              <a:srgbClr val="0F172A">
                <a:alpha val="10000"/>
              </a:srgbClr>
            </a:outerShdw>
          </a:effectLst>
        </p:spPr>
      </p:sp>
      <p:sp>
        <p:nvSpPr>
          <p:cNvPr id="6" name="Shape 4"/>
          <p:cNvSpPr/>
          <p:nvPr/>
        </p:nvSpPr>
        <p:spPr>
          <a:xfrm>
            <a:off x="7726680" y="2011680"/>
            <a:ext cx="420624" cy="420624"/>
          </a:xfrm>
          <a:prstGeom prst="ellipse">
            <a:avLst/>
          </a:prstGeom>
          <a:solidFill>
            <a:srgbClr val="4F46E5"/>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50" kern="0" dirty="0">
                <a:solidFill>
                  <a:srgbClr val="4338CA"/>
                </a:solidFill>
                <a:latin typeface="Calibri" pitchFamily="34" charset="0"/>
                <a:ea typeface="Calibri" pitchFamily="34" charset="-122"/>
                <a:cs typeface="Calibri" pitchFamily="34" charset="-120"/>
              </a:rPr>
              <a:t>WATCH OUT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0F172A"/>
                </a:solidFill>
                <a:latin typeface="Calibri" pitchFamily="34" charset="0"/>
                <a:ea typeface="Calibri" pitchFamily="34" charset="-122"/>
                <a:cs typeface="Calibri" pitchFamily="34" charset="-120"/>
              </a:rPr>
              <a:t>Quality varies a lot by language and model — small local models are weaker in low-resource languages. Fix: always spot-check translated output with a fluent reader; never ship an unreviewed answer in a language you can't verify.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TOOL USE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Function calling, step by step</a:t>
            </a:r>
            <a:endParaRPr lang="en-US" sz="3200" dirty="0"/>
          </a:p>
        </p:txBody>
      </p:sp>
      <p:sp>
        <p:nvSpPr>
          <p:cNvPr id="4" name="Shape 2"/>
          <p:cNvSpPr/>
          <p:nvPr/>
        </p:nvSpPr>
        <p:spPr>
          <a:xfrm>
            <a:off x="548640" y="1737360"/>
            <a:ext cx="5349240" cy="4297680"/>
          </a:xfrm>
          <a:prstGeom prst="roundRect">
            <a:avLst>
              <a:gd name="adj" fmla="val 2128"/>
            </a:avLst>
          </a:prstGeom>
          <a:solidFill>
            <a:srgbClr val="0F172A"/>
          </a:solidFill>
          <a:ln/>
          <a:effectLst>
            <a:outerShdw sx="100000" sy="100000" kx="0" ky="0" algn="bl" rotWithShape="0" blurRad="101600" dist="38100" dir="5400000">
              <a:srgbClr val="0F172A">
                <a:alpha val="10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PROMPT</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Tools: calculator(expr)</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User: What's an 18% tip on</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$63.40?</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Reply with a tool call as</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JSON: {"tool":..,"args":..}</a:t>
            </a:r>
            <a:endParaRPr lang="en-US" sz="1250" dirty="0"/>
          </a:p>
        </p:txBody>
      </p:sp>
      <p:sp>
        <p:nvSpPr>
          <p:cNvPr id="7" name="Shape 5"/>
          <p:cNvSpPr/>
          <p:nvPr/>
        </p:nvSpPr>
        <p:spPr>
          <a:xfrm>
            <a:off x="6263640" y="1737360"/>
            <a:ext cx="5349240" cy="4297680"/>
          </a:xfrm>
          <a:prstGeom prst="roundRect">
            <a:avLst>
              <a:gd name="adj" fmla="val 2128"/>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4F46E5"/>
                </a:solidFill>
                <a:latin typeface="Calibri" pitchFamily="34" charset="0"/>
                <a:ea typeface="Calibri" pitchFamily="34" charset="-122"/>
                <a:cs typeface="Calibri" pitchFamily="34" charset="-120"/>
              </a:rPr>
              <a:t>OUTPUT</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{"tool":"calculator",</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 "args":{"expr":</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 "63.40*0.18"}}</a:t>
            </a:r>
            <a:endParaRPr lang="en-US" sz="1250" dirty="0"/>
          </a:p>
          <a:p>
            <a:pPr indent="0" marL="0">
              <a:lnSpc>
                <a:spcPts val="1700"/>
              </a:lnSpc>
              <a:buNone/>
            </a:pP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(your code runs it -&gt; 11.41)</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Final: An $11.41 tip.</a:t>
            </a:r>
            <a:endParaRPr lang="en-US" sz="125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The model decides which tool and what arguments; your code executes and returns the result. Same as Answer Engineering — just JSON.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REACT</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Reason and act, in a loop</a:t>
            </a:r>
            <a:endParaRPr lang="en-US" sz="3200" dirty="0"/>
          </a:p>
        </p:txBody>
      </p:sp>
      <p:sp>
        <p:nvSpPr>
          <p:cNvPr id="4" name="Shape 2"/>
          <p:cNvSpPr/>
          <p:nvPr/>
        </p:nvSpPr>
        <p:spPr>
          <a:xfrm>
            <a:off x="548640" y="1737360"/>
            <a:ext cx="5349240" cy="4297680"/>
          </a:xfrm>
          <a:prstGeom prst="roundRect">
            <a:avLst>
              <a:gd name="adj" fmla="val 2128"/>
            </a:avLst>
          </a:prstGeom>
          <a:solidFill>
            <a:srgbClr val="0F172A"/>
          </a:solidFill>
          <a:ln/>
          <a:effectLst>
            <a:outerShdw sx="100000" sy="100000" kx="0" ky="0" algn="bl" rotWithShape="0" blurRad="101600" dist="38100" dir="5400000">
              <a:srgbClr val="0F172A">
                <a:alpha val="10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PROMPT</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Q: Capital of the country</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whose currency is the yen?</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Thought: find the currency's</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country, then its capital.</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Action: lookup('yen')</a:t>
            </a:r>
            <a:endParaRPr lang="en-US" sz="1250" dirty="0"/>
          </a:p>
        </p:txBody>
      </p:sp>
      <p:sp>
        <p:nvSpPr>
          <p:cNvPr id="7" name="Shape 5"/>
          <p:cNvSpPr/>
          <p:nvPr/>
        </p:nvSpPr>
        <p:spPr>
          <a:xfrm>
            <a:off x="6263640" y="1737360"/>
            <a:ext cx="5349240" cy="4297680"/>
          </a:xfrm>
          <a:prstGeom prst="roundRect">
            <a:avLst>
              <a:gd name="adj" fmla="val 2128"/>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4F46E5"/>
                </a:solidFill>
                <a:latin typeface="Calibri" pitchFamily="34" charset="0"/>
                <a:ea typeface="Calibri" pitchFamily="34" charset="-122"/>
                <a:cs typeface="Calibri" pitchFamily="34" charset="-120"/>
              </a:rPr>
              <a:t>OUTPUT</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Observation: yen -&gt; Japan</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Thought: capital of Japan.</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Action: lookup('Japan capital')</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Observation: Tokyo</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Answer: Tokyo</a:t>
            </a:r>
            <a:endParaRPr lang="en-US" sz="125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Interleaving thought and action grounds each step in a real result — and makes the model's plan visible and debuggable.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CODE-GENERATION AGENTS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The loop that writes working code</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Generate</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Ask for the function plus a couple of test cases.</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Run</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Execute it. The interpreter is the ground truth — no opinion, just pass or fail.</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Repair</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Feed the traceback back: 'This error occurred; fix the code.' Repeat until tests pass.</a:t>
            </a:r>
            <a:endParaRPr lang="en-US" sz="1550" dirty="0"/>
          </a:p>
        </p:txBody>
      </p:sp>
      <p:sp>
        <p:nvSpPr>
          <p:cNvPr id="5" name="Shape 3"/>
          <p:cNvSpPr/>
          <p:nvPr/>
        </p:nvSpPr>
        <p:spPr>
          <a:xfrm>
            <a:off x="7452360" y="1737360"/>
            <a:ext cx="4160520" cy="4572000"/>
          </a:xfrm>
          <a:prstGeom prst="roundRect">
            <a:avLst>
              <a:gd name="adj" fmla="val 2198"/>
            </a:avLst>
          </a:prstGeom>
          <a:solidFill>
            <a:srgbClr val="EEF0FF"/>
          </a:solidFill>
          <a:ln/>
          <a:effectLst>
            <a:outerShdw sx="100000" sy="100000" kx="0" ky="0" algn="bl" rotWithShape="0" blurRad="101600" dist="38100" dir="5400000">
              <a:srgbClr val="0F172A">
                <a:alpha val="10000"/>
              </a:srgbClr>
            </a:outerShdw>
          </a:effectLst>
        </p:spPr>
      </p:sp>
      <p:sp>
        <p:nvSpPr>
          <p:cNvPr id="6" name="Shape 4"/>
          <p:cNvSpPr/>
          <p:nvPr/>
        </p:nvSpPr>
        <p:spPr>
          <a:xfrm>
            <a:off x="7726680" y="2011680"/>
            <a:ext cx="420624" cy="420624"/>
          </a:xfrm>
          <a:prstGeom prst="ellipse">
            <a:avLst/>
          </a:prstGeom>
          <a:solidFill>
            <a:srgbClr val="4F46E5"/>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50" kern="0" dirty="0">
                <a:solidFill>
                  <a:srgbClr val="4338CA"/>
                </a:solidFill>
                <a:latin typeface="Calibri" pitchFamily="34" charset="0"/>
                <a:ea typeface="Calibri" pitchFamily="34" charset="-122"/>
                <a:cs typeface="Calibri" pitchFamily="34" charset="-120"/>
              </a:rPr>
              <a:t>SAY THIS IN CLASS</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0F172A"/>
                </a:solidFill>
                <a:latin typeface="Calibri" pitchFamily="34" charset="0"/>
                <a:ea typeface="Calibri" pitchFamily="34" charset="-122"/>
                <a:cs typeface="Calibri" pitchFamily="34" charset="-120"/>
              </a:rPr>
              <a:t>A code agent is a student taking an open-book exam with an answer key: it writes an attempt, checks it against the tests, and revises until it passes. The execution feedback is what makes it far more reliable than one-shot code generation.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4F46E5">
              <a:alpha val="20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HANDS-ON LAB  ·  ~60% OF THIS MODULE</a:t>
            </a:r>
            <a:endParaRPr lang="en-US" sz="1200" dirty="0"/>
          </a:p>
        </p:txBody>
      </p:sp>
      <p:sp>
        <p:nvSpPr>
          <p:cNvPr id="4" name="Text 2"/>
          <p:cNvSpPr/>
          <p:nvPr/>
        </p:nvSpPr>
        <p:spPr>
          <a:xfrm>
            <a:off x="548640" y="1097280"/>
            <a:ext cx="10789920" cy="1005840"/>
          </a:xfrm>
          <a:prstGeom prst="rect">
            <a:avLst/>
          </a:prstGeom>
          <a:noFill/>
          <a:ln/>
        </p:spPr>
        <p:txBody>
          <a:bodyPr wrap="square" lIns="0" tIns="0" rIns="0" bIns="0" rtlCol="0" anchor="ctr"/>
          <a:lstStyle/>
          <a:p>
            <a:pPr indent="0" marL="0">
              <a:buNone/>
            </a:pPr>
            <a:r>
              <a:rPr lang="en-US" sz="3800" b="1" spc="-50" kern="0" dirty="0">
                <a:solidFill>
                  <a:srgbClr val="FFFFFF"/>
                </a:solidFill>
                <a:latin typeface="Calibri" pitchFamily="34" charset="0"/>
                <a:ea typeface="Calibri" pitchFamily="34" charset="-122"/>
                <a:cs typeface="Calibri" pitchFamily="34" charset="-120"/>
              </a:rPr>
              <a:t>Lab 6 · Build a Tool-Using Agent</a:t>
            </a:r>
            <a:endParaRPr lang="en-US" sz="3800" dirty="0"/>
          </a:p>
        </p:txBody>
      </p:sp>
      <p:sp>
        <p:nvSpPr>
          <p:cNvPr id="5" name="Text 3"/>
          <p:cNvSpPr/>
          <p:nvPr/>
        </p:nvSpPr>
        <p:spPr>
          <a:xfrm>
            <a:off x="548640" y="2286000"/>
            <a:ext cx="10424160" cy="1371600"/>
          </a:xfrm>
          <a:prstGeom prst="rect">
            <a:avLst/>
          </a:prstGeom>
          <a:noFill/>
          <a:ln/>
        </p:spPr>
        <p:txBody>
          <a:bodyPr wrap="square" rtlCol="0" anchor="t"/>
          <a:lstStyle/>
          <a:p>
            <a:pPr indent="0" marL="0">
              <a:lnSpc>
                <a:spcPts val="2500"/>
              </a:lnSpc>
              <a:buNone/>
            </a:pPr>
            <a:r>
              <a:rPr lang="en-US" sz="1700" dirty="0">
                <a:solidFill>
                  <a:srgbClr val="CBD5E1"/>
                </a:solidFill>
                <a:latin typeface="Calibri" pitchFamily="34" charset="0"/>
                <a:ea typeface="Calibri" pitchFamily="34" charset="-122"/>
                <a:cs typeface="Calibri" pitchFamily="34" charset="-120"/>
              </a:rPr>
              <a:t>Build a small agent that calls a calculator and a lookup tool via function-calling prompts, add a code-generation mini-task, and try a multilingual exercise.</a:t>
            </a:r>
            <a:endParaRPr lang="en-US" sz="1700" dirty="0"/>
          </a:p>
        </p:txBody>
      </p:sp>
      <p:sp>
        <p:nvSpPr>
          <p:cNvPr id="6" name="Text 4"/>
          <p:cNvSpPr/>
          <p:nvPr/>
        </p:nvSpPr>
        <p:spPr>
          <a:xfrm>
            <a:off x="548640" y="3977640"/>
            <a:ext cx="100584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YOU'LL PRODUCE</a:t>
            </a:r>
            <a:endParaRPr lang="en-US" sz="1200" dirty="0"/>
          </a:p>
        </p:txBody>
      </p:sp>
      <p:sp>
        <p:nvSpPr>
          <p:cNvPr id="7" name="Text 5"/>
          <p:cNvSpPr/>
          <p:nvPr/>
        </p:nvSpPr>
        <p:spPr>
          <a:xfrm>
            <a:off x="548640" y="4297680"/>
            <a:ext cx="10424160" cy="173736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A working tool-using agent loop</a:t>
            </a:r>
            <a:endParaRPr lang="en-US" sz="1500" dirty="0"/>
          </a:p>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A code-gen task that runs and self-repairs</a:t>
            </a:r>
            <a:endParaRPr lang="en-US" sz="1500" dirty="0"/>
          </a:p>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A multilingual prompt experiment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4F46E5">
              <a:alpha val="18000"/>
            </a:srgbClr>
          </a:solidFill>
          <a:ln/>
        </p:spPr>
      </p:sp>
      <p:sp>
        <p:nvSpPr>
          <p:cNvPr id="3" name="Shape 1"/>
          <p:cNvSpPr/>
          <p:nvPr/>
        </p:nvSpPr>
        <p:spPr>
          <a:xfrm>
            <a:off x="548640" y="640080"/>
            <a:ext cx="548640" cy="548640"/>
          </a:xfrm>
          <a:prstGeom prst="roundRect">
            <a:avLst>
              <a:gd name="adj" fmla="val 22000"/>
            </a:avLst>
          </a:prstGeom>
          <a:solidFill>
            <a:srgbClr val="4F46E5"/>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Module 5 recap</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Reason in a strong language, answer in the target language</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Tool use = well-shaped JSON the model requests, your code runs</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Code-gen agents generate → run → repair against real feedback</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ReAct — think, act, observe, repeat — is the agent blueprint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2026-07-16T17:51:48Z</dcterms:created>
  <dcterms:modified xsi:type="dcterms:W3CDTF">2026-07-16T17:51:48Z</dcterms:modified>
</cp:coreProperties>
</file>