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 — Introduction to Prompts. This is our foundations module, and I want to be honest with you about why it matters even if you've used ChatGPT a hundred times. Most people have never actually been taught what a token is, or what temperature does, or why a model sometimes just makes things up. And that gap is exactly why their results are inconsistent. So over the next hour we're going to build shared vocabulary and, more importantly, demystify the model so that prompting feels like engineering rather than magic. We'll finish with your very first lab, where you'll run the same prompt on three different models and see the differences with your own eyes. Let's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you'll be able to do by the end of this module. You'll be able to speak the language — define a prompt, a token, a context window, and temperature without hesitating. You'll be able to read the anatomy of a prompt and name its parts. You'll be able to explain, in plain words, how a language model produces an answer and why it sometimes hallucinates. And you'll have compared the same task across three models in the lab. Here's my simple test for whether this module worked: if, tonight, you could explain to a friend what temperature does and why a model occasionally makes things up — then we succeeded. All four of these feed directly into CO1, because you cannot optimize a prompt if you don't understand the machine you're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let's start with the most basic question: what exactly is a prompt? Most people think a prompt is the question you type. It's bigger than that. A prompt is the entire input the model sees — the system instructions, the conversation history so far, any documents you've pasted in, and your latest message. All of it. Now here's the mental shift I really want you to make. A language model doesn't 'answer' a question the way a person does. Under the hood, it continues text — it predicts what most likely comes next. So when you write a prompt, what you're really doing is setting up a piece of text and asking the model to finish it in the most probable way. That means everything in this course boils down to one skill: arranging that input so that the most likely continuation happens to be the answer you actually want. Read the box with me — you are not asking a question and hoping, you are engineering the conditions under which the right answer is the most probable next text. Once that clicks, you stop pleading with the model and start designing its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four words we'll use constantly, so let's nail them down. A prompt, we just defined — the full input. A token is a word-piece, roughly three-quarters of a word. The model doesn't read whole words; it reads these little chunks, and it also 'thinks' and gets billed in tokens. A long word like 'unbelievable' might be three tokens. The context window is the maximum number of tokens the model can hold in mind at once — think of it as the model's working memory, or better, its desk. Only what's on the desk gets used. When the desk fills up, the oldest papers fall off the edge — and that's literally why a very long chat starts to 'forget' what you said at the beginning. And temperature is the randomness dial, from zero upward. Low temperature means focused and repeatable; high means varied and creative. Here's the thing to remember: temperature is the creativity dial, not the intelligence dial. Turning it up doesn't make the model smarter — it just makes it less 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checklist you'll use for the rest of your life. A strong prompt has up to five components. One, the role or system message — who the model should be, like 'You are a meticulous data engineer.' That sets the voice and the priorities. Two, the instruction — the one clear task, and I want you to start it with a verb: summarize, classify, extract, rewrite. Three, context — the data or documents or constraints it should work from. Four, examples — demonstrations of the input-to-output you want; that's few-shot, and we'll go deep on it next module. Five, the output format — exactly how the answer should look. Now, you rarely need all five at once. But naming them is powerful, because it turns 'the prompt didn't work' into a specific, fixable fault. Wrong tone? Fix the role. Wrong format? Fix the output spec. It made something up? Add context. The most common mistake I see is jamming all five into one long run-on sentence. The fix is easy — put each on its own line, label it, and lead with the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why this matters with a real example, and if you've got a laptop open, follow along. Here on the left, I've pasted a nine-hundred-word product review and simply said 'Summarize this.' Look at what comes back on the right — a long, rambling summary. The length is unpredictable, the focus is whatever the model felt like, the tone is all over the place. Now — was that the model's fault? No. It did nothing wrong. It produced a perfectly plausible summary. The problem is that I never told it what 'good' meant. Vague in, vague out. Keep that phrase. Now watch what happens on the next slide when I actually specify what I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review, same model — but now look at the prompt. I've asked for exactly two bullets, one pro and one con, a maximum of fifteen words each, in a plain factual tone. And the output on the right is now predictable, tight, and — this is the key part — reusable. I could drop this straight into a database or a dashboard. Notice I gave it three constraints: a count, a length, and a tone. That's a little preview of Module 4, Answer Engineering, which is all about shaping the output. The lesson to write down is this: specific beats vague, every single time. Constrain your output on purpose. Quick question for the room — what other constraints could I have added here? Language, maybe? 'No emojis'? 'Include one exact quote from the review'? Good — you're already thinking like prompt engineers.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give you sixty seconds of history, so that prompting doesn't feel like it appeared out of nowhere. Before about 2020, if you wanted AI to do a task, you engineered features — you hand-built rules, you collected a large labelled dataset, and you trained a brand-new model just for that one task. It took weeks, and it was brittle. Then GPT-3 came along and showed something remarkable called in-context learning: you could just give the model a few examples inside the prompt, and it would adapt on the spot — no training at all. After that, instruction tuning taught models to follow plain requests, and a technique called RLHF made them into the helpful, reasonably safe chat assistants you use today. The upshot for you is this: the interface to powerful AI became ordinary language. That's exactly why being good at prompting is leverage now — the skill barrier moved from 'can you train a model' to 'can you instruct one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single most important concept in this module — hallucination. Why do these models confidently make things up? Here's the mechanism, and I want you to understand it, not just fear it. The model does not have a database of facts it looks things up in. It generates the most probable next tokens. Most of the time, the most probable text also happens to be true — but not always. When the model doesn't actually 'know' something, the likeliest continuation is still a confident, fluent, well-formed sentence — that just happens to be invented. The model has no built-in sense of 'I'm unsure.' So please write this down: fluent does not mean correct. A beautifully written sentence can be completely wrong. Here's the line I want you to remember — the model is a brilliant improviser, not a librarian. Ask it to recite a fact it only half-knows, and it will improvise a convincing answer. Now, the good news: this is not a dead end. We engineer around it — we give the model the facts using retrieval, which is Module 6; we ask it to reason step by step; and we always verify the output. Hallucination isn't a bug we ignore, it's a risk we design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 time for your first lab. This one is all about felt experience, so don't overthink it. Here's what you'll do. Pick one simple task — say, 'write a three-line product description for a water bottle.' Run that exact same prompt on ChatGPT, on Claude, and on llama3.2 through Ollama. Notice how the three differ. Then, on the local model, run it twice more — once at temperature zero and once at temperature nine — and watch how the variability changes. Finally, take your prompt and rewrite it properly using the five components we just learned. You've got about forty minutes. I'll be walking around, so grab me if you're stuck. If Ollama didn't install, pair up with someone whose did — you'll still get everything out of the lab. 'Done' looks like a filled-in comparison of the three models plus one clean, five-part prompt. Off you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recap Module 1 before we move on, and I'm going to check your understanding with a couple of quick questions. First, the big ideas: a prompt is the whole input, and the model completes it. A strong prompt has five parts — role, instruction, context, examples, format. Your three dials are tokens, context window, and temperature. And because the model predicts rather than looks up, it can hallucinate — so specific, grounded, and verified always beats vague. Okay — someone tell me, in one sentence, what temperature does. Good. Someone else — name three of the five components of a prompt. Great. And last — why does a model hallucinate? Perfect. If you can answer those three, you're ready for Module 2, where we start actively steering that completion using examples and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4F46E5">
              <a:alpha val="22000"/>
            </a:srgbClr>
          </a:solidFill>
          <a:ln/>
        </p:spPr>
      </p:sp>
      <p:sp>
        <p:nvSpPr>
          <p:cNvPr id="3" name="Shape 1"/>
          <p:cNvSpPr/>
          <p:nvPr/>
        </p:nvSpPr>
        <p:spPr>
          <a:xfrm>
            <a:off x="-2194560" y="4754880"/>
            <a:ext cx="5029200" cy="5029200"/>
          </a:xfrm>
          <a:prstGeom prst="ellipse">
            <a:avLst/>
          </a:prstGeom>
          <a:solidFill>
            <a:srgbClr val="22D3EE">
              <a:alpha val="12000"/>
            </a:srgbClr>
          </a:solidFill>
          <a:ln/>
        </p:spPr>
      </p:sp>
      <p:sp>
        <p:nvSpPr>
          <p:cNvPr id="4" name="Shape 2"/>
          <p:cNvSpPr/>
          <p:nvPr/>
        </p:nvSpPr>
        <p:spPr>
          <a:xfrm>
            <a:off x="548640" y="640080"/>
            <a:ext cx="658368" cy="658368"/>
          </a:xfrm>
          <a:prstGeom prst="roundRect">
            <a:avLst>
              <a:gd name="adj" fmla="val 22000"/>
            </a:avLst>
          </a:prstGeom>
          <a:solidFill>
            <a:srgbClr val="4F46E5"/>
          </a:solidFill>
          <a:ln/>
        </p:spPr>
      </p:sp>
      <p:sp>
        <p:nvSpPr>
          <p:cNvPr id="5" name="Text 3"/>
          <p:cNvSpPr/>
          <p:nvPr/>
        </p:nvSpPr>
        <p:spPr>
          <a:xfrm>
            <a:off x="548640" y="640080"/>
            <a:ext cx="658368" cy="658368"/>
          </a:xfrm>
          <a:prstGeom prst="rect">
            <a:avLst/>
          </a:prstGeom>
          <a:noFill/>
          <a:ln/>
        </p:spPr>
        <p:txBody>
          <a:bodyPr wrap="square" rtlCol="0" anchor="ctr"/>
          <a:lstStyle/>
          <a:p>
            <a:pPr algn="ctr" indent="0" marL="0">
              <a:buNone/>
            </a:pPr>
            <a:r>
              <a:rPr lang="en-US" sz="2736" b="1" dirty="0">
                <a:solidFill>
                  <a:srgbClr val="FFFFFF"/>
                </a:solidFill>
                <a:latin typeface="Calibri" pitchFamily="34" charset="0"/>
                <a:ea typeface="Calibri" pitchFamily="34" charset="-122"/>
                <a:cs typeface="Calibri" pitchFamily="34" charset="-120"/>
              </a:rPr>
              <a:t>VL</a:t>
            </a:r>
            <a:endParaRPr lang="en-US" sz="2736" dirty="0"/>
          </a:p>
        </p:txBody>
      </p:sp>
      <p:sp>
        <p:nvSpPr>
          <p:cNvPr id="6" name="Text 4"/>
          <p:cNvSpPr/>
          <p:nvPr/>
        </p:nvSpPr>
        <p:spPr>
          <a:xfrm>
            <a:off x="548640" y="2331720"/>
            <a:ext cx="10058400" cy="274320"/>
          </a:xfrm>
          <a:prstGeom prst="rect">
            <a:avLst/>
          </a:prstGeom>
          <a:noFill/>
          <a:ln/>
        </p:spPr>
        <p:txBody>
          <a:bodyPr wrap="square" lIns="0" tIns="0" rIns="0" bIns="0" rtlCol="0" anchor="ctr"/>
          <a:lstStyle/>
          <a:p>
            <a:pPr indent="0" marL="0">
              <a:buNone/>
            </a:pPr>
            <a:r>
              <a:rPr lang="en-US" sz="1200" b="1" spc="250" kern="0" dirty="0">
                <a:solidFill>
                  <a:srgbClr val="22D3EE"/>
                </a:solidFill>
                <a:latin typeface="Calibri" pitchFamily="34" charset="0"/>
                <a:ea typeface="Calibri" pitchFamily="34" charset="-122"/>
                <a:cs typeface="Calibri" pitchFamily="34" charset="-120"/>
              </a:rPr>
              <a:t>MODULE 1</a:t>
            </a:r>
            <a:endParaRPr lang="en-US" sz="1200" dirty="0"/>
          </a:p>
        </p:txBody>
      </p:sp>
      <p:sp>
        <p:nvSpPr>
          <p:cNvPr id="7" name="Text 5"/>
          <p:cNvSpPr/>
          <p:nvPr/>
        </p:nvSpPr>
        <p:spPr>
          <a:xfrm>
            <a:off x="548640" y="2606040"/>
            <a:ext cx="10881360" cy="1737360"/>
          </a:xfrm>
          <a:prstGeom prst="rect">
            <a:avLst/>
          </a:prstGeom>
          <a:noFill/>
          <a:ln/>
        </p:spPr>
        <p:txBody>
          <a:bodyPr wrap="square" rtlCol="0" anchor="ctr"/>
          <a:lstStyle/>
          <a:p>
            <a:pPr indent="0" marL="0">
              <a:lnSpc>
                <a:spcPts val="4800"/>
              </a:lnSpc>
              <a:buNone/>
            </a:pPr>
            <a:r>
              <a:rPr lang="en-US" sz="4600" b="1" spc="-50" kern="0" dirty="0">
                <a:solidFill>
                  <a:srgbClr val="FFFFFF"/>
                </a:solidFill>
                <a:latin typeface="Calibri" pitchFamily="34" charset="0"/>
                <a:ea typeface="Calibri" pitchFamily="34" charset="-122"/>
                <a:cs typeface="Calibri" pitchFamily="34" charset="-120"/>
              </a:rPr>
              <a:t>Introduction to Prompts</a:t>
            </a:r>
            <a:endParaRPr lang="en-US" sz="4600" dirty="0"/>
          </a:p>
        </p:txBody>
      </p:sp>
      <p:sp>
        <p:nvSpPr>
          <p:cNvPr id="8" name="Text 6"/>
          <p:cNvSpPr/>
          <p:nvPr/>
        </p:nvSpPr>
        <p:spPr>
          <a:xfrm>
            <a:off x="548640" y="4434840"/>
            <a:ext cx="9875520" cy="1097280"/>
          </a:xfrm>
          <a:prstGeom prst="rect">
            <a:avLst/>
          </a:prstGeom>
          <a:noFill/>
          <a:ln/>
        </p:spPr>
        <p:txBody>
          <a:bodyPr wrap="square" rtlCol="0" anchor="ctr"/>
          <a:lstStyle/>
          <a:p>
            <a:pPr indent="0" marL="0">
              <a:lnSpc>
                <a:spcPts val="2500"/>
              </a:lnSpc>
              <a:buNone/>
            </a:pPr>
            <a:r>
              <a:rPr lang="en-US" sz="1800" dirty="0">
                <a:solidFill>
                  <a:srgbClr val="CBD5E1"/>
                </a:solidFill>
                <a:latin typeface="Calibri" pitchFamily="34" charset="0"/>
                <a:ea typeface="Calibri" pitchFamily="34" charset="-122"/>
                <a:cs typeface="Calibri" pitchFamily="34" charset="-120"/>
              </a:rPr>
              <a:t>What a prompt is, where prompting came from, and how a language model actually turns your words into an answer.</a:t>
            </a:r>
            <a:endParaRPr lang="en-US" sz="1800" dirty="0"/>
          </a:p>
        </p:txBody>
      </p:sp>
      <p:sp>
        <p:nvSpPr>
          <p:cNvPr id="9" name="Text 7"/>
          <p:cNvSpPr/>
          <p:nvPr/>
        </p:nvSpPr>
        <p:spPr>
          <a:xfrm>
            <a:off x="548640" y="6263640"/>
            <a:ext cx="109728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Venkat Loganathan  ·  Prompt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MODULE 1 · OBJECTIVES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By the end of this module</a:t>
            </a:r>
            <a:endParaRPr lang="en-US" sz="3200" dirty="0"/>
          </a:p>
        </p:txBody>
      </p:sp>
      <p:sp>
        <p:nvSpPr>
          <p:cNvPr id="4" name="Shape 2"/>
          <p:cNvSpPr/>
          <p:nvPr/>
        </p:nvSpPr>
        <p:spPr>
          <a:xfrm>
            <a:off x="548640" y="1737360"/>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04672" y="1979676"/>
            <a:ext cx="548640" cy="548640"/>
          </a:xfrm>
          <a:prstGeom prst="ellipse">
            <a:avLst/>
          </a:prstGeom>
          <a:solidFill>
            <a:srgbClr val="4F46E5"/>
          </a:solidFill>
          <a:ln/>
        </p:spPr>
      </p:sp>
      <p:sp>
        <p:nvSpPr>
          <p:cNvPr id="6" name="Text 4"/>
          <p:cNvSpPr/>
          <p:nvPr/>
        </p:nvSpPr>
        <p:spPr>
          <a:xfrm>
            <a:off x="804672" y="1979676"/>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645920" y="1737360"/>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Speak the language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define prompt, token, context window, temperature.</a:t>
            </a:r>
            <a:endParaRPr lang="en-US" sz="1550" dirty="0"/>
          </a:p>
        </p:txBody>
      </p:sp>
      <p:sp>
        <p:nvSpPr>
          <p:cNvPr id="8" name="Shape 6"/>
          <p:cNvSpPr/>
          <p:nvPr/>
        </p:nvSpPr>
        <p:spPr>
          <a:xfrm>
            <a:off x="548640" y="2916936"/>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9" name="Shape 7"/>
          <p:cNvSpPr/>
          <p:nvPr/>
        </p:nvSpPr>
        <p:spPr>
          <a:xfrm>
            <a:off x="804672" y="3159252"/>
            <a:ext cx="548640" cy="548640"/>
          </a:xfrm>
          <a:prstGeom prst="ellipse">
            <a:avLst/>
          </a:prstGeom>
          <a:solidFill>
            <a:srgbClr val="4F46E5"/>
          </a:solidFill>
          <a:ln/>
        </p:spPr>
      </p:sp>
      <p:sp>
        <p:nvSpPr>
          <p:cNvPr id="10" name="Text 8"/>
          <p:cNvSpPr/>
          <p:nvPr/>
        </p:nvSpPr>
        <p:spPr>
          <a:xfrm>
            <a:off x="804672" y="3159252"/>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645920" y="2916936"/>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Read a prompt's anatomy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role, instruction, context, examples, output format.</a:t>
            </a:r>
            <a:endParaRPr lang="en-US" sz="1550" dirty="0"/>
          </a:p>
        </p:txBody>
      </p:sp>
      <p:sp>
        <p:nvSpPr>
          <p:cNvPr id="12" name="Shape 10"/>
          <p:cNvSpPr/>
          <p:nvPr/>
        </p:nvSpPr>
        <p:spPr>
          <a:xfrm>
            <a:off x="548640" y="4096512"/>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3" name="Shape 11"/>
          <p:cNvSpPr/>
          <p:nvPr/>
        </p:nvSpPr>
        <p:spPr>
          <a:xfrm>
            <a:off x="804672" y="4338828"/>
            <a:ext cx="548640" cy="548640"/>
          </a:xfrm>
          <a:prstGeom prst="ellipse">
            <a:avLst/>
          </a:prstGeom>
          <a:solidFill>
            <a:srgbClr val="4F46E5"/>
          </a:solidFill>
          <a:ln/>
        </p:spPr>
      </p:sp>
      <p:sp>
        <p:nvSpPr>
          <p:cNvPr id="14" name="Text 12"/>
          <p:cNvSpPr/>
          <p:nvPr/>
        </p:nvSpPr>
        <p:spPr>
          <a:xfrm>
            <a:off x="804672" y="4338828"/>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1645920" y="4096512"/>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Explain how LLMs answer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next-token prediction and why models hallucinate.</a:t>
            </a:r>
            <a:endParaRPr lang="en-US" sz="1550" dirty="0"/>
          </a:p>
        </p:txBody>
      </p:sp>
      <p:sp>
        <p:nvSpPr>
          <p:cNvPr id="16" name="Shape 14"/>
          <p:cNvSpPr/>
          <p:nvPr/>
        </p:nvSpPr>
        <p:spPr>
          <a:xfrm>
            <a:off x="548640" y="5276088"/>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7" name="Shape 15"/>
          <p:cNvSpPr/>
          <p:nvPr/>
        </p:nvSpPr>
        <p:spPr>
          <a:xfrm>
            <a:off x="804672" y="5518404"/>
            <a:ext cx="548640" cy="548640"/>
          </a:xfrm>
          <a:prstGeom prst="ellipse">
            <a:avLst/>
          </a:prstGeom>
          <a:solidFill>
            <a:srgbClr val="4F46E5"/>
          </a:solidFill>
          <a:ln/>
        </p:spPr>
      </p:sp>
      <p:sp>
        <p:nvSpPr>
          <p:cNvPr id="18" name="Text 16"/>
          <p:cNvSpPr/>
          <p:nvPr/>
        </p:nvSpPr>
        <p:spPr>
          <a:xfrm>
            <a:off x="804672" y="5518404"/>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1645920" y="5276088"/>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Compare models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run one task across ChatGPT, Claude and a local model.</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DEFINITION</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What exactly is a prompt?</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A prompt is the entire input</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Not just your question — it's every token the model sees: system instructions, the conversation so far, retrieved documents, and your latest message.</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The model completes it</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An LLM doesn't 'answer' so much as continue the text in the most likely way. Your prompt sets up what a likely continuation looks like.</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Better setup, better completion</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Everything in this course is about arranging that input so the most likely continuation is the answer you actually want.</a:t>
            </a:r>
            <a:endParaRPr lang="en-US" sz="1550" dirty="0"/>
          </a:p>
        </p:txBody>
      </p:sp>
      <p:sp>
        <p:nvSpPr>
          <p:cNvPr id="5" name="Shape 3"/>
          <p:cNvSpPr/>
          <p:nvPr/>
        </p:nvSpPr>
        <p:spPr>
          <a:xfrm>
            <a:off x="7452360" y="1737360"/>
            <a:ext cx="4160520" cy="4572000"/>
          </a:xfrm>
          <a:prstGeom prst="roundRect">
            <a:avLst>
              <a:gd name="adj" fmla="val 2198"/>
            </a:avLst>
          </a:prstGeom>
          <a:solidFill>
            <a:srgbClr val="EEF0FF"/>
          </a:solidFill>
          <a:ln/>
          <a:effectLst>
            <a:outerShdw sx="100000" sy="100000" kx="0" ky="0" algn="bl" rotWithShape="0" blurRad="101600" dist="38100" dir="5400000">
              <a:srgbClr val="0F172A">
                <a:alpha val="10000"/>
              </a:srgbClr>
            </a:outerShdw>
          </a:effectLst>
        </p:spPr>
      </p:sp>
      <p:sp>
        <p:nvSpPr>
          <p:cNvPr id="6" name="Shape 4"/>
          <p:cNvSpPr/>
          <p:nvPr/>
        </p:nvSpPr>
        <p:spPr>
          <a:xfrm>
            <a:off x="7726680" y="2011680"/>
            <a:ext cx="420624" cy="420624"/>
          </a:xfrm>
          <a:prstGeom prst="ellipse">
            <a:avLst/>
          </a:prstGeom>
          <a:solidFill>
            <a:srgbClr val="4F46E5"/>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50" kern="0" dirty="0">
                <a:solidFill>
                  <a:srgbClr val="4338CA"/>
                </a:solidFill>
                <a:latin typeface="Calibri" pitchFamily="34" charset="0"/>
                <a:ea typeface="Calibri" pitchFamily="34" charset="-122"/>
                <a:cs typeface="Calibri" pitchFamily="34" charset="-120"/>
              </a:rPr>
              <a:t>THE BIG IDEA</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0F172A"/>
                </a:solidFill>
                <a:latin typeface="Calibri" pitchFamily="34" charset="0"/>
                <a:ea typeface="Calibri" pitchFamily="34" charset="-122"/>
                <a:cs typeface="Calibri" pitchFamily="34" charset="-120"/>
              </a:rPr>
              <a:t>You are not asking a question — you are engineering the conditions under which the right answer is the most probable next text. Students who internalize this stop pleading with the model and start designing its input.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TERMINOLOGY</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The words we'll use all course</a:t>
            </a:r>
            <a:endParaRPr lang="en-US" sz="3200" dirty="0"/>
          </a:p>
        </p:txBody>
      </p:sp>
      <p:sp>
        <p:nvSpPr>
          <p:cNvPr id="4" name="Shape 2"/>
          <p:cNvSpPr/>
          <p:nvPr/>
        </p:nvSpPr>
        <p:spPr>
          <a:xfrm>
            <a:off x="548640" y="1737360"/>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22960" y="1993392"/>
            <a:ext cx="365760" cy="365760"/>
          </a:xfrm>
          <a:prstGeom prst="ellipse">
            <a:avLst/>
          </a:prstGeom>
          <a:solidFill>
            <a:srgbClr val="EEF0FF"/>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P</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Prompt</a:t>
            </a:r>
            <a:endParaRPr lang="en-US" sz="1550" dirty="0"/>
          </a:p>
        </p:txBody>
      </p:sp>
      <p:sp>
        <p:nvSpPr>
          <p:cNvPr id="8" name="Text 6"/>
          <p:cNvSpPr/>
          <p:nvPr/>
        </p:nvSpPr>
        <p:spPr>
          <a:xfrm>
            <a:off x="84124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The full input to the model — instructions plus any context and examples.</a:t>
            </a:r>
            <a:endParaRPr lang="en-US" sz="1250" dirty="0"/>
          </a:p>
        </p:txBody>
      </p:sp>
      <p:sp>
        <p:nvSpPr>
          <p:cNvPr id="9" name="Shape 7"/>
          <p:cNvSpPr/>
          <p:nvPr/>
        </p:nvSpPr>
        <p:spPr>
          <a:xfrm>
            <a:off x="6217920" y="1737360"/>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0" name="Shape 8"/>
          <p:cNvSpPr/>
          <p:nvPr/>
        </p:nvSpPr>
        <p:spPr>
          <a:xfrm>
            <a:off x="6492240" y="1993392"/>
            <a:ext cx="365760" cy="365760"/>
          </a:xfrm>
          <a:prstGeom prst="ellipse">
            <a:avLst/>
          </a:prstGeom>
          <a:solidFill>
            <a:srgbClr val="EEF0FF"/>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T</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Token</a:t>
            </a:r>
            <a:endParaRPr lang="en-US" sz="1550" dirty="0"/>
          </a:p>
        </p:txBody>
      </p:sp>
      <p:sp>
        <p:nvSpPr>
          <p:cNvPr id="13" name="Text 11"/>
          <p:cNvSpPr/>
          <p:nvPr/>
        </p:nvSpPr>
        <p:spPr>
          <a:xfrm>
            <a:off x="651052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A word-piece (~¾ of a word). Models read, think and are billed in tokens, not words.</a:t>
            </a:r>
            <a:endParaRPr lang="en-US" sz="1250" dirty="0"/>
          </a:p>
        </p:txBody>
      </p:sp>
      <p:sp>
        <p:nvSpPr>
          <p:cNvPr id="14" name="Shape 12"/>
          <p:cNvSpPr/>
          <p:nvPr/>
        </p:nvSpPr>
        <p:spPr>
          <a:xfrm>
            <a:off x="548640" y="4151376"/>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5" name="Shape 13"/>
          <p:cNvSpPr/>
          <p:nvPr/>
        </p:nvSpPr>
        <p:spPr>
          <a:xfrm>
            <a:off x="822960" y="4407408"/>
            <a:ext cx="365760" cy="365760"/>
          </a:xfrm>
          <a:prstGeom prst="ellipse">
            <a:avLst/>
          </a:prstGeom>
          <a:solidFill>
            <a:srgbClr val="EEF0FF"/>
          </a:solidFill>
          <a:ln/>
        </p:spPr>
      </p:sp>
      <p:sp>
        <p:nvSpPr>
          <p:cNvPr id="16" name="Text 14"/>
          <p:cNvSpPr/>
          <p:nvPr/>
        </p:nvSpPr>
        <p:spPr>
          <a:xfrm>
            <a:off x="822960" y="4407408"/>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C</a:t>
            </a:r>
            <a:endParaRPr lang="en-US" sz="1500" dirty="0"/>
          </a:p>
        </p:txBody>
      </p:sp>
      <p:sp>
        <p:nvSpPr>
          <p:cNvPr id="17" name="Text 15"/>
          <p:cNvSpPr/>
          <p:nvPr/>
        </p:nvSpPr>
        <p:spPr>
          <a:xfrm>
            <a:off x="1325880" y="4389120"/>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Context window</a:t>
            </a:r>
            <a:endParaRPr lang="en-US" sz="1550" dirty="0"/>
          </a:p>
        </p:txBody>
      </p:sp>
      <p:sp>
        <p:nvSpPr>
          <p:cNvPr id="18" name="Text 16"/>
          <p:cNvSpPr/>
          <p:nvPr/>
        </p:nvSpPr>
        <p:spPr>
          <a:xfrm>
            <a:off x="84124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The max tokens a model can hold at once — its working memory. Overflow it and early text is forgotten.</a:t>
            </a:r>
            <a:endParaRPr lang="en-US" sz="1250" dirty="0"/>
          </a:p>
        </p:txBody>
      </p:sp>
      <p:sp>
        <p:nvSpPr>
          <p:cNvPr id="19" name="Shape 17"/>
          <p:cNvSpPr/>
          <p:nvPr/>
        </p:nvSpPr>
        <p:spPr>
          <a:xfrm>
            <a:off x="6217920" y="4151376"/>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20" name="Shape 18"/>
          <p:cNvSpPr/>
          <p:nvPr/>
        </p:nvSpPr>
        <p:spPr>
          <a:xfrm>
            <a:off x="6492240" y="4407408"/>
            <a:ext cx="365760" cy="365760"/>
          </a:xfrm>
          <a:prstGeom prst="ellipse">
            <a:avLst/>
          </a:prstGeom>
          <a:solidFill>
            <a:srgbClr val="EEF0FF"/>
          </a:solidFill>
          <a:ln/>
        </p:spPr>
      </p:sp>
      <p:sp>
        <p:nvSpPr>
          <p:cNvPr id="21" name="Text 19"/>
          <p:cNvSpPr/>
          <p:nvPr/>
        </p:nvSpPr>
        <p:spPr>
          <a:xfrm>
            <a:off x="6492240" y="4407408"/>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6995160" y="4389120"/>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Temperature</a:t>
            </a:r>
            <a:endParaRPr lang="en-US" sz="1550" dirty="0"/>
          </a:p>
        </p:txBody>
      </p:sp>
      <p:sp>
        <p:nvSpPr>
          <p:cNvPr id="23" name="Text 21"/>
          <p:cNvSpPr/>
          <p:nvPr/>
        </p:nvSpPr>
        <p:spPr>
          <a:xfrm>
            <a:off x="651052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Randomness dial (0–1+). Low = focused, repeatable; high = varied, creative.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ANATOMY</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Five components of a strong prompt</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1 · Role / system</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Who the model should be: 'You are a meticulous data engineer.' Sets voice and priorities.</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2 · Instruction</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The one explicit task. Use a verb: summarize, classify, extract, rewrite.</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3 · Context</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The data, documents or constraints to work from.</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4 · Examples</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Demonstrations of the input→output you want (few-shot).</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5 · Output format</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Exactly how the answer should be shaped — length, structure, JSON.</a:t>
            </a:r>
            <a:endParaRPr lang="en-US" sz="1550" dirty="0"/>
          </a:p>
        </p:txBody>
      </p:sp>
      <p:sp>
        <p:nvSpPr>
          <p:cNvPr id="5" name="Shape 3"/>
          <p:cNvSpPr/>
          <p:nvPr/>
        </p:nvSpPr>
        <p:spPr>
          <a:xfrm>
            <a:off x="7452360" y="1737360"/>
            <a:ext cx="4160520" cy="4572000"/>
          </a:xfrm>
          <a:prstGeom prst="roundRect">
            <a:avLst>
              <a:gd name="adj" fmla="val 2198"/>
            </a:avLst>
          </a:prstGeom>
          <a:solidFill>
            <a:srgbClr val="EEF0FF"/>
          </a:solidFill>
          <a:ln/>
          <a:effectLst>
            <a:outerShdw sx="100000" sy="100000" kx="0" ky="0" algn="bl" rotWithShape="0" blurRad="101600" dist="38100" dir="5400000">
              <a:srgbClr val="0F172A">
                <a:alpha val="10000"/>
              </a:srgbClr>
            </a:outerShdw>
          </a:effectLst>
        </p:spPr>
      </p:sp>
      <p:sp>
        <p:nvSpPr>
          <p:cNvPr id="6" name="Shape 4"/>
          <p:cNvSpPr/>
          <p:nvPr/>
        </p:nvSpPr>
        <p:spPr>
          <a:xfrm>
            <a:off x="7726680" y="2011680"/>
            <a:ext cx="420624" cy="420624"/>
          </a:xfrm>
          <a:prstGeom prst="ellipse">
            <a:avLst/>
          </a:prstGeom>
          <a:solidFill>
            <a:srgbClr val="4F46E5"/>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50" kern="0" dirty="0">
                <a:solidFill>
                  <a:srgbClr val="4338CA"/>
                </a:solidFill>
                <a:latin typeface="Calibri" pitchFamily="34" charset="0"/>
                <a:ea typeface="Calibri" pitchFamily="34" charset="-122"/>
                <a:cs typeface="Calibri" pitchFamily="34" charset="-120"/>
              </a:rPr>
              <a:t>WATCH OUT</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0F172A"/>
                </a:solidFill>
                <a:latin typeface="Calibri" pitchFamily="34" charset="0"/>
                <a:ea typeface="Calibri" pitchFamily="34" charset="-122"/>
                <a:cs typeface="Calibri" pitchFamily="34" charset="-120"/>
              </a:rPr>
              <a:t>The most common mistake is fusing all five into one run-on sentence. Fix: put each on its own line, label them, lead with the instruction. Labeled structure is easier for the model to follow and easier for you to debug.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WHY IT MATTERS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Vague vs. specific — same model, same text</a:t>
            </a:r>
            <a:endParaRPr lang="en-US" sz="3200" dirty="0"/>
          </a:p>
        </p:txBody>
      </p:sp>
      <p:sp>
        <p:nvSpPr>
          <p:cNvPr id="4" name="Shape 2"/>
          <p:cNvSpPr/>
          <p:nvPr/>
        </p:nvSpPr>
        <p:spPr>
          <a:xfrm>
            <a:off x="548640" y="1737360"/>
            <a:ext cx="5349240" cy="4297680"/>
          </a:xfrm>
          <a:prstGeom prst="roundRect">
            <a:avLst>
              <a:gd name="adj" fmla="val 2128"/>
            </a:avLst>
          </a:prstGeom>
          <a:solidFill>
            <a:srgbClr val="0F172A"/>
          </a:solidFill>
          <a:ln/>
          <a:effectLst>
            <a:outerShdw sx="100000" sy="100000" kx="0" ky="0" algn="bl" rotWithShape="0" blurRad="101600" dist="38100" dir="5400000">
              <a:srgbClr val="0F172A">
                <a:alpha val="10000"/>
              </a:srgbClr>
            </a:outerShdw>
          </a:effectLst>
        </p:spPr>
      </p:sp>
      <p:sp>
        <p:nvSpPr>
          <p:cNvPr id="5" name="Text 3"/>
          <p:cNvSpPr/>
          <p:nvPr/>
        </p:nvSpPr>
        <p:spPr>
          <a:xfrm>
            <a:off x="822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PROMPT</a:t>
            </a:r>
            <a:endParaRPr lang="en-US" sz="1150" dirty="0"/>
          </a:p>
        </p:txBody>
      </p:sp>
      <p:sp>
        <p:nvSpPr>
          <p:cNvPr id="6" name="Text 4"/>
          <p:cNvSpPr/>
          <p:nvPr/>
        </p:nvSpPr>
        <p:spPr>
          <a:xfrm>
            <a:off x="822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Summarize this.</a:t>
            </a:r>
            <a:endParaRPr lang="en-US" sz="1250" dirty="0"/>
          </a:p>
          <a:p>
            <a:pPr indent="0" marL="0">
              <a:lnSpc>
                <a:spcPts val="1700"/>
              </a:lnSpc>
              <a:buNone/>
            </a:pP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&lt;review&gt;</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...900 words of a</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noisy product review...</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&lt;/review&gt;</a:t>
            </a:r>
            <a:endParaRPr lang="en-US" sz="1250" dirty="0"/>
          </a:p>
        </p:txBody>
      </p:sp>
      <p:sp>
        <p:nvSpPr>
          <p:cNvPr id="7" name="Shape 5"/>
          <p:cNvSpPr/>
          <p:nvPr/>
        </p:nvSpPr>
        <p:spPr>
          <a:xfrm>
            <a:off x="6263640" y="1737360"/>
            <a:ext cx="5349240" cy="4297680"/>
          </a:xfrm>
          <a:prstGeom prst="roundRect">
            <a:avLst>
              <a:gd name="adj" fmla="val 2128"/>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8" name="Text 6"/>
          <p:cNvSpPr/>
          <p:nvPr/>
        </p:nvSpPr>
        <p:spPr>
          <a:xfrm>
            <a:off x="6537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4F46E5"/>
                </a:solidFill>
                <a:latin typeface="Calibri" pitchFamily="34" charset="0"/>
                <a:ea typeface="Calibri" pitchFamily="34" charset="-122"/>
                <a:cs typeface="Calibri" pitchFamily="34" charset="-120"/>
              </a:rPr>
              <a:t>OUTPUT</a:t>
            </a:r>
            <a:endParaRPr lang="en-US" sz="1150" dirty="0"/>
          </a:p>
        </p:txBody>
      </p:sp>
      <p:sp>
        <p:nvSpPr>
          <p:cNvPr id="9" name="Text 7"/>
          <p:cNvSpPr/>
          <p:nvPr/>
        </p:nvSpPr>
        <p:spPr>
          <a:xfrm>
            <a:off x="6537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A long, rambling</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summary of</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unpredictable length,</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focus and tone.</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Useless downstream.</a:t>
            </a:r>
            <a:endParaRPr lang="en-US" sz="1250" dirty="0"/>
          </a:p>
        </p:txBody>
      </p:sp>
      <p:sp>
        <p:nvSpPr>
          <p:cNvPr id="10" name="Text 8"/>
          <p:cNvSpPr/>
          <p:nvPr/>
        </p:nvSpPr>
        <p:spPr>
          <a:xfrm>
            <a:off x="548640" y="6199632"/>
            <a:ext cx="1106424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Nothing about the model changed. Only the instruction was under-specified.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WHY IT MATTERS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Constrain it, and it becomes reliable</a:t>
            </a:r>
            <a:endParaRPr lang="en-US" sz="3200" dirty="0"/>
          </a:p>
        </p:txBody>
      </p:sp>
      <p:sp>
        <p:nvSpPr>
          <p:cNvPr id="4" name="Shape 2"/>
          <p:cNvSpPr/>
          <p:nvPr/>
        </p:nvSpPr>
        <p:spPr>
          <a:xfrm>
            <a:off x="548640" y="1737360"/>
            <a:ext cx="5349240" cy="4297680"/>
          </a:xfrm>
          <a:prstGeom prst="roundRect">
            <a:avLst>
              <a:gd name="adj" fmla="val 2128"/>
            </a:avLst>
          </a:prstGeom>
          <a:solidFill>
            <a:srgbClr val="0F172A"/>
          </a:solidFill>
          <a:ln/>
          <a:effectLst>
            <a:outerShdw sx="100000" sy="100000" kx="0" ky="0" algn="bl" rotWithShape="0" blurRad="101600" dist="38100" dir="5400000">
              <a:srgbClr val="0F172A">
                <a:alpha val="10000"/>
              </a:srgbClr>
            </a:outerShdw>
          </a:effectLst>
        </p:spPr>
      </p:sp>
      <p:sp>
        <p:nvSpPr>
          <p:cNvPr id="5" name="Text 3"/>
          <p:cNvSpPr/>
          <p:nvPr/>
        </p:nvSpPr>
        <p:spPr>
          <a:xfrm>
            <a:off x="822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PROMPT</a:t>
            </a:r>
            <a:endParaRPr lang="en-US" sz="1150" dirty="0"/>
          </a:p>
        </p:txBody>
      </p:sp>
      <p:sp>
        <p:nvSpPr>
          <p:cNvPr id="6" name="Text 4"/>
          <p:cNvSpPr/>
          <p:nvPr/>
        </p:nvSpPr>
        <p:spPr>
          <a:xfrm>
            <a:off x="822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Summarize the review in</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exactly 2 bullets:</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 one pro, one con</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 max 15 words each</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Plain, factual tone.</a:t>
            </a:r>
            <a:endParaRPr lang="en-US" sz="1250" dirty="0"/>
          </a:p>
          <a:p>
            <a:pPr indent="0" marL="0">
              <a:lnSpc>
                <a:spcPts val="1700"/>
              </a:lnSpc>
              <a:buNone/>
            </a:pP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&lt;review&gt;...&lt;/review&gt;</a:t>
            </a:r>
            <a:endParaRPr lang="en-US" sz="1250" dirty="0"/>
          </a:p>
        </p:txBody>
      </p:sp>
      <p:sp>
        <p:nvSpPr>
          <p:cNvPr id="7" name="Shape 5"/>
          <p:cNvSpPr/>
          <p:nvPr/>
        </p:nvSpPr>
        <p:spPr>
          <a:xfrm>
            <a:off x="6263640" y="1737360"/>
            <a:ext cx="5349240" cy="4297680"/>
          </a:xfrm>
          <a:prstGeom prst="roundRect">
            <a:avLst>
              <a:gd name="adj" fmla="val 2128"/>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8" name="Text 6"/>
          <p:cNvSpPr/>
          <p:nvPr/>
        </p:nvSpPr>
        <p:spPr>
          <a:xfrm>
            <a:off x="6537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4F46E5"/>
                </a:solidFill>
                <a:latin typeface="Calibri" pitchFamily="34" charset="0"/>
                <a:ea typeface="Calibri" pitchFamily="34" charset="-122"/>
                <a:cs typeface="Calibri" pitchFamily="34" charset="-120"/>
              </a:rPr>
              <a:t>OUTPUT</a:t>
            </a:r>
            <a:endParaRPr lang="en-US" sz="1150" dirty="0"/>
          </a:p>
        </p:txBody>
      </p:sp>
      <p:sp>
        <p:nvSpPr>
          <p:cNvPr id="9" name="Text 7"/>
          <p:cNvSpPr/>
          <p:nvPr/>
        </p:nvSpPr>
        <p:spPr>
          <a:xfrm>
            <a:off x="6537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 Pro: battery lasts two</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  full days on one charge.</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 Con: camera is weak</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  in low light.</a:t>
            </a:r>
            <a:endParaRPr lang="en-US" sz="1250" dirty="0"/>
          </a:p>
        </p:txBody>
      </p:sp>
      <p:sp>
        <p:nvSpPr>
          <p:cNvPr id="10" name="Text 8"/>
          <p:cNvSpPr/>
          <p:nvPr/>
        </p:nvSpPr>
        <p:spPr>
          <a:xfrm>
            <a:off x="548640" y="6199632"/>
            <a:ext cx="1106424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Specify shape, length and tone → an output you can reuse and even parse.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HISTORY</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How we got to prompting</a:t>
            </a:r>
            <a:endParaRPr lang="en-US" sz="3200" dirty="0"/>
          </a:p>
        </p:txBody>
      </p:sp>
      <p:sp>
        <p:nvSpPr>
          <p:cNvPr id="4" name="Shape 2"/>
          <p:cNvSpPr/>
          <p:nvPr/>
        </p:nvSpPr>
        <p:spPr>
          <a:xfrm>
            <a:off x="548640" y="1737360"/>
            <a:ext cx="5349240" cy="4572000"/>
          </a:xfrm>
          <a:prstGeom prst="roundRect">
            <a:avLst>
              <a:gd name="adj" fmla="val 2000"/>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41248" y="2011680"/>
            <a:ext cx="4764024" cy="438912"/>
          </a:xfrm>
          <a:prstGeom prst="roundRect">
            <a:avLst>
              <a:gd name="adj" fmla="val 16667"/>
            </a:avLst>
          </a:prstGeom>
          <a:solidFill>
            <a:srgbClr val="4F46E5"/>
          </a:solidFill>
          <a:ln/>
        </p:spPr>
      </p:sp>
      <p:sp>
        <p:nvSpPr>
          <p:cNvPr id="6" name="Text 4"/>
          <p:cNvSpPr/>
          <p:nvPr/>
        </p:nvSpPr>
        <p:spPr>
          <a:xfrm>
            <a:off x="841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THEN — engineer the features</a:t>
            </a:r>
            <a:endParaRPr lang="en-US" sz="1400" dirty="0"/>
          </a:p>
        </p:txBody>
      </p:sp>
      <p:sp>
        <p:nvSpPr>
          <p:cNvPr id="7" name="Text 5"/>
          <p:cNvSpPr/>
          <p:nvPr/>
        </p:nvSpPr>
        <p:spPr>
          <a:xfrm>
            <a:off x="914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Hand-crafted features and rules</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A new model trained per task</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Large labelled datasets required</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Brittle; slow and costly to adapt</a:t>
            </a:r>
            <a:endParaRPr lang="en-US" sz="1350" dirty="0"/>
          </a:p>
        </p:txBody>
      </p:sp>
      <p:sp>
        <p:nvSpPr>
          <p:cNvPr id="8" name="Shape 6"/>
          <p:cNvSpPr/>
          <p:nvPr/>
        </p:nvSpPr>
        <p:spPr>
          <a:xfrm>
            <a:off x="6263640" y="1737360"/>
            <a:ext cx="5349240" cy="4572000"/>
          </a:xfrm>
          <a:prstGeom prst="roundRect">
            <a:avLst>
              <a:gd name="adj" fmla="val 2000"/>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9" name="Shape 7"/>
          <p:cNvSpPr/>
          <p:nvPr/>
        </p:nvSpPr>
        <p:spPr>
          <a:xfrm>
            <a:off x="6556248" y="2011680"/>
            <a:ext cx="4764024" cy="438912"/>
          </a:xfrm>
          <a:prstGeom prst="roundRect">
            <a:avLst>
              <a:gd name="adj" fmla="val 16667"/>
            </a:avLst>
          </a:prstGeom>
          <a:solidFill>
            <a:srgbClr val="0F172A"/>
          </a:solidFill>
          <a:ln/>
        </p:spPr>
      </p:sp>
      <p:sp>
        <p:nvSpPr>
          <p:cNvPr id="10" name="Text 8"/>
          <p:cNvSpPr/>
          <p:nvPr/>
        </p:nvSpPr>
        <p:spPr>
          <a:xfrm>
            <a:off x="6556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NOW — engineer the prompt</a:t>
            </a:r>
            <a:endParaRPr lang="en-US" sz="1400" dirty="0"/>
          </a:p>
        </p:txBody>
      </p:sp>
      <p:sp>
        <p:nvSpPr>
          <p:cNvPr id="11" name="Text 9"/>
          <p:cNvSpPr/>
          <p:nvPr/>
        </p:nvSpPr>
        <p:spPr>
          <a:xfrm>
            <a:off x="6629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GPT-3 (2020): learns from examples in the prompt</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Instruction tuning: models follow requests</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RLHF &amp; chat models: helpful, safe by default</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One model, thousands of tasks — steered by words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UNDER THE HOOD</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Why models hallucinate</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It predicts, it doesn't look up</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The model has no database of facts. It generates the most probable next tokens — which usually, but not always, matches the truth.</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Fluent ≠ correct</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A confident, well-formed sentence can be entirely wrong. Fluency is what the model optimizes; accuracy is a side effect.</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The fix is engineering</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Give it the facts (context/RAG), ask it to reason (CoT), and verify the output. All covered later.</a:t>
            </a:r>
            <a:endParaRPr lang="en-US" sz="1550" dirty="0"/>
          </a:p>
        </p:txBody>
      </p:sp>
      <p:sp>
        <p:nvSpPr>
          <p:cNvPr id="5" name="Shape 3"/>
          <p:cNvSpPr/>
          <p:nvPr/>
        </p:nvSpPr>
        <p:spPr>
          <a:xfrm>
            <a:off x="7452360" y="1737360"/>
            <a:ext cx="4160520" cy="4572000"/>
          </a:xfrm>
          <a:prstGeom prst="roundRect">
            <a:avLst>
              <a:gd name="adj" fmla="val 2198"/>
            </a:avLst>
          </a:prstGeom>
          <a:solidFill>
            <a:srgbClr val="EEF0FF"/>
          </a:solidFill>
          <a:ln/>
          <a:effectLst>
            <a:outerShdw sx="100000" sy="100000" kx="0" ky="0" algn="bl" rotWithShape="0" blurRad="101600" dist="38100" dir="5400000">
              <a:srgbClr val="0F172A">
                <a:alpha val="10000"/>
              </a:srgbClr>
            </a:outerShdw>
          </a:effectLst>
        </p:spPr>
      </p:sp>
      <p:sp>
        <p:nvSpPr>
          <p:cNvPr id="6" name="Shape 4"/>
          <p:cNvSpPr/>
          <p:nvPr/>
        </p:nvSpPr>
        <p:spPr>
          <a:xfrm>
            <a:off x="7726680" y="2011680"/>
            <a:ext cx="420624" cy="420624"/>
          </a:xfrm>
          <a:prstGeom prst="ellipse">
            <a:avLst/>
          </a:prstGeom>
          <a:solidFill>
            <a:srgbClr val="4F46E5"/>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50" kern="0" dirty="0">
                <a:solidFill>
                  <a:srgbClr val="4338CA"/>
                </a:solidFill>
                <a:latin typeface="Calibri" pitchFamily="34" charset="0"/>
                <a:ea typeface="Calibri" pitchFamily="34" charset="-122"/>
                <a:cs typeface="Calibri" pitchFamily="34" charset="-120"/>
              </a:rPr>
              <a:t>SAY THIS IN CLASS</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0F172A"/>
                </a:solidFill>
                <a:latin typeface="Calibri" pitchFamily="34" charset="0"/>
                <a:ea typeface="Calibri" pitchFamily="34" charset="-122"/>
                <a:cs typeface="Calibri" pitchFamily="34" charset="-120"/>
              </a:rPr>
              <a:t>The model is a brilliant improviser, not a librarian. Ask it to recite a fact it half-knows and it will confidently make one up — because a plausible sentence is exactly what it was trained to produce.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4F46E5">
              <a:alpha val="20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22D3EE"/>
                </a:solidFill>
                <a:latin typeface="Calibri" pitchFamily="34" charset="0"/>
                <a:ea typeface="Calibri" pitchFamily="34" charset="-122"/>
                <a:cs typeface="Calibri" pitchFamily="34" charset="-120"/>
              </a:rPr>
              <a:t>HANDS-ON LAB  ·  ~60% OF THIS MODULE</a:t>
            </a:r>
            <a:endParaRPr lang="en-US" sz="1200" dirty="0"/>
          </a:p>
        </p:txBody>
      </p:sp>
      <p:sp>
        <p:nvSpPr>
          <p:cNvPr id="4" name="Text 2"/>
          <p:cNvSpPr/>
          <p:nvPr/>
        </p:nvSpPr>
        <p:spPr>
          <a:xfrm>
            <a:off x="548640" y="1097280"/>
            <a:ext cx="10789920" cy="1005840"/>
          </a:xfrm>
          <a:prstGeom prst="rect">
            <a:avLst/>
          </a:prstGeom>
          <a:noFill/>
          <a:ln/>
        </p:spPr>
        <p:txBody>
          <a:bodyPr wrap="square" lIns="0" tIns="0" rIns="0" bIns="0" rtlCol="0" anchor="ctr"/>
          <a:lstStyle/>
          <a:p>
            <a:pPr indent="0" marL="0">
              <a:buNone/>
            </a:pPr>
            <a:r>
              <a:rPr lang="en-US" sz="3800" b="1" spc="-50" kern="0" dirty="0">
                <a:solidFill>
                  <a:srgbClr val="FFFFFF"/>
                </a:solidFill>
                <a:latin typeface="Calibri" pitchFamily="34" charset="0"/>
                <a:ea typeface="Calibri" pitchFamily="34" charset="-122"/>
                <a:cs typeface="Calibri" pitchFamily="34" charset="-120"/>
              </a:rPr>
              <a:t>Lab 0 · Hello, Prompt</a:t>
            </a:r>
            <a:endParaRPr lang="en-US" sz="3800" dirty="0"/>
          </a:p>
        </p:txBody>
      </p:sp>
      <p:sp>
        <p:nvSpPr>
          <p:cNvPr id="5" name="Text 3"/>
          <p:cNvSpPr/>
          <p:nvPr/>
        </p:nvSpPr>
        <p:spPr>
          <a:xfrm>
            <a:off x="548640" y="2286000"/>
            <a:ext cx="10424160" cy="1371600"/>
          </a:xfrm>
          <a:prstGeom prst="rect">
            <a:avLst/>
          </a:prstGeom>
          <a:noFill/>
          <a:ln/>
        </p:spPr>
        <p:txBody>
          <a:bodyPr wrap="square" rtlCol="0" anchor="t"/>
          <a:lstStyle/>
          <a:p>
            <a:pPr indent="0" marL="0">
              <a:lnSpc>
                <a:spcPts val="2500"/>
              </a:lnSpc>
              <a:buNone/>
            </a:pPr>
            <a:r>
              <a:rPr lang="en-US" sz="1700" dirty="0">
                <a:solidFill>
                  <a:srgbClr val="CBD5E1"/>
                </a:solidFill>
                <a:latin typeface="Calibri" pitchFamily="34" charset="0"/>
                <a:ea typeface="Calibri" pitchFamily="34" charset="-122"/>
                <a:cs typeface="Calibri" pitchFamily="34" charset="-120"/>
              </a:rPr>
              <a:t>Run the same task across ChatGPT, Claude and a local Ollama model. Explore temperature and tokens, then dissect a prompt into its five parts.</a:t>
            </a:r>
            <a:endParaRPr lang="en-US" sz="1700" dirty="0"/>
          </a:p>
        </p:txBody>
      </p:sp>
      <p:sp>
        <p:nvSpPr>
          <p:cNvPr id="6" name="Text 4"/>
          <p:cNvSpPr/>
          <p:nvPr/>
        </p:nvSpPr>
        <p:spPr>
          <a:xfrm>
            <a:off x="548640" y="3977640"/>
            <a:ext cx="100584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YOU'LL PRODUCE</a:t>
            </a:r>
            <a:endParaRPr lang="en-US" sz="1200" dirty="0"/>
          </a:p>
        </p:txBody>
      </p:sp>
      <p:sp>
        <p:nvSpPr>
          <p:cNvPr id="7" name="Text 5"/>
          <p:cNvSpPr/>
          <p:nvPr/>
        </p:nvSpPr>
        <p:spPr>
          <a:xfrm>
            <a:off x="548640" y="4297680"/>
            <a:ext cx="10424160" cy="173736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E2E8F0"/>
                </a:solidFill>
                <a:latin typeface="Calibri" pitchFamily="34" charset="0"/>
                <a:ea typeface="Calibri" pitchFamily="34" charset="-122"/>
                <a:cs typeface="Calibri" pitchFamily="34" charset="-120"/>
              </a:rPr>
              <a:t>A comparison of three models on one task</a:t>
            </a:r>
            <a:endParaRPr lang="en-US" sz="1500" dirty="0"/>
          </a:p>
          <a:p>
            <a:pPr marL="177800" indent="-177800">
              <a:lnSpc>
                <a:spcPts val="2000"/>
              </a:lnSpc>
              <a:spcAft>
                <a:spcPts val="700"/>
              </a:spcAft>
              <a:buSzPct val="100000"/>
              <a:buChar char="•"/>
            </a:pPr>
            <a:r>
              <a:rPr lang="en-US" sz="1500" dirty="0">
                <a:solidFill>
                  <a:srgbClr val="E2E8F0"/>
                </a:solidFill>
                <a:latin typeface="Calibri" pitchFamily="34" charset="0"/>
                <a:ea typeface="Calibri" pitchFamily="34" charset="-122"/>
                <a:cs typeface="Calibri" pitchFamily="34" charset="-120"/>
              </a:rPr>
              <a:t>Notes on how temperature changed the output</a:t>
            </a:r>
            <a:endParaRPr lang="en-US" sz="1500" dirty="0"/>
          </a:p>
          <a:p>
            <a:pPr marL="177800" indent="-177800">
              <a:lnSpc>
                <a:spcPts val="2000"/>
              </a:lnSpc>
              <a:spcAft>
                <a:spcPts val="700"/>
              </a:spcAft>
              <a:buSzPct val="100000"/>
              <a:buChar char="•"/>
            </a:pPr>
            <a:r>
              <a:rPr lang="en-US" sz="1500" dirty="0">
                <a:solidFill>
                  <a:srgbClr val="E2E8F0"/>
                </a:solidFill>
                <a:latin typeface="Calibri" pitchFamily="34" charset="0"/>
                <a:ea typeface="Calibri" pitchFamily="34" charset="-122"/>
                <a:cs typeface="Calibri" pitchFamily="34" charset="-120"/>
              </a:rPr>
              <a:t>Your first structured, five-part prompt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828800" y="-1828800"/>
            <a:ext cx="5029200" cy="5029200"/>
          </a:xfrm>
          <a:prstGeom prst="ellipse">
            <a:avLst/>
          </a:prstGeom>
          <a:solidFill>
            <a:srgbClr val="4F46E5">
              <a:alpha val="18000"/>
            </a:srgbClr>
          </a:solidFill>
          <a:ln/>
        </p:spPr>
      </p:sp>
      <p:sp>
        <p:nvSpPr>
          <p:cNvPr id="3" name="Shape 1"/>
          <p:cNvSpPr/>
          <p:nvPr/>
        </p:nvSpPr>
        <p:spPr>
          <a:xfrm>
            <a:off x="548640" y="640080"/>
            <a:ext cx="548640" cy="548640"/>
          </a:xfrm>
          <a:prstGeom prst="roundRect">
            <a:avLst>
              <a:gd name="adj" fmla="val 22000"/>
            </a:avLst>
          </a:prstGeom>
          <a:solidFill>
            <a:srgbClr val="4F46E5"/>
          </a:solidFill>
          <a:ln/>
        </p:spPr>
      </p:sp>
      <p:sp>
        <p:nvSpPr>
          <p:cNvPr id="4" name="Text 2"/>
          <p:cNvSpPr/>
          <p:nvPr/>
        </p:nvSpPr>
        <p:spPr>
          <a:xfrm>
            <a:off x="548640" y="640080"/>
            <a:ext cx="548640" cy="548640"/>
          </a:xfrm>
          <a:prstGeom prst="rect">
            <a:avLst/>
          </a:prstGeom>
          <a:noFill/>
          <a:ln/>
        </p:spPr>
        <p:txBody>
          <a:bodyPr wrap="square" rtlCol="0" anchor="ctr"/>
          <a:lstStyle/>
          <a:p>
            <a:pPr algn="ctr" indent="0" marL="0">
              <a:buNone/>
            </a:pPr>
            <a:r>
              <a:rPr lang="en-US" sz="2280" b="1" dirty="0">
                <a:solidFill>
                  <a:srgbClr val="FFFFFF"/>
                </a:solidFill>
                <a:latin typeface="Calibri" pitchFamily="34" charset="0"/>
                <a:ea typeface="Calibri" pitchFamily="34" charset="-122"/>
                <a:cs typeface="Calibri" pitchFamily="34" charset="-120"/>
              </a:rPr>
              <a:t>VL</a:t>
            </a:r>
            <a:endParaRPr lang="en-US" sz="2280" dirty="0"/>
          </a:p>
        </p:txBody>
      </p:sp>
      <p:sp>
        <p:nvSpPr>
          <p:cNvPr id="5" name="Text 3"/>
          <p:cNvSpPr/>
          <p:nvPr/>
        </p:nvSpPr>
        <p:spPr>
          <a:xfrm>
            <a:off x="548640" y="1600200"/>
            <a:ext cx="10058400" cy="274320"/>
          </a:xfrm>
          <a:prstGeom prst="rect">
            <a:avLst/>
          </a:prstGeom>
          <a:noFill/>
          <a:ln/>
        </p:spPr>
        <p:txBody>
          <a:bodyPr wrap="square" lIns="0" tIns="0" rIns="0" bIns="0" rtlCol="0" anchor="ctr"/>
          <a:lstStyle/>
          <a:p>
            <a:pPr indent="0" marL="0">
              <a:buNone/>
            </a:pPr>
            <a:r>
              <a:rPr lang="en-US" sz="1200" b="1" spc="250" kern="0" dirty="0">
                <a:solidFill>
                  <a:srgbClr val="22D3EE"/>
                </a:solidFill>
                <a:latin typeface="Calibri" pitchFamily="34" charset="0"/>
                <a:ea typeface="Calibri" pitchFamily="34" charset="-122"/>
                <a:cs typeface="Calibri" pitchFamily="34" charset="-120"/>
              </a:rPr>
              <a:t>RECAP</a:t>
            </a:r>
            <a:endParaRPr lang="en-US" sz="1200" dirty="0"/>
          </a:p>
        </p:txBody>
      </p:sp>
      <p:sp>
        <p:nvSpPr>
          <p:cNvPr id="6" name="Text 4"/>
          <p:cNvSpPr/>
          <p:nvPr/>
        </p:nvSpPr>
        <p:spPr>
          <a:xfrm>
            <a:off x="548640" y="1874520"/>
            <a:ext cx="10607040" cy="822960"/>
          </a:xfrm>
          <a:prstGeom prst="rect">
            <a:avLst/>
          </a:prstGeom>
          <a:noFill/>
          <a:ln/>
        </p:spPr>
        <p:txBody>
          <a:bodyPr wrap="square" lIns="0" tIns="0" rIns="0" bIns="0" rtlCol="0" anchor="ctr"/>
          <a:lstStyle/>
          <a:p>
            <a:pPr indent="0" marL="0">
              <a:buNone/>
            </a:pPr>
            <a:r>
              <a:rPr lang="en-US" sz="3000" b="1" spc="-50" kern="0" dirty="0">
                <a:solidFill>
                  <a:srgbClr val="FFFFFF"/>
                </a:solidFill>
                <a:latin typeface="Calibri" pitchFamily="34" charset="0"/>
                <a:ea typeface="Calibri" pitchFamily="34" charset="-122"/>
                <a:cs typeface="Calibri" pitchFamily="34" charset="-120"/>
              </a:rPr>
              <a:t>Module 1 recap</a:t>
            </a:r>
            <a:endParaRPr lang="en-US" sz="3000" dirty="0"/>
          </a:p>
        </p:txBody>
      </p:sp>
      <p:sp>
        <p:nvSpPr>
          <p:cNvPr id="7" name="Text 5"/>
          <p:cNvSpPr/>
          <p:nvPr/>
        </p:nvSpPr>
        <p:spPr>
          <a:xfrm>
            <a:off x="548640" y="2834640"/>
            <a:ext cx="10607040" cy="3383280"/>
          </a:xfrm>
          <a:prstGeom prst="rect">
            <a:avLst/>
          </a:prstGeom>
          <a:noFill/>
          <a:ln/>
        </p:spPr>
        <p:txBody>
          <a:bodyPr wrap="square" rtlCol="0" anchor="t"/>
          <a:lstStyle/>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A prompt is the whole input; the model completes it</a:t>
            </a:r>
            <a:endParaRPr lang="en-US" sz="1600" dirty="0"/>
          </a:p>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Five parts: role, instruction, context, examples, format</a:t>
            </a:r>
            <a:endParaRPr lang="en-US" sz="1600" dirty="0"/>
          </a:p>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Tokens, context window and temperature are your dials</a:t>
            </a:r>
            <a:endParaRPr lang="en-US" sz="1600" dirty="0"/>
          </a:p>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Models predict — so they hallucinate; specific + grounded + verified beats vague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2026-07-16T17:51:48Z</dcterms:created>
  <dcterms:modified xsi:type="dcterms:W3CDTF">2026-07-16T17:51:48Z</dcterms:modified>
</cp:coreProperties>
</file>